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5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70" r:id="rId4"/>
    <p:sldId id="271" r:id="rId5"/>
    <p:sldId id="258" r:id="rId6"/>
    <p:sldId id="278" r:id="rId7"/>
    <p:sldId id="282" r:id="rId8"/>
    <p:sldId id="283" r:id="rId9"/>
    <p:sldId id="284" r:id="rId10"/>
    <p:sldId id="285" r:id="rId11"/>
    <p:sldId id="272" r:id="rId12"/>
    <p:sldId id="259" r:id="rId13"/>
    <p:sldId id="260" r:id="rId14"/>
    <p:sldId id="286" r:id="rId15"/>
    <p:sldId id="287" r:id="rId16"/>
    <p:sldId id="288" r:id="rId17"/>
    <p:sldId id="289" r:id="rId18"/>
    <p:sldId id="269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3" autoAdjust="0"/>
    <p:restoredTop sz="94676" autoAdjust="0"/>
  </p:normalViewPr>
  <p:slideViewPr>
    <p:cSldViewPr snapToGrid="0" snapToObjects="1">
      <p:cViewPr varScale="1">
        <p:scale>
          <a:sx n="104" d="100"/>
          <a:sy n="104" d="100"/>
        </p:scale>
        <p:origin x="96" y="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786715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各位老师、助教好，今天我不准备按照文件顺序逐个介绍 EasyBomber，而是从游戏真正运行时发生的事情出发。整套讲解围绕两个问题展开：一帧画面怎样稳定运行，以及玩家按下 Space 后，一枚炸弹如何经过多个对象和系统完成一次爆炸。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先看游戏效果。玩家移动、放置炸弹、炸毁砖块并消灭怪物，这是表面的玩法。但从代码角度，一次放置同时涉及计时、地图传播、碰撞伤害、画面绘制和对象生命周期。后面的设计，都是为了让这五部分在同一帧中得到一致结果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EasyX是微软Visual C加加平台上的免费绘图库，支持从VC六点零到VS二零二二的版本，学习成本非常低。它提供绘图、文字处理、消息处理、图片加载等完整功能。在我们项目中，EasyX承担了窗口创建、双缓冲绘图、键盘消息捕获和图片渲染的全部工作。右侧是EasyBomber的入口代码，可以看到initgraph初始化窗口、BeginBatchDraw开启双缓冲、FlushBatchDraw翻转呈现——这三者是整个图形系统的基础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F2C7E8-2ECE-D0B4-4D9F-118874A07F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1A24C3-FBF3-2A8B-F78C-98B6868EAE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091806-DD06-42E4-8AD2-44933E9401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EasyX是微软Visual C加加平台上的免费绘图库，支持从VC六点零到VS二零二二的版本，学习成本非常低。它提供绘图、文字处理、消息处理、图片加载等完整功能。在我们项目中，EasyX承担了窗口创建、双缓冲绘图、键盘消息捕获和图片渲染的全部工作。右侧是EasyBomber的入口代码，可以看到initgraph初始化窗口、BeginBatchDraw开启双缓冲、FlushBatchDraw翻转呈现——这三者是整个图形系统的基础。</a:t>
            </a:r>
          </a:p>
        </p:txBody>
      </p:sp>
    </p:spTree>
    <p:extLst>
      <p:ext uri="{BB962C8B-B14F-4D97-AF65-F5344CB8AC3E}">
        <p14:creationId xmlns:p14="http://schemas.microsoft.com/office/powerpoint/2010/main" val="18567239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dirty="0"/>
              <a:t>"这是项目的文件依赖结构图，箭头表示 </a:t>
            </a:r>
            <a:r>
              <a:rPr lang="zh-CN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#include</a:t>
            </a:r>
            <a:r>
              <a:rPr lang="zh-CN" altLang="zh-CN" dirty="0"/>
              <a:t> 关系，方向是从底层依赖指向上层模块。</a:t>
            </a:r>
          </a:p>
          <a:p>
            <a:r>
              <a:rPr lang="zh-CN" altLang="zh-CN" dirty="0"/>
              <a:t>最顶层是 </a:t>
            </a:r>
            <a:r>
              <a:rPr lang="zh-CN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Types.hpp</a:t>
            </a:r>
            <a:r>
              <a:rPr lang="zh-CN" altLang="zh-CN" dirty="0"/>
              <a:t>，定义了游戏里的基础数据类型——坐标 </a:t>
            </a:r>
            <a:r>
              <a:rPr lang="zh-CN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GridPosition</a:t>
            </a:r>
            <a:r>
              <a:rPr lang="zh-CN" altLang="zh-CN" dirty="0"/>
              <a:t>、方向枚举、地图格子和游戏状态。</a:t>
            </a:r>
          </a:p>
          <a:p>
            <a:r>
              <a:rPr lang="zh-CN" altLang="zh-CN" dirty="0"/>
              <a:t>第二层是两个核心模块：</a:t>
            </a:r>
            <a:r>
              <a:rPr lang="zh-CN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GameObject.hpp</a:t>
            </a:r>
            <a:r>
              <a:rPr lang="zh-CN" altLang="zh-CN" dirty="0"/>
              <a:t> 是抽象基类，规定所有动态对象都要实现 </a:t>
            </a:r>
            <a:r>
              <a:rPr lang="zh-CN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update</a:t>
            </a:r>
            <a:r>
              <a:rPr lang="zh-CN" altLang="zh-CN" dirty="0"/>
              <a:t> 和 </a:t>
            </a:r>
            <a:r>
              <a:rPr lang="zh-CN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</a:t>
            </a:r>
            <a:r>
              <a:rPr lang="zh-CN" altLang="zh-CN" dirty="0"/>
              <a:t> 两个接口；</a:t>
            </a:r>
            <a:r>
              <a:rPr lang="zh-CN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Map.hpp</a:t>
            </a:r>
            <a:r>
              <a:rPr lang="zh-CN" altLang="zh-CN" dirty="0"/>
              <a:t> 单独负责地图数据的读写和碰撞查询。</a:t>
            </a:r>
          </a:p>
          <a:p>
            <a:r>
              <a:rPr lang="zh-CN" altLang="zh-CN" dirty="0"/>
              <a:t>第三层是四个子类——玩家、怪物、炸弹、爆炸——都继承自 </a:t>
            </a:r>
            <a:r>
              <a:rPr lang="zh-CN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GameObject</a:t>
            </a:r>
            <a:r>
              <a:rPr lang="zh-CN" altLang="zh-CN" dirty="0"/>
              <a:t>，各自实现不同的行为逻辑。</a:t>
            </a:r>
          </a:p>
          <a:p>
            <a:r>
              <a:rPr lang="zh-CN" altLang="zh-CN" dirty="0"/>
              <a:t>最底下是 </a:t>
            </a:r>
            <a:r>
              <a:rPr lang="zh-CN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Game.hpp</a:t>
            </a:r>
            <a:r>
              <a:rPr lang="zh-CN" altLang="zh-CN" dirty="0"/>
              <a:t>，它把上面这些模块都 </a:t>
            </a:r>
            <a:r>
              <a:rPr lang="zh-CN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#include</a:t>
            </a:r>
            <a:r>
              <a:rPr lang="zh-CN" altLang="zh-CN" dirty="0"/>
              <a:t> 进来，用多态的容器统一管理所有对象，完成一局游戏的主循环。</a:t>
            </a:r>
          </a:p>
          <a:p>
            <a:r>
              <a:rPr lang="zh-CN" altLang="zh-CN" dirty="0"/>
              <a:t>整个结构是典型的</a:t>
            </a:r>
            <a:r>
              <a:rPr lang="zh-CN" altLang="zh-CN" b="1" dirty="0"/>
              <a:t>分层依赖</a:t>
            </a:r>
            <a:r>
              <a:rPr lang="zh-CN" altLang="zh-CN" dirty="0"/>
              <a:t>，每一层只依赖它下面的模块，没有循环依赖，扩展起来很方便。比如要加一个新道具，只需要继承 </a:t>
            </a:r>
            <a:r>
              <a:rPr lang="zh-CN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GameObject</a:t>
            </a:r>
            <a:r>
              <a:rPr lang="zh-CN" altLang="zh-CN" dirty="0"/>
              <a:t>、实现它的接口，然后在 </a:t>
            </a:r>
            <a:r>
              <a:rPr lang="zh-CN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Game</a:t>
            </a:r>
            <a:r>
              <a:rPr lang="zh-CN" altLang="zh-CN" dirty="0"/>
              <a:t> 里稍微改一下创建逻辑就行。"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044648-F4EF-E7FB-654E-3EFE501D22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E2F93F-CF97-4567-3609-090DD079B1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BB62A6-BAFF-920D-FFB8-38694275A2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程序每一帧都重复五个阶段：先读取输入，再计算经过的时间 dt，然后更新游戏状态，绘制后台画面，最后一次性翻到前台。这里最重要的边界是 update 只改变状态，draw 只呈现状态。接下来介绍的双缓冲和时间累计，都建立在这条骨架上。</a:t>
            </a:r>
          </a:p>
        </p:txBody>
      </p:sp>
    </p:spTree>
    <p:extLst>
      <p:ext uri="{BB962C8B-B14F-4D97-AF65-F5344CB8AC3E}">
        <p14:creationId xmlns:p14="http://schemas.microsoft.com/office/powerpoint/2010/main" val="3855975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如果每画一个元素都直接显示，用户就可能先看到清屏，再看到地图、对象和玩家依次出现，这些中间状态表现为闪烁。EasyX 的批量绘制让所有内容先进入后台缓冲区，FlushBatchDraw 再把完整一帧一次性呈现。它解决的不是绘图速度问题，而是画面的原子性问题。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怪物不能简单地每帧移动一次，否则帧率越高，游戏速度越快。第一次改进可以使用 if，在累计时间超过四百五十毫秒时移动一步，但卡顿积累了多个时间步时，if 仍只补一步。最终代码使用 while 消耗全部累计时间，并把异常大的 dt 截断到一百毫秒，使渲染帧率变化不会改变逻辑速度。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这一页展示怪物巡逻的两个关键设计。路线本身已经把返程坐标展开成一个圆环，运行时只需要用取模推进索引；移动速度则由四百五十毫秒的时间桶控制，while 能在卡顿后补齐应走的逻辑步数。遇到尚未炸开的砖块时，怪物保持原位并在后续更新中继续尝试。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这里通常可以口头称为 BFS 简化版，但从实现上说，它更准确地是四条独立的限深射线。墙不加入结果，砖块加入后停止，空地加入并继续；最终得到的 cells 同时驱动砖块破坏、火焰绘制和命中检测，因此三个系统共享同一份空间事实。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Monster、Bomb 和 Explosion 都由同一个 unique_ptr 容器持有，公共的 update 和 draw 通过多态统一调度。对于引爆、碰撞和计数这些类型特有规则，Game 再通过 dynamic_cast 筛选目标；对象先标记失效，最后统一 erase，unique_ptr 随即自动完成析构和内存释放。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最后看 Game::update 的执行顺序。第一轮碰撞处理帧开始时已经存在的接触，对象更新和炸弹引爆之后，第二轮碰撞立即结算本帧新创建的 Explosion；如果省略第二轮，就会出现画面已经有火焰、伤害却延迟到下一帧的语义错位。清理完成后再统计怪物数量，才能得到可靠的胜利条件。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Rectangle 3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1E4268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Rectangle 4"/>
          <p:cNvSpPr/>
          <p:nvPr/>
        </p:nvSpPr>
        <p:spPr>
          <a:xfrm>
            <a:off x="11049000" y="0"/>
            <a:ext cx="1143000" cy="38100"/>
          </a:xfrm>
          <a:prstGeom prst="rect">
            <a:avLst/>
          </a:prstGeom>
          <a:solidFill>
            <a:srgbClr val="D4DCE6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9" name="Group 9"/>
          <p:cNvGrpSpPr/>
          <p:nvPr/>
        </p:nvGrpSpPr>
        <p:grpSpPr>
          <a:xfrm>
            <a:off x="4082772" y="1829752"/>
            <a:ext cx="4026456" cy="1513523"/>
            <a:chOff x="4082772" y="1829752"/>
            <a:chExt cx="4026456" cy="1513523"/>
          </a:xfrm>
        </p:grpSpPr>
        <p:sp>
          <p:nvSpPr>
            <p:cNvPr id="5" name="TextBox 5"/>
            <p:cNvSpPr txBox="1"/>
            <p:nvPr/>
          </p:nvSpPr>
          <p:spPr>
            <a:xfrm>
              <a:off x="4082772" y="1829752"/>
              <a:ext cx="4026456" cy="1127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5550" b="1" dirty="0">
                  <a:solidFill>
                    <a:srgbClr val="1E4268"/>
                  </a:solidFill>
                  <a:latin typeface="Arial"/>
                  <a:ea typeface="Microsoft YaHei"/>
                  <a:cs typeface="Arial"/>
                </a:rPr>
                <a:t>简易炸弹人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4922513" y="2740342"/>
              <a:ext cx="2346974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850" b="1" dirty="0">
                  <a:solidFill>
                    <a:srgbClr val="2E6EA6"/>
                  </a:solidFill>
                  <a:latin typeface="Arial"/>
                  <a:ea typeface="Microsoft YaHei"/>
                  <a:cs typeface="Arial"/>
                </a:rPr>
                <a:t>EasyBomber</a:t>
              </a:r>
            </a:p>
          </p:txBody>
        </p:sp>
        <p:sp>
          <p:nvSpPr>
            <p:cNvPr id="7" name="Line 7"/>
            <p:cNvSpPr/>
            <p:nvPr/>
          </p:nvSpPr>
          <p:spPr>
            <a:xfrm>
              <a:off x="5143500" y="3333750"/>
              <a:ext cx="1905000" cy="9525"/>
            </a:xfrm>
            <a:custGeom>
              <a:avLst/>
              <a:gdLst/>
              <a:ahLst/>
              <a:cxnLst/>
              <a:rect l="l" t="t" r="r" b="b"/>
              <a:pathLst>
                <a:path w="1905000" h="9525">
                  <a:moveTo>
                    <a:pt x="0" y="0"/>
                  </a:moveTo>
                  <a:lnTo>
                    <a:pt x="1905000" y="0"/>
                  </a:lnTo>
                </a:path>
              </a:pathLst>
            </a:custGeom>
            <a:noFill/>
            <a:ln w="19050">
              <a:solidFill>
                <a:srgbClr val="D4DCE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4095750" y="4714875"/>
            <a:ext cx="4000500" cy="1000125"/>
            <a:chOff x="4095750" y="4714875"/>
            <a:chExt cx="4000500" cy="1000125"/>
          </a:xfrm>
        </p:grpSpPr>
        <p:sp>
          <p:nvSpPr>
            <p:cNvPr id="10" name="Rectangle 10"/>
            <p:cNvSpPr/>
            <p:nvPr/>
          </p:nvSpPr>
          <p:spPr>
            <a:xfrm>
              <a:off x="4095750" y="4714875"/>
              <a:ext cx="4000500" cy="1000125"/>
            </a:xfrm>
            <a:prstGeom prst="roundRect">
              <a:avLst>
                <a:gd name="adj" fmla="val 11429"/>
              </a:avLst>
            </a:prstGeom>
            <a:solidFill>
              <a:srgbClr val="E9EEF4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308920" y="4949190"/>
              <a:ext cx="3574161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1E3A5F"/>
                  </a:solidFill>
                  <a:latin typeface="Arial"/>
                  <a:ea typeface="Microsoft YaHei"/>
                  <a:cs typeface="Arial"/>
                </a:rPr>
                <a:t>基于 C++17 与 EasyX 的课程项目</a:t>
              </a:r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1286172" y="6410325"/>
            <a:ext cx="25812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500" dirty="0">
                <a:solidFill>
                  <a:srgbClr val="66788A"/>
                </a:solidFill>
                <a:latin typeface="Arial"/>
                <a:ea typeface="Microsoft YaHei"/>
                <a:cs typeface="Arial"/>
              </a:rPr>
              <a:t>01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4382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/>
          <a:lstStyle/>
          <a:p>
            <a:endParaRPr lang="zh-CN" altLang="en-US" dirty="0"/>
          </a:p>
        </p:txBody>
      </p:sp>
      <p:grpSp>
        <p:nvGrpSpPr>
          <p:cNvPr id="6" name="Group 6"/>
          <p:cNvGrpSpPr/>
          <p:nvPr/>
        </p:nvGrpSpPr>
        <p:grpSpPr>
          <a:xfrm>
            <a:off x="4382" y="-24363"/>
            <a:ext cx="12192000" cy="647700"/>
            <a:chOff x="0" y="0"/>
            <a:chExt cx="12192000" cy="647700"/>
          </a:xfrm>
        </p:grpSpPr>
        <p:sp>
          <p:nvSpPr>
            <p:cNvPr id="3" name="Rectangle 3"/>
            <p:cNvSpPr/>
            <p:nvPr/>
          </p:nvSpPr>
          <p:spPr>
            <a:xfrm>
              <a:off x="0" y="0"/>
              <a:ext cx="12192000" cy="647700"/>
            </a:xfrm>
            <a:prstGeom prst="rect">
              <a:avLst/>
            </a:prstGeom>
            <a:solidFill>
              <a:srgbClr val="1E4268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39115" y="162878"/>
              <a:ext cx="2979983" cy="3924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 — </a:t>
              </a:r>
              <a:r>
                <a:rPr lang="zh-CN" altLang="en-US" sz="25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游戏演示与</a:t>
              </a:r>
              <a:r>
                <a:rPr lang="zh-CN" sz="25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目标</a:t>
              </a:r>
            </a:p>
          </p:txBody>
        </p:sp>
        <p:sp>
          <p:nvSpPr>
            <p:cNvPr id="5" name="Freeform 5"/>
            <p:cNvSpPr/>
            <p:nvPr/>
          </p:nvSpPr>
          <p:spPr>
            <a:xfrm>
              <a:off x="11334750" y="228600"/>
              <a:ext cx="304800" cy="228600"/>
            </a:xfrm>
            <a:custGeom>
              <a:avLst/>
              <a:gdLst/>
              <a:ahLst/>
              <a:cxnLst/>
              <a:rect l="l" t="t" r="r" b="b"/>
              <a:pathLst>
                <a:path w="304800" h="228600">
                  <a:moveTo>
                    <a:pt x="0" y="209550"/>
                  </a:moveTo>
                  <a:lnTo>
                    <a:pt x="57150" y="228600"/>
                  </a:lnTo>
                  <a:lnTo>
                    <a:pt x="114300" y="171450"/>
                  </a:lnTo>
                  <a:lnTo>
                    <a:pt x="190500" y="171450"/>
                  </a:lnTo>
                  <a:lnTo>
                    <a:pt x="247650" y="228600"/>
                  </a:lnTo>
                  <a:lnTo>
                    <a:pt x="304800" y="209550"/>
                  </a:lnTo>
                  <a:lnTo>
                    <a:pt x="290474" y="51976"/>
                  </a:lnTo>
                  <a:cubicBezTo>
                    <a:pt x="287800" y="22539"/>
                    <a:pt x="263119" y="0"/>
                    <a:pt x="233561" y="0"/>
                  </a:cubicBezTo>
                  <a:lnTo>
                    <a:pt x="71240" y="0"/>
                  </a:lnTo>
                  <a:cubicBezTo>
                    <a:pt x="41682" y="0"/>
                    <a:pt x="17001" y="22539"/>
                    <a:pt x="14325" y="51976"/>
                  </a:cubicBezTo>
                  <a:lnTo>
                    <a:pt x="0" y="209550"/>
                  </a:lnTo>
                  <a:close/>
                  <a:moveTo>
                    <a:pt x="228600" y="76200"/>
                  </a:moveTo>
                  <a:cubicBezTo>
                    <a:pt x="239121" y="76200"/>
                    <a:pt x="247650" y="67671"/>
                    <a:pt x="247650" y="57150"/>
                  </a:cubicBezTo>
                  <a:cubicBezTo>
                    <a:pt x="247650" y="46629"/>
                    <a:pt x="239121" y="38100"/>
                    <a:pt x="228600" y="38100"/>
                  </a:cubicBezTo>
                  <a:cubicBezTo>
                    <a:pt x="218079" y="38100"/>
                    <a:pt x="209550" y="46629"/>
                    <a:pt x="209550" y="57150"/>
                  </a:cubicBezTo>
                  <a:cubicBezTo>
                    <a:pt x="209550" y="67671"/>
                    <a:pt x="218079" y="76200"/>
                    <a:pt x="228600" y="76200"/>
                  </a:cubicBezTo>
                  <a:close/>
                  <a:moveTo>
                    <a:pt x="228600" y="114300"/>
                  </a:moveTo>
                  <a:cubicBezTo>
                    <a:pt x="228600" y="124821"/>
                    <a:pt x="220071" y="133350"/>
                    <a:pt x="209550" y="133350"/>
                  </a:cubicBezTo>
                  <a:cubicBezTo>
                    <a:pt x="199029" y="133350"/>
                    <a:pt x="190500" y="124821"/>
                    <a:pt x="190500" y="114300"/>
                  </a:cubicBezTo>
                  <a:cubicBezTo>
                    <a:pt x="190500" y="103779"/>
                    <a:pt x="199029" y="95250"/>
                    <a:pt x="209550" y="95250"/>
                  </a:cubicBezTo>
                  <a:cubicBezTo>
                    <a:pt x="220071" y="95250"/>
                    <a:pt x="228600" y="103779"/>
                    <a:pt x="228600" y="114300"/>
                  </a:cubicBezTo>
                  <a:close/>
                  <a:moveTo>
                    <a:pt x="95250" y="114300"/>
                  </a:moveTo>
                  <a:cubicBezTo>
                    <a:pt x="116292" y="114300"/>
                    <a:pt x="133350" y="97242"/>
                    <a:pt x="133350" y="76200"/>
                  </a:cubicBezTo>
                  <a:cubicBezTo>
                    <a:pt x="133350" y="55158"/>
                    <a:pt x="116292" y="38100"/>
                    <a:pt x="95250" y="38100"/>
                  </a:cubicBezTo>
                  <a:cubicBezTo>
                    <a:pt x="74208" y="38100"/>
                    <a:pt x="57150" y="55158"/>
                    <a:pt x="57150" y="76200"/>
                  </a:cubicBezTo>
                  <a:cubicBezTo>
                    <a:pt x="57150" y="97242"/>
                    <a:pt x="74208" y="114300"/>
                    <a:pt x="95250" y="114300"/>
                  </a:cubicBezTo>
                  <a:close/>
                </a:path>
              </a:pathLst>
            </a:custGeom>
            <a:solidFill>
              <a:srgbClr val="5E91BD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1286172" y="6410325"/>
            <a:ext cx="25812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500" dirty="0">
                <a:solidFill>
                  <a:srgbClr val="66788A"/>
                </a:solidFill>
                <a:latin typeface="Arial"/>
                <a:ea typeface="Microsoft YaHei"/>
                <a:cs typeface="Arial"/>
              </a:rPr>
              <a:t>02</a:t>
            </a:r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003F31F2-E0BB-6668-D8C4-4B75C4D2A7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5878" y="918364"/>
            <a:ext cx="2730377" cy="2301086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9D7A2B80-356C-D011-A460-8FEBBB631E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0613" y="973643"/>
            <a:ext cx="2944121" cy="2291563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846894" y="3638550"/>
            <a:ext cx="10644638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C8C8C8"/>
                </a:solidFill>
              </a:defRPr>
            </a:pPr>
            <a:r>
              <a:rPr sz="2000" dirty="0" err="1">
                <a:solidFill>
                  <a:srgbClr val="5A6570"/>
                </a:solidFill>
                <a:latin typeface="Arial" panose="020B0604020202020204" pitchFamily="34" charset="0"/>
                <a:ea typeface="Microsoft YaHei"/>
                <a:cs typeface="Arial" panose="020B0604020202020204" pitchFamily="34" charset="0"/>
              </a:rPr>
              <a:t>游戏主体为简单的炸弹人玩法，包含玩家（Player</a:t>
            </a:r>
            <a:r>
              <a:rPr sz="2000" dirty="0">
                <a:solidFill>
                  <a:srgbClr val="5A6570"/>
                </a:solidFill>
                <a:latin typeface="Arial" panose="020B0604020202020204" pitchFamily="34" charset="0"/>
                <a:ea typeface="Microsoft YaHei"/>
                <a:cs typeface="Arial" panose="020B0604020202020204" pitchFamily="34" charset="0"/>
              </a:rPr>
              <a:t>）、</a:t>
            </a:r>
            <a:r>
              <a:rPr sz="2000" dirty="0" err="1">
                <a:solidFill>
                  <a:srgbClr val="5A6570"/>
                </a:solidFill>
                <a:latin typeface="Arial" panose="020B0604020202020204" pitchFamily="34" charset="0"/>
                <a:ea typeface="Microsoft YaHei"/>
                <a:cs typeface="Arial" panose="020B0604020202020204" pitchFamily="34" charset="0"/>
              </a:rPr>
              <a:t>怪物（Monster</a:t>
            </a:r>
            <a:r>
              <a:rPr sz="2000" dirty="0">
                <a:solidFill>
                  <a:srgbClr val="5A6570"/>
                </a:solidFill>
                <a:latin typeface="Arial" panose="020B0604020202020204" pitchFamily="34" charset="0"/>
                <a:ea typeface="Microsoft YaHei"/>
                <a:cs typeface="Arial" panose="020B0604020202020204" pitchFamily="34" charset="0"/>
              </a:rPr>
              <a:t>）、</a:t>
            </a:r>
            <a:r>
              <a:rPr sz="2000" dirty="0" err="1">
                <a:solidFill>
                  <a:srgbClr val="5A6570"/>
                </a:solidFill>
                <a:latin typeface="Arial" panose="020B0604020202020204" pitchFamily="34" charset="0"/>
                <a:ea typeface="Microsoft YaHei"/>
                <a:cs typeface="Arial" panose="020B0604020202020204" pitchFamily="34" charset="0"/>
              </a:rPr>
              <a:t>炸弹（Bomb</a:t>
            </a:r>
            <a:r>
              <a:rPr sz="2000" dirty="0">
                <a:solidFill>
                  <a:srgbClr val="5A6570"/>
                </a:solidFill>
                <a:latin typeface="Arial" panose="020B0604020202020204" pitchFamily="34" charset="0"/>
                <a:ea typeface="Microsoft YaHei"/>
                <a:cs typeface="Arial" panose="020B0604020202020204" pitchFamily="34" charset="0"/>
              </a:rPr>
              <a:t>）、</a:t>
            </a:r>
            <a:r>
              <a:rPr sz="2000" dirty="0" err="1">
                <a:solidFill>
                  <a:srgbClr val="5A6570"/>
                </a:solidFill>
                <a:latin typeface="Arial" panose="020B0604020202020204" pitchFamily="34" charset="0"/>
                <a:ea typeface="Microsoft YaHei"/>
                <a:cs typeface="Arial" panose="020B0604020202020204" pitchFamily="34" charset="0"/>
              </a:rPr>
              <a:t>地图（Map）等元素</a:t>
            </a:r>
            <a:r>
              <a:rPr sz="2000" dirty="0">
                <a:solidFill>
                  <a:srgbClr val="5A6570"/>
                </a:solidFill>
                <a:latin typeface="Arial" panose="020B0604020202020204" pitchFamily="34" charset="0"/>
                <a:ea typeface="Microsoft YaHei"/>
                <a:cs typeface="Arial" panose="020B0604020202020204" pitchFamily="34" charset="0"/>
              </a:rPr>
              <a:t>。</a:t>
            </a:r>
          </a:p>
          <a:p>
            <a:pPr>
              <a:spcAft>
                <a:spcPts val="400"/>
              </a:spcAft>
              <a:defRPr sz="1600">
                <a:solidFill>
                  <a:srgbClr val="C8C8C8"/>
                </a:solidFill>
              </a:defRPr>
            </a:pPr>
            <a:r>
              <a:rPr sz="2000" dirty="0" err="1">
                <a:solidFill>
                  <a:srgbClr val="5A6570"/>
                </a:solidFill>
                <a:latin typeface="Arial" panose="020B0604020202020204" pitchFamily="34" charset="0"/>
                <a:ea typeface="Microsoft YaHei"/>
                <a:cs typeface="Arial" panose="020B0604020202020204" pitchFamily="34" charset="0"/>
              </a:rPr>
              <a:t>在游戏中，玩家需要放置炸弹炸毁砖块、消灭全部</a:t>
            </a:r>
            <a:r>
              <a:rPr sz="2000" dirty="0">
                <a:solidFill>
                  <a:srgbClr val="5A6570"/>
                </a:solidFill>
                <a:latin typeface="Arial" panose="020B0604020202020204" pitchFamily="34" charset="0"/>
                <a:ea typeface="Microsoft YaHei"/>
                <a:cs typeface="Arial" panose="020B0604020202020204" pitchFamily="34" charset="0"/>
              </a:rPr>
              <a:t> 6 </a:t>
            </a:r>
            <a:r>
              <a:rPr sz="2000" dirty="0" err="1">
                <a:solidFill>
                  <a:srgbClr val="5A6570"/>
                </a:solidFill>
                <a:latin typeface="Arial" panose="020B0604020202020204" pitchFamily="34" charset="0"/>
                <a:ea typeface="Microsoft YaHei"/>
                <a:cs typeface="Arial" panose="020B0604020202020204" pitchFamily="34" charset="0"/>
              </a:rPr>
              <a:t>只怪物来获得胜利，同时也要躲避怪物的触碰和自身爆炸的波及。怪物沿固定路线往返巡逻，遇到未炸毁的砖块会原地等待</a:t>
            </a:r>
            <a:r>
              <a:rPr sz="2000" dirty="0">
                <a:solidFill>
                  <a:srgbClr val="5A6570"/>
                </a:solidFill>
                <a:latin typeface="Arial" panose="020B0604020202020204" pitchFamily="34" charset="0"/>
                <a:ea typeface="Microsoft YaHei"/>
                <a:cs typeface="Arial" panose="020B0604020202020204" pitchFamily="34" charset="0"/>
              </a:rPr>
              <a:t>。</a:t>
            </a:r>
          </a:p>
          <a:p>
            <a:pPr>
              <a:spcAft>
                <a:spcPts val="400"/>
              </a:spcAft>
              <a:defRPr sz="1600">
                <a:solidFill>
                  <a:srgbClr val="C8C8C8"/>
                </a:solidFill>
              </a:defRPr>
            </a:pPr>
            <a:r>
              <a:rPr sz="2000" dirty="0" err="1">
                <a:solidFill>
                  <a:srgbClr val="5A6570"/>
                </a:solidFill>
                <a:latin typeface="Arial" panose="020B0604020202020204" pitchFamily="34" charset="0"/>
                <a:ea typeface="Microsoft YaHei"/>
                <a:cs typeface="Arial" panose="020B0604020202020204" pitchFamily="34" charset="0"/>
              </a:rPr>
              <a:t>炸弹在放置</a:t>
            </a:r>
            <a:r>
              <a:rPr sz="2000" dirty="0">
                <a:solidFill>
                  <a:srgbClr val="5A6570"/>
                </a:solidFill>
                <a:latin typeface="Arial" panose="020B0604020202020204" pitchFamily="34" charset="0"/>
                <a:ea typeface="Microsoft YaHei"/>
                <a:cs typeface="Arial" panose="020B0604020202020204" pitchFamily="34" charset="0"/>
              </a:rPr>
              <a:t> 2 </a:t>
            </a:r>
            <a:r>
              <a:rPr sz="2000" dirty="0" err="1">
                <a:solidFill>
                  <a:srgbClr val="5A6570"/>
                </a:solidFill>
                <a:latin typeface="Arial" panose="020B0604020202020204" pitchFamily="34" charset="0"/>
                <a:ea typeface="Microsoft YaHei"/>
                <a:cs typeface="Arial" panose="020B0604020202020204" pitchFamily="34" charset="0"/>
              </a:rPr>
              <a:t>秒后引爆，爆炸向上下左右各传播</a:t>
            </a:r>
            <a:r>
              <a:rPr sz="2000" dirty="0">
                <a:solidFill>
                  <a:srgbClr val="5A6570"/>
                </a:solidFill>
                <a:latin typeface="Arial" panose="020B0604020202020204" pitchFamily="34" charset="0"/>
                <a:ea typeface="Microsoft YaHei"/>
                <a:cs typeface="Arial" panose="020B0604020202020204" pitchFamily="34" charset="0"/>
              </a:rPr>
              <a:t> 2 </a:t>
            </a:r>
            <a:r>
              <a:rPr sz="2000" dirty="0" err="1">
                <a:solidFill>
                  <a:srgbClr val="5A6570"/>
                </a:solidFill>
                <a:latin typeface="Arial" panose="020B0604020202020204" pitchFamily="34" charset="0"/>
                <a:ea typeface="Microsoft YaHei"/>
                <a:cs typeface="Arial" panose="020B0604020202020204" pitchFamily="34" charset="0"/>
              </a:rPr>
              <a:t>格，实线墙会阻挡爆炸，虚线砖块会被炸毁清除</a:t>
            </a:r>
            <a:r>
              <a:rPr sz="2000" dirty="0">
                <a:solidFill>
                  <a:srgbClr val="5A6570"/>
                </a:solidFill>
                <a:latin typeface="Arial" panose="020B0604020202020204" pitchFamily="34" charset="0"/>
                <a:ea typeface="Microsoft YaHei"/>
                <a:cs typeface="Arial" panose="020B0604020202020204" pitchFamily="34" charset="0"/>
              </a:rPr>
              <a:t>。</a:t>
            </a:r>
          </a:p>
          <a:p>
            <a:pPr>
              <a:spcAft>
                <a:spcPts val="400"/>
              </a:spcAft>
              <a:defRPr sz="1600">
                <a:solidFill>
                  <a:srgbClr val="C8C8C8"/>
                </a:solidFill>
              </a:defRPr>
            </a:pPr>
            <a:r>
              <a:rPr sz="2000" dirty="0" err="1">
                <a:solidFill>
                  <a:srgbClr val="5A6570"/>
                </a:solidFill>
                <a:latin typeface="Arial" panose="020B0604020202020204" pitchFamily="34" charset="0"/>
                <a:ea typeface="Microsoft YaHei"/>
                <a:cs typeface="Arial" panose="020B0604020202020204" pitchFamily="34" charset="0"/>
              </a:rPr>
              <a:t>游戏同时只能放置一颗炸弹，玩家不小心被自己的爆炸炸到也会失败</a:t>
            </a:r>
            <a:r>
              <a:rPr sz="2000" dirty="0">
                <a:solidFill>
                  <a:srgbClr val="5A6570"/>
                </a:solidFill>
                <a:latin typeface="Arial" panose="020B0604020202020204" pitchFamily="34" charset="0"/>
                <a:ea typeface="Microsoft YaHei"/>
                <a:cs typeface="Arial" panose="020B0604020202020204" pitchFamily="34" charset="0"/>
              </a:rPr>
              <a:t>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550545" y="260032"/>
            <a:ext cx="229444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Microsoft YaHei"/>
                <a:cs typeface="Arial"/>
              </a:rPr>
              <a:t>1 — EasyX </a:t>
            </a:r>
            <a:r>
              <a:rPr kumimoji="0" lang="zh-CN" altLang="en-US" sz="16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Microsoft YaHei"/>
                <a:cs typeface="Arial"/>
              </a:rPr>
              <a:t>图形库简介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1277600" y="180975"/>
            <a:ext cx="228600" cy="228600"/>
            <a:chOff x="11277600" y="180975"/>
            <a:chExt cx="228600" cy="228600"/>
          </a:xfrm>
        </p:grpSpPr>
        <p:sp>
          <p:nvSpPr>
            <p:cNvPr id="5" name="Freeform 5"/>
            <p:cNvSpPr/>
            <p:nvPr/>
          </p:nvSpPr>
          <p:spPr>
            <a:xfrm>
              <a:off x="11277600" y="180975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114300"/>
                  </a:moveTo>
                  <a:cubicBezTo>
                    <a:pt x="0" y="177426"/>
                    <a:pt x="51174" y="228600"/>
                    <a:pt x="114300" y="228600"/>
                  </a:cubicBezTo>
                  <a:cubicBezTo>
                    <a:pt x="177426" y="228600"/>
                    <a:pt x="228600" y="177426"/>
                    <a:pt x="228600" y="114300"/>
                  </a:cubicBezTo>
                  <a:cubicBezTo>
                    <a:pt x="228600" y="51174"/>
                    <a:pt x="177426" y="0"/>
                    <a:pt x="114300" y="0"/>
                  </a:cubicBezTo>
                  <a:cubicBezTo>
                    <a:pt x="51174" y="0"/>
                    <a:pt x="0" y="51174"/>
                    <a:pt x="0" y="114300"/>
                  </a:cubicBezTo>
                </a:path>
              </a:pathLst>
            </a:custGeom>
            <a:noFill/>
            <a:ln w="19050">
              <a:solidFill>
                <a:srgbClr val="5B8DB8"/>
              </a:solidFill>
            </a:ln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Freeform 6"/>
            <p:cNvSpPr/>
            <p:nvPr/>
          </p:nvSpPr>
          <p:spPr>
            <a:xfrm>
              <a:off x="11391900" y="257175"/>
              <a:ext cx="9525" cy="9525"/>
            </a:xfrm>
            <a:custGeom>
              <a:avLst/>
              <a:gdLst/>
              <a:ahLst/>
              <a:cxnLst/>
              <a:rect l="l" t="t" r="r" b="b"/>
              <a:pathLst>
                <a:path w="9525" h="9525">
                  <a:moveTo>
                    <a:pt x="0" y="0"/>
                  </a:moveTo>
                  <a:lnTo>
                    <a:pt x="127" y="0"/>
                  </a:lnTo>
                </a:path>
              </a:pathLst>
            </a:custGeom>
            <a:noFill/>
            <a:ln w="19050">
              <a:solidFill>
                <a:srgbClr val="5B8DB8"/>
              </a:solidFill>
            </a:ln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" name="Freeform 7"/>
            <p:cNvSpPr/>
            <p:nvPr/>
          </p:nvSpPr>
          <p:spPr>
            <a:xfrm>
              <a:off x="11379200" y="295275"/>
              <a:ext cx="25400" cy="50800"/>
            </a:xfrm>
            <a:custGeom>
              <a:avLst/>
              <a:gdLst/>
              <a:ahLst/>
              <a:cxnLst/>
              <a:rect l="l" t="t" r="r" b="b"/>
              <a:pathLst>
                <a:path w="25400" h="50800">
                  <a:moveTo>
                    <a:pt x="0" y="0"/>
                  </a:moveTo>
                  <a:lnTo>
                    <a:pt x="12700" y="0"/>
                  </a:lnTo>
                  <a:lnTo>
                    <a:pt x="12700" y="50800"/>
                  </a:lnTo>
                  <a:lnTo>
                    <a:pt x="25400" y="50800"/>
                  </a:lnTo>
                </a:path>
              </a:pathLst>
            </a:custGeom>
            <a:noFill/>
            <a:ln w="19050">
              <a:solidFill>
                <a:srgbClr val="5B8DB8"/>
              </a:solidFill>
            </a:ln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556260" y="1203959"/>
            <a:ext cx="9342580" cy="221599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5A6570"/>
                </a:solidFill>
                <a:effectLst/>
                <a:uLnTx/>
                <a:uFillTx/>
                <a:latin typeface="Arial" panose="020B0604020202020204" pitchFamily="34" charset="0"/>
                <a:ea typeface="Microsoft YaHei"/>
                <a:cs typeface="Arial" panose="020B0604020202020204" pitchFamily="34" charset="0"/>
              </a:rPr>
              <a:t>EasyX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5A6570"/>
                </a:solidFill>
                <a:effectLst/>
                <a:uLnTx/>
                <a:uFillTx/>
                <a:latin typeface="Arial" panose="020B0604020202020204" pitchFamily="34" charset="0"/>
                <a:ea typeface="Microsoft YaHei"/>
                <a:cs typeface="Arial" panose="020B0604020202020204" pitchFamily="34" charset="0"/>
              </a:rPr>
              <a:t> Graphics Library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A6570"/>
                </a:solidFill>
                <a:effectLst/>
                <a:uLnTx/>
                <a:uFillTx/>
                <a:latin typeface="Arial" panose="020B0604020202020204" pitchFamily="34" charset="0"/>
                <a:ea typeface="Microsoft YaHei"/>
                <a:cs typeface="Arial" panose="020B0604020202020204" pitchFamily="34" charset="0"/>
              </a:rPr>
              <a:t>是针对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5A6570"/>
                </a:solidFill>
                <a:effectLst/>
                <a:uLnTx/>
                <a:uFillTx/>
                <a:latin typeface="Arial" panose="020B0604020202020204" pitchFamily="34" charset="0"/>
                <a:ea typeface="Microsoft YaHei"/>
                <a:cs typeface="Arial" panose="020B0604020202020204" pitchFamily="34" charset="0"/>
              </a:rPr>
              <a:t>Visual C++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A6570"/>
                </a:solidFill>
                <a:effectLst/>
                <a:uLnTx/>
                <a:uFillTx/>
                <a:latin typeface="Arial" panose="020B0604020202020204" pitchFamily="34" charset="0"/>
                <a:ea typeface="Microsoft YaHei"/>
                <a:cs typeface="Arial" panose="020B0604020202020204" pitchFamily="34" charset="0"/>
              </a:rPr>
              <a:t>的免费绘图库，支持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5A6570"/>
                </a:solidFill>
                <a:effectLst/>
                <a:uLnTx/>
                <a:uFillTx/>
                <a:latin typeface="Arial" panose="020B0604020202020204" pitchFamily="34" charset="0"/>
                <a:ea typeface="Microsoft YaHei"/>
                <a:cs typeface="Arial" panose="020B0604020202020204" pitchFamily="34" charset="0"/>
              </a:rPr>
              <a:t>VC6.0 ~ VS2022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A6570"/>
                </a:solidFill>
                <a:effectLst/>
                <a:uLnTx/>
                <a:uFillTx/>
                <a:latin typeface="Arial" panose="020B0604020202020204" pitchFamily="34" charset="0"/>
                <a:ea typeface="Microsoft YaHei"/>
                <a:cs typeface="Arial" panose="020B0604020202020204" pitchFamily="34" charset="0"/>
              </a:rPr>
              <a:t>，简单易用，学习成本极低，可以帮助使用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5A6570"/>
                </a:solidFill>
                <a:effectLst/>
                <a:uLnTx/>
                <a:uFillTx/>
                <a:latin typeface="Arial" panose="020B0604020202020204" pitchFamily="34" charset="0"/>
                <a:ea typeface="Microsoft YaHei"/>
                <a:cs typeface="Arial" panose="020B0604020202020204" pitchFamily="34" charset="0"/>
              </a:rPr>
              <a:t>C/C++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A6570"/>
                </a:solidFill>
                <a:effectLst/>
                <a:uLnTx/>
                <a:uFillTx/>
                <a:latin typeface="Arial" panose="020B0604020202020204" pitchFamily="34" charset="0"/>
                <a:ea typeface="Microsoft YaHei"/>
                <a:cs typeface="Arial" panose="020B0604020202020204" pitchFamily="34" charset="0"/>
              </a:rPr>
              <a:t>语言的程序员快速上手图形和游戏编程。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5A6570"/>
                </a:solidFill>
                <a:effectLst/>
                <a:uLnTx/>
                <a:uFillTx/>
                <a:latin typeface="Arial" panose="020B0604020202020204" pitchFamily="34" charset="0"/>
                <a:ea typeface="Microsoft YaHei"/>
                <a:cs typeface="Arial" panose="020B0604020202020204" pitchFamily="34" charset="0"/>
              </a:rPr>
              <a:t>EasyX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5A6570"/>
                </a:solidFill>
                <a:effectLst/>
                <a:uLnTx/>
                <a:uFillTx/>
                <a:latin typeface="Arial" panose="020B0604020202020204" pitchFamily="34" charset="0"/>
                <a:ea typeface="Microsoft YaHei"/>
                <a:cs typeface="Arial" panose="020B0604020202020204" pitchFamily="34" charset="0"/>
              </a:rPr>
              <a:t>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A6570"/>
                </a:solidFill>
                <a:effectLst/>
                <a:uLnTx/>
                <a:uFillTx/>
                <a:latin typeface="Arial" panose="020B0604020202020204" pitchFamily="34" charset="0"/>
                <a:ea typeface="Microsoft YaHei"/>
                <a:cs typeface="Arial" panose="020B0604020202020204" pitchFamily="34" charset="0"/>
              </a:rPr>
              <a:t>提供了绘图、文字处理、消息处理、图片处理等诸多功能的函数，使用时需引用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5A6570"/>
                </a:solidFill>
                <a:effectLst/>
                <a:uLnTx/>
                <a:uFillTx/>
                <a:latin typeface="Arial" panose="020B0604020202020204" pitchFamily="34" charset="0"/>
                <a:ea typeface="Microsoft YaHei"/>
                <a:cs typeface="Arial" panose="020B0604020202020204" pitchFamily="34" charset="0"/>
              </a:rPr>
              <a:t>graphics.h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5A6570"/>
                </a:solidFill>
                <a:effectLst/>
                <a:uLnTx/>
                <a:uFillTx/>
                <a:latin typeface="Arial" panose="020B0604020202020204" pitchFamily="34" charset="0"/>
                <a:ea typeface="Microsoft YaHei"/>
                <a:cs typeface="Arial" panose="020B0604020202020204" pitchFamily="34" charset="0"/>
              </a:rPr>
              <a:t>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A6570"/>
                </a:solidFill>
                <a:effectLst/>
                <a:uLnTx/>
                <a:uFillTx/>
                <a:latin typeface="Arial" panose="020B0604020202020204" pitchFamily="34" charset="0"/>
                <a:ea typeface="Microsoft YaHei"/>
                <a:cs typeface="Arial" panose="020B0604020202020204" pitchFamily="34" charset="0"/>
              </a:rPr>
              <a:t>或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5A6570"/>
                </a:solidFill>
                <a:effectLst/>
                <a:uLnTx/>
                <a:uFillTx/>
                <a:latin typeface="Arial" panose="020B0604020202020204" pitchFamily="34" charset="0"/>
                <a:ea typeface="Microsoft YaHei"/>
                <a:cs typeface="Arial" panose="020B0604020202020204" pitchFamily="34" charset="0"/>
              </a:rPr>
              <a:t>easyx.h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5A6570"/>
                </a:solidFill>
                <a:effectLst/>
                <a:uLnTx/>
                <a:uFillTx/>
                <a:latin typeface="Arial" panose="020B0604020202020204" pitchFamily="34" charset="0"/>
                <a:ea typeface="Microsoft YaHei"/>
                <a:cs typeface="Arial" panose="020B0604020202020204" pitchFamily="34" charset="0"/>
              </a:rPr>
              <a:t>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A6570"/>
                </a:solidFill>
                <a:effectLst/>
                <a:uLnTx/>
                <a:uFillTx/>
                <a:latin typeface="Arial" panose="020B0604020202020204" pitchFamily="34" charset="0"/>
                <a:ea typeface="Microsoft YaHei"/>
                <a:cs typeface="Arial" panose="020B0604020202020204" pitchFamily="34" charset="0"/>
              </a:rPr>
              <a:t>头文件。具体用法参见官方文档：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5A6570"/>
                </a:solidFill>
                <a:effectLst/>
                <a:uLnTx/>
                <a:uFillTx/>
                <a:latin typeface="Arial" panose="020B0604020202020204" pitchFamily="34" charset="0"/>
                <a:ea typeface="Microsoft YaHei"/>
                <a:cs typeface="Arial" panose="020B0604020202020204" pitchFamily="34" charset="0"/>
              </a:rPr>
              <a:t>https://docs.easyx.cn/zh-cn/intro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5A6570"/>
              </a:solidFill>
              <a:effectLst/>
              <a:uLnTx/>
              <a:uFillTx/>
              <a:latin typeface="Arial" panose="020B0604020202020204" pitchFamily="34" charset="0"/>
              <a:ea typeface="Microsoft YaHei"/>
              <a:cs typeface="Arial" panose="020B0604020202020204" pitchFamily="34" charset="0"/>
            </a:endParaRPr>
          </a:p>
        </p:txBody>
      </p:sp>
      <p:grpSp>
        <p:nvGrpSpPr>
          <p:cNvPr id="45" name="Group 6">
            <a:extLst>
              <a:ext uri="{FF2B5EF4-FFF2-40B4-BE49-F238E27FC236}">
                <a16:creationId xmlns:a16="http://schemas.microsoft.com/office/drawing/2014/main" id="{A12990A7-6AC9-4E33-7D13-F96F210B3CAB}"/>
              </a:ext>
            </a:extLst>
          </p:cNvPr>
          <p:cNvGrpSpPr/>
          <p:nvPr/>
        </p:nvGrpSpPr>
        <p:grpSpPr>
          <a:xfrm>
            <a:off x="0" y="-46532"/>
            <a:ext cx="12192000" cy="647700"/>
            <a:chOff x="0" y="0"/>
            <a:chExt cx="12192000" cy="647700"/>
          </a:xfrm>
        </p:grpSpPr>
        <p:sp>
          <p:nvSpPr>
            <p:cNvPr id="46" name="Rectangle 3">
              <a:extLst>
                <a:ext uri="{FF2B5EF4-FFF2-40B4-BE49-F238E27FC236}">
                  <a16:creationId xmlns:a16="http://schemas.microsoft.com/office/drawing/2014/main" id="{4B3864B2-AFF8-DF93-CF51-352E524EF3FF}"/>
                </a:ext>
              </a:extLst>
            </p:cNvPr>
            <p:cNvSpPr/>
            <p:nvPr/>
          </p:nvSpPr>
          <p:spPr>
            <a:xfrm>
              <a:off x="0" y="0"/>
              <a:ext cx="12192000" cy="647700"/>
            </a:xfrm>
            <a:prstGeom prst="rect">
              <a:avLst/>
            </a:prstGeom>
            <a:solidFill>
              <a:srgbClr val="1E4268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" name="TextBox 4">
              <a:extLst>
                <a:ext uri="{FF2B5EF4-FFF2-40B4-BE49-F238E27FC236}">
                  <a16:creationId xmlns:a16="http://schemas.microsoft.com/office/drawing/2014/main" id="{785F2D20-37AC-7566-8F68-CE5A47CE9F5C}"/>
                </a:ext>
              </a:extLst>
            </p:cNvPr>
            <p:cNvSpPr txBox="1"/>
            <p:nvPr/>
          </p:nvSpPr>
          <p:spPr>
            <a:xfrm>
              <a:off x="539115" y="162878"/>
              <a:ext cx="2540760" cy="3924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altLang="zh-CN" sz="2550" b="1" dirty="0" err="1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easyx</a:t>
              </a:r>
              <a:r>
                <a:rPr lang="zh-CN" altLang="en-US" sz="25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图形库简介</a:t>
              </a:r>
              <a:endParaRPr lang="zh-CN" sz="25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endParaRPr>
            </a:p>
          </p:txBody>
        </p:sp>
        <p:sp>
          <p:nvSpPr>
            <p:cNvPr id="48" name="Freeform 5">
              <a:extLst>
                <a:ext uri="{FF2B5EF4-FFF2-40B4-BE49-F238E27FC236}">
                  <a16:creationId xmlns:a16="http://schemas.microsoft.com/office/drawing/2014/main" id="{1B172B30-0552-BE1A-A928-1DC85F3C10BF}"/>
                </a:ext>
              </a:extLst>
            </p:cNvPr>
            <p:cNvSpPr/>
            <p:nvPr/>
          </p:nvSpPr>
          <p:spPr>
            <a:xfrm>
              <a:off x="11334750" y="228600"/>
              <a:ext cx="304800" cy="228600"/>
            </a:xfrm>
            <a:custGeom>
              <a:avLst/>
              <a:gdLst/>
              <a:ahLst/>
              <a:cxnLst/>
              <a:rect l="l" t="t" r="r" b="b"/>
              <a:pathLst>
                <a:path w="304800" h="228600">
                  <a:moveTo>
                    <a:pt x="0" y="209550"/>
                  </a:moveTo>
                  <a:lnTo>
                    <a:pt x="57150" y="228600"/>
                  </a:lnTo>
                  <a:lnTo>
                    <a:pt x="114300" y="171450"/>
                  </a:lnTo>
                  <a:lnTo>
                    <a:pt x="190500" y="171450"/>
                  </a:lnTo>
                  <a:lnTo>
                    <a:pt x="247650" y="228600"/>
                  </a:lnTo>
                  <a:lnTo>
                    <a:pt x="304800" y="209550"/>
                  </a:lnTo>
                  <a:lnTo>
                    <a:pt x="290474" y="51976"/>
                  </a:lnTo>
                  <a:cubicBezTo>
                    <a:pt x="287800" y="22539"/>
                    <a:pt x="263119" y="0"/>
                    <a:pt x="233561" y="0"/>
                  </a:cubicBezTo>
                  <a:lnTo>
                    <a:pt x="71240" y="0"/>
                  </a:lnTo>
                  <a:cubicBezTo>
                    <a:pt x="41682" y="0"/>
                    <a:pt x="17001" y="22539"/>
                    <a:pt x="14325" y="51976"/>
                  </a:cubicBezTo>
                  <a:lnTo>
                    <a:pt x="0" y="209550"/>
                  </a:lnTo>
                  <a:close/>
                  <a:moveTo>
                    <a:pt x="228600" y="76200"/>
                  </a:moveTo>
                  <a:cubicBezTo>
                    <a:pt x="239121" y="76200"/>
                    <a:pt x="247650" y="67671"/>
                    <a:pt x="247650" y="57150"/>
                  </a:cubicBezTo>
                  <a:cubicBezTo>
                    <a:pt x="247650" y="46629"/>
                    <a:pt x="239121" y="38100"/>
                    <a:pt x="228600" y="38100"/>
                  </a:cubicBezTo>
                  <a:cubicBezTo>
                    <a:pt x="218079" y="38100"/>
                    <a:pt x="209550" y="46629"/>
                    <a:pt x="209550" y="57150"/>
                  </a:cubicBezTo>
                  <a:cubicBezTo>
                    <a:pt x="209550" y="67671"/>
                    <a:pt x="218079" y="76200"/>
                    <a:pt x="228600" y="76200"/>
                  </a:cubicBezTo>
                  <a:close/>
                  <a:moveTo>
                    <a:pt x="228600" y="114300"/>
                  </a:moveTo>
                  <a:cubicBezTo>
                    <a:pt x="228600" y="124821"/>
                    <a:pt x="220071" y="133350"/>
                    <a:pt x="209550" y="133350"/>
                  </a:cubicBezTo>
                  <a:cubicBezTo>
                    <a:pt x="199029" y="133350"/>
                    <a:pt x="190500" y="124821"/>
                    <a:pt x="190500" y="114300"/>
                  </a:cubicBezTo>
                  <a:cubicBezTo>
                    <a:pt x="190500" y="103779"/>
                    <a:pt x="199029" y="95250"/>
                    <a:pt x="209550" y="95250"/>
                  </a:cubicBezTo>
                  <a:cubicBezTo>
                    <a:pt x="220071" y="95250"/>
                    <a:pt x="228600" y="103779"/>
                    <a:pt x="228600" y="114300"/>
                  </a:cubicBezTo>
                  <a:close/>
                  <a:moveTo>
                    <a:pt x="95250" y="114300"/>
                  </a:moveTo>
                  <a:cubicBezTo>
                    <a:pt x="116292" y="114300"/>
                    <a:pt x="133350" y="97242"/>
                    <a:pt x="133350" y="76200"/>
                  </a:cubicBezTo>
                  <a:cubicBezTo>
                    <a:pt x="133350" y="55158"/>
                    <a:pt x="116292" y="38100"/>
                    <a:pt x="95250" y="38100"/>
                  </a:cubicBezTo>
                  <a:cubicBezTo>
                    <a:pt x="74208" y="38100"/>
                    <a:pt x="57150" y="55158"/>
                    <a:pt x="57150" y="76200"/>
                  </a:cubicBezTo>
                  <a:cubicBezTo>
                    <a:pt x="57150" y="97242"/>
                    <a:pt x="74208" y="114300"/>
                    <a:pt x="95250" y="114300"/>
                  </a:cubicBezTo>
                  <a:close/>
                </a:path>
              </a:pathLst>
            </a:custGeom>
            <a:solidFill>
              <a:srgbClr val="5E91BD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" name="TextBox 19">
            <a:extLst>
              <a:ext uri="{FF2B5EF4-FFF2-40B4-BE49-F238E27FC236}">
                <a16:creationId xmlns:a16="http://schemas.microsoft.com/office/drawing/2014/main" id="{CDA2A93B-E5C1-8F99-0A05-9D9F70D57B0D}"/>
              </a:ext>
            </a:extLst>
          </p:cNvPr>
          <p:cNvSpPr txBox="1"/>
          <p:nvPr/>
        </p:nvSpPr>
        <p:spPr>
          <a:xfrm>
            <a:off x="11336754" y="6410325"/>
            <a:ext cx="214803" cy="2308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altLang="zh-CN" sz="1500" dirty="0">
                <a:solidFill>
                  <a:srgbClr val="66788A"/>
                </a:solidFill>
                <a:latin typeface="Arial"/>
                <a:ea typeface="Microsoft YaHei"/>
                <a:cs typeface="Arial"/>
              </a:rPr>
              <a:t>03</a:t>
            </a:r>
            <a:endParaRPr lang="zh-CN" sz="1500" dirty="0">
              <a:solidFill>
                <a:srgbClr val="66788A"/>
              </a:solidFill>
              <a:latin typeface="Arial"/>
              <a:ea typeface="Microsoft YaHei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877842-8FD6-3E35-6F33-37F38639A5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3F380088-F346-5CB4-DA74-A8E5282AD55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059DFE37-D5B2-4642-A278-1B98FE857E6C}"/>
              </a:ext>
            </a:extLst>
          </p:cNvPr>
          <p:cNvSpPr txBox="1"/>
          <p:nvPr/>
        </p:nvSpPr>
        <p:spPr>
          <a:xfrm>
            <a:off x="550545" y="260032"/>
            <a:ext cx="229444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Microsoft YaHei"/>
                <a:cs typeface="Arial"/>
              </a:rPr>
              <a:t>1 — EasyX </a:t>
            </a:r>
            <a:r>
              <a:rPr kumimoji="0" lang="zh-CN" altLang="en-US" sz="16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Microsoft YaHei"/>
                <a:cs typeface="Arial"/>
              </a:rPr>
              <a:t>图形库简介</a:t>
            </a:r>
          </a:p>
        </p:txBody>
      </p:sp>
      <p:grpSp>
        <p:nvGrpSpPr>
          <p:cNvPr id="8" name="Group 8">
            <a:extLst>
              <a:ext uri="{FF2B5EF4-FFF2-40B4-BE49-F238E27FC236}">
                <a16:creationId xmlns:a16="http://schemas.microsoft.com/office/drawing/2014/main" id="{5060240E-14AB-1243-3EC9-217E61F37245}"/>
              </a:ext>
            </a:extLst>
          </p:cNvPr>
          <p:cNvGrpSpPr/>
          <p:nvPr/>
        </p:nvGrpSpPr>
        <p:grpSpPr>
          <a:xfrm>
            <a:off x="11277600" y="180975"/>
            <a:ext cx="228600" cy="228600"/>
            <a:chOff x="11277600" y="180975"/>
            <a:chExt cx="228600" cy="228600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38DFC564-5FC8-D5D0-9571-9CD72E56A185}"/>
                </a:ext>
              </a:extLst>
            </p:cNvPr>
            <p:cNvSpPr/>
            <p:nvPr/>
          </p:nvSpPr>
          <p:spPr>
            <a:xfrm>
              <a:off x="11277600" y="180975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114300"/>
                  </a:moveTo>
                  <a:cubicBezTo>
                    <a:pt x="0" y="177426"/>
                    <a:pt x="51174" y="228600"/>
                    <a:pt x="114300" y="228600"/>
                  </a:cubicBezTo>
                  <a:cubicBezTo>
                    <a:pt x="177426" y="228600"/>
                    <a:pt x="228600" y="177426"/>
                    <a:pt x="228600" y="114300"/>
                  </a:cubicBezTo>
                  <a:cubicBezTo>
                    <a:pt x="228600" y="51174"/>
                    <a:pt x="177426" y="0"/>
                    <a:pt x="114300" y="0"/>
                  </a:cubicBezTo>
                  <a:cubicBezTo>
                    <a:pt x="51174" y="0"/>
                    <a:pt x="0" y="51174"/>
                    <a:pt x="0" y="114300"/>
                  </a:cubicBezTo>
                </a:path>
              </a:pathLst>
            </a:custGeom>
            <a:noFill/>
            <a:ln w="19050">
              <a:solidFill>
                <a:srgbClr val="5B8DB8"/>
              </a:solidFill>
            </a:ln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5020DCE6-292C-7660-06DB-A1E779451B29}"/>
                </a:ext>
              </a:extLst>
            </p:cNvPr>
            <p:cNvSpPr/>
            <p:nvPr/>
          </p:nvSpPr>
          <p:spPr>
            <a:xfrm>
              <a:off x="11391900" y="257175"/>
              <a:ext cx="9525" cy="9525"/>
            </a:xfrm>
            <a:custGeom>
              <a:avLst/>
              <a:gdLst/>
              <a:ahLst/>
              <a:cxnLst/>
              <a:rect l="l" t="t" r="r" b="b"/>
              <a:pathLst>
                <a:path w="9525" h="9525">
                  <a:moveTo>
                    <a:pt x="0" y="0"/>
                  </a:moveTo>
                  <a:lnTo>
                    <a:pt x="127" y="0"/>
                  </a:lnTo>
                </a:path>
              </a:pathLst>
            </a:custGeom>
            <a:noFill/>
            <a:ln w="19050">
              <a:solidFill>
                <a:srgbClr val="5B8DB8"/>
              </a:solidFill>
            </a:ln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972AC0B7-6E1C-3E2E-6A72-7467B8AA81EE}"/>
                </a:ext>
              </a:extLst>
            </p:cNvPr>
            <p:cNvSpPr/>
            <p:nvPr/>
          </p:nvSpPr>
          <p:spPr>
            <a:xfrm>
              <a:off x="11379200" y="295275"/>
              <a:ext cx="25400" cy="50800"/>
            </a:xfrm>
            <a:custGeom>
              <a:avLst/>
              <a:gdLst/>
              <a:ahLst/>
              <a:cxnLst/>
              <a:rect l="l" t="t" r="r" b="b"/>
              <a:pathLst>
                <a:path w="25400" h="50800">
                  <a:moveTo>
                    <a:pt x="0" y="0"/>
                  </a:moveTo>
                  <a:lnTo>
                    <a:pt x="12700" y="0"/>
                  </a:lnTo>
                  <a:lnTo>
                    <a:pt x="12700" y="50800"/>
                  </a:lnTo>
                  <a:lnTo>
                    <a:pt x="25400" y="50800"/>
                  </a:lnTo>
                </a:path>
              </a:pathLst>
            </a:custGeom>
            <a:noFill/>
            <a:ln w="19050">
              <a:solidFill>
                <a:srgbClr val="5B8DB8"/>
              </a:solidFill>
            </a:ln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9" name="TextBox 9">
            <a:extLst>
              <a:ext uri="{FF2B5EF4-FFF2-40B4-BE49-F238E27FC236}">
                <a16:creationId xmlns:a16="http://schemas.microsoft.com/office/drawing/2014/main" id="{AF035EC0-6CEF-DDD5-5B0E-573EEF673283}"/>
              </a:ext>
            </a:extLst>
          </p:cNvPr>
          <p:cNvSpPr txBox="1"/>
          <p:nvPr/>
        </p:nvSpPr>
        <p:spPr>
          <a:xfrm>
            <a:off x="552450" y="885825"/>
            <a:ext cx="151878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500" b="1" i="0" u="none" strike="noStrike" kern="1200" cap="none" spc="0" normalizeH="0" baseline="0" noProof="0" dirty="0">
                <a:ln>
                  <a:noFill/>
                </a:ln>
                <a:solidFill>
                  <a:srgbClr val="1A3A5C"/>
                </a:solidFill>
                <a:effectLst/>
                <a:uLnTx/>
                <a:uFillTx/>
                <a:latin typeface="Arial"/>
                <a:ea typeface="Microsoft YaHei"/>
                <a:cs typeface="Arial"/>
              </a:rPr>
              <a:t>EasyX </a:t>
            </a:r>
            <a:r>
              <a:rPr kumimoji="0" lang="zh-CN" alt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1A3A5C"/>
                </a:solidFill>
                <a:effectLst/>
                <a:uLnTx/>
                <a:uFillTx/>
                <a:latin typeface="Arial"/>
                <a:ea typeface="Microsoft YaHei"/>
                <a:cs typeface="Arial"/>
              </a:rPr>
              <a:t>核心能力</a:t>
            </a:r>
          </a:p>
        </p:txBody>
      </p:sp>
      <p:sp>
        <p:nvSpPr>
          <p:cNvPr id="11" name="Rectangle 11">
            <a:extLst>
              <a:ext uri="{FF2B5EF4-FFF2-40B4-BE49-F238E27FC236}">
                <a16:creationId xmlns:a16="http://schemas.microsoft.com/office/drawing/2014/main" id="{903E1D8C-6FB4-7D27-15E5-EBB68A0C0BAD}"/>
              </a:ext>
            </a:extLst>
          </p:cNvPr>
          <p:cNvSpPr/>
          <p:nvPr/>
        </p:nvSpPr>
        <p:spPr>
          <a:xfrm>
            <a:off x="571500" y="1619250"/>
            <a:ext cx="5143500" cy="438150"/>
          </a:xfrm>
          <a:prstGeom prst="roundRect">
            <a:avLst>
              <a:gd name="adj" fmla="val 13043"/>
            </a:avLst>
          </a:prstGeom>
          <a:solidFill>
            <a:srgbClr val="F4F6F8"/>
          </a:solidFill>
          <a:ln>
            <a:noFill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EA6D4AD0-F400-1D6C-A796-D75ED7AC7FEB}"/>
              </a:ext>
            </a:extLst>
          </p:cNvPr>
          <p:cNvSpPr txBox="1"/>
          <p:nvPr/>
        </p:nvSpPr>
        <p:spPr>
          <a:xfrm>
            <a:off x="746760" y="1775460"/>
            <a:ext cx="419900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E1E1E"/>
                </a:solidFill>
                <a:effectLst/>
                <a:uLnTx/>
                <a:uFillTx/>
                <a:latin typeface="Arial"/>
                <a:ea typeface="Microsoft YaHei"/>
                <a:cs typeface="Arial"/>
              </a:rPr>
              <a:t>绘图函数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1E1E1E"/>
                </a:solidFill>
                <a:effectLst/>
                <a:uLnTx/>
                <a:uFillTx/>
                <a:latin typeface="Arial"/>
                <a:ea typeface="Microsoft YaHei"/>
                <a:cs typeface="Arial"/>
              </a:rPr>
              <a:t>— putimage() /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E1E1E"/>
                </a:solidFill>
                <a:effectLst/>
                <a:uLnTx/>
                <a:uFillTx/>
                <a:latin typeface="Arial"/>
                <a:ea typeface="Microsoft YaHei"/>
                <a:cs typeface="Arial"/>
              </a:rPr>
              <a:t>几何图形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1E1E1E"/>
                </a:solidFill>
                <a:effectLst/>
                <a:uLnTx/>
                <a:uFillTx/>
                <a:latin typeface="Arial"/>
                <a:ea typeface="Microsoft YaHei"/>
                <a:cs typeface="Arial"/>
              </a:rPr>
              <a:t>/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E1E1E"/>
                </a:solidFill>
                <a:effectLst/>
                <a:uLnTx/>
                <a:uFillTx/>
                <a:latin typeface="Arial"/>
                <a:ea typeface="Microsoft YaHei"/>
                <a:cs typeface="Arial"/>
              </a:rPr>
              <a:t>颜色填充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1E1E1E"/>
                </a:solidFill>
                <a:effectLst/>
                <a:uLnTx/>
                <a:uFillTx/>
                <a:latin typeface="Arial"/>
                <a:ea typeface="Microsoft YaHei"/>
                <a:cs typeface="Arial"/>
              </a:rPr>
              <a:t>/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E1E1E"/>
                </a:solidFill>
                <a:effectLst/>
                <a:uLnTx/>
                <a:uFillTx/>
                <a:latin typeface="Arial"/>
                <a:ea typeface="Microsoft YaHei"/>
                <a:cs typeface="Arial"/>
              </a:rPr>
              <a:t>像素操作</a:t>
            </a:r>
          </a:p>
        </p:txBody>
      </p:sp>
      <p:sp>
        <p:nvSpPr>
          <p:cNvPr id="13" name="Rectangle 13">
            <a:extLst>
              <a:ext uri="{FF2B5EF4-FFF2-40B4-BE49-F238E27FC236}">
                <a16:creationId xmlns:a16="http://schemas.microsoft.com/office/drawing/2014/main" id="{FABED243-D9D0-806B-4322-E4AB32F0E76A}"/>
              </a:ext>
            </a:extLst>
          </p:cNvPr>
          <p:cNvSpPr/>
          <p:nvPr/>
        </p:nvSpPr>
        <p:spPr>
          <a:xfrm>
            <a:off x="571500" y="2152650"/>
            <a:ext cx="5143500" cy="43815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7C3A6723-C8AE-F248-F867-3199B7449C3E}"/>
              </a:ext>
            </a:extLst>
          </p:cNvPr>
          <p:cNvSpPr txBox="1"/>
          <p:nvPr/>
        </p:nvSpPr>
        <p:spPr>
          <a:xfrm>
            <a:off x="746760" y="2308860"/>
            <a:ext cx="411099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E1E1E"/>
                </a:solidFill>
                <a:effectLst/>
                <a:uLnTx/>
                <a:uFillTx/>
                <a:latin typeface="Arial"/>
                <a:ea typeface="Microsoft YaHei"/>
                <a:cs typeface="Arial"/>
              </a:rPr>
              <a:t>文字处理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1E1E1E"/>
                </a:solidFill>
                <a:effectLst/>
                <a:uLnTx/>
                <a:uFillTx/>
                <a:latin typeface="Arial"/>
                <a:ea typeface="Microsoft YaHei"/>
                <a:cs typeface="Arial"/>
              </a:rPr>
              <a:t>— outtextxy() /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E1E1E"/>
                </a:solidFill>
                <a:effectLst/>
                <a:uLnTx/>
                <a:uFillTx/>
                <a:latin typeface="Arial"/>
                <a:ea typeface="Microsoft YaHei"/>
                <a:cs typeface="Arial"/>
              </a:rPr>
              <a:t>字体样式设置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1E1E1E"/>
                </a:solidFill>
                <a:effectLst/>
                <a:uLnTx/>
                <a:uFillTx/>
                <a:latin typeface="Arial"/>
                <a:ea typeface="Microsoft YaHei"/>
                <a:cs typeface="Arial"/>
              </a:rPr>
              <a:t>/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E1E1E"/>
                </a:solidFill>
                <a:effectLst/>
                <a:uLnTx/>
                <a:uFillTx/>
                <a:latin typeface="Arial"/>
                <a:ea typeface="Microsoft YaHei"/>
                <a:cs typeface="Arial"/>
              </a:rPr>
              <a:t>透明背景模式</a:t>
            </a:r>
          </a:p>
        </p:txBody>
      </p:sp>
      <p:sp>
        <p:nvSpPr>
          <p:cNvPr id="15" name="Rectangle 15">
            <a:extLst>
              <a:ext uri="{FF2B5EF4-FFF2-40B4-BE49-F238E27FC236}">
                <a16:creationId xmlns:a16="http://schemas.microsoft.com/office/drawing/2014/main" id="{1F611FC3-522B-D905-3DE5-B5728D624E4B}"/>
              </a:ext>
            </a:extLst>
          </p:cNvPr>
          <p:cNvSpPr/>
          <p:nvPr/>
        </p:nvSpPr>
        <p:spPr>
          <a:xfrm>
            <a:off x="571500" y="2686050"/>
            <a:ext cx="5143500" cy="438150"/>
          </a:xfrm>
          <a:prstGeom prst="roundRect">
            <a:avLst>
              <a:gd name="adj" fmla="val 13043"/>
            </a:avLst>
          </a:prstGeom>
          <a:solidFill>
            <a:srgbClr val="F4F6F8"/>
          </a:solidFill>
          <a:ln>
            <a:noFill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A2B3A385-4476-8104-5731-29B88C8222B8}"/>
              </a:ext>
            </a:extLst>
          </p:cNvPr>
          <p:cNvSpPr txBox="1"/>
          <p:nvPr/>
        </p:nvSpPr>
        <p:spPr>
          <a:xfrm>
            <a:off x="746760" y="2842260"/>
            <a:ext cx="415099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E1E1E"/>
                </a:solidFill>
                <a:effectLst/>
                <a:uLnTx/>
                <a:uFillTx/>
                <a:latin typeface="Arial"/>
                <a:ea typeface="Microsoft YaHei"/>
                <a:cs typeface="Arial"/>
              </a:rPr>
              <a:t>消息处理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1E1E1E"/>
                </a:solidFill>
                <a:effectLst/>
                <a:uLnTx/>
                <a:uFillTx/>
                <a:latin typeface="Arial"/>
                <a:ea typeface="Microsoft YaHei"/>
                <a:cs typeface="Arial"/>
              </a:rPr>
              <a:t>— ExMessage /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E1E1E"/>
                </a:solidFill>
                <a:effectLst/>
                <a:uLnTx/>
                <a:uFillTx/>
                <a:latin typeface="Arial"/>
                <a:ea typeface="Microsoft YaHei"/>
                <a:cs typeface="Arial"/>
              </a:rPr>
              <a:t>键盘事件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1E1E1E"/>
                </a:solidFill>
                <a:effectLst/>
                <a:uLnTx/>
                <a:uFillTx/>
                <a:latin typeface="Arial"/>
                <a:ea typeface="Microsoft YaHei"/>
                <a:cs typeface="Arial"/>
              </a:rPr>
              <a:t>/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E1E1E"/>
                </a:solidFill>
                <a:effectLst/>
                <a:uLnTx/>
                <a:uFillTx/>
                <a:latin typeface="Arial"/>
                <a:ea typeface="Microsoft YaHei"/>
                <a:cs typeface="Arial"/>
              </a:rPr>
              <a:t>窗口事件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1E1E1E"/>
                </a:solidFill>
                <a:effectLst/>
                <a:uLnTx/>
                <a:uFillTx/>
                <a:latin typeface="Arial"/>
                <a:ea typeface="Microsoft YaHei"/>
                <a:cs typeface="Arial"/>
              </a:rPr>
              <a:t>/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E1E1E"/>
                </a:solidFill>
                <a:effectLst/>
                <a:uLnTx/>
                <a:uFillTx/>
                <a:latin typeface="Arial"/>
                <a:ea typeface="Microsoft YaHei"/>
                <a:cs typeface="Arial"/>
              </a:rPr>
              <a:t>鼠标事件</a:t>
            </a:r>
          </a:p>
        </p:txBody>
      </p:sp>
      <p:sp>
        <p:nvSpPr>
          <p:cNvPr id="17" name="Rectangle 17">
            <a:extLst>
              <a:ext uri="{FF2B5EF4-FFF2-40B4-BE49-F238E27FC236}">
                <a16:creationId xmlns:a16="http://schemas.microsoft.com/office/drawing/2014/main" id="{AE231AF3-D5AE-3115-F791-BF7A2A3F0654}"/>
              </a:ext>
            </a:extLst>
          </p:cNvPr>
          <p:cNvSpPr/>
          <p:nvPr/>
        </p:nvSpPr>
        <p:spPr>
          <a:xfrm>
            <a:off x="571500" y="3219450"/>
            <a:ext cx="5143500" cy="43815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AE9B9DBB-9234-6C8D-65A1-9C1B11547FE9}"/>
              </a:ext>
            </a:extLst>
          </p:cNvPr>
          <p:cNvSpPr txBox="1"/>
          <p:nvPr/>
        </p:nvSpPr>
        <p:spPr>
          <a:xfrm>
            <a:off x="746760" y="3375660"/>
            <a:ext cx="388696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E1E1E"/>
                </a:solidFill>
                <a:effectLst/>
                <a:uLnTx/>
                <a:uFillTx/>
                <a:latin typeface="Arial"/>
                <a:ea typeface="Microsoft YaHei"/>
                <a:cs typeface="Arial"/>
              </a:rPr>
              <a:t>图片加载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1E1E1E"/>
                </a:solidFill>
                <a:effectLst/>
                <a:uLnTx/>
                <a:uFillTx/>
                <a:latin typeface="Arial"/>
                <a:ea typeface="Microsoft YaHei"/>
                <a:cs typeface="Arial"/>
              </a:rPr>
              <a:t>— loadimage() /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E1E1E"/>
                </a:solidFill>
                <a:effectLst/>
                <a:uLnTx/>
                <a:uFillTx/>
                <a:latin typeface="Arial"/>
                <a:ea typeface="Microsoft YaHei"/>
                <a:cs typeface="Arial"/>
              </a:rPr>
              <a:t>支持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1E1E1E"/>
                </a:solidFill>
                <a:effectLst/>
                <a:uLnTx/>
                <a:uFillTx/>
                <a:latin typeface="Arial"/>
                <a:ea typeface="Microsoft YaHei"/>
                <a:cs typeface="Arial"/>
              </a:rPr>
              <a:t>PNG / JPG / BMP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E1E1E"/>
                </a:solidFill>
                <a:effectLst/>
                <a:uLnTx/>
                <a:uFillTx/>
                <a:latin typeface="Arial"/>
                <a:ea typeface="Microsoft YaHei"/>
                <a:cs typeface="Arial"/>
              </a:rPr>
              <a:t>格式</a:t>
            </a:r>
          </a:p>
        </p:txBody>
      </p:sp>
      <p:sp>
        <p:nvSpPr>
          <p:cNvPr id="19" name="Rectangle 19">
            <a:extLst>
              <a:ext uri="{FF2B5EF4-FFF2-40B4-BE49-F238E27FC236}">
                <a16:creationId xmlns:a16="http://schemas.microsoft.com/office/drawing/2014/main" id="{B2C95901-70BA-6AD1-42B5-C3654B746A96}"/>
              </a:ext>
            </a:extLst>
          </p:cNvPr>
          <p:cNvSpPr/>
          <p:nvPr/>
        </p:nvSpPr>
        <p:spPr>
          <a:xfrm>
            <a:off x="571500" y="3752850"/>
            <a:ext cx="5143500" cy="438150"/>
          </a:xfrm>
          <a:prstGeom prst="roundRect">
            <a:avLst>
              <a:gd name="adj" fmla="val 13043"/>
            </a:avLst>
          </a:prstGeom>
          <a:solidFill>
            <a:srgbClr val="F4F6F8"/>
          </a:solidFill>
          <a:ln>
            <a:noFill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AD729647-075C-1D1B-8F61-3A4F25C4FF1B}"/>
              </a:ext>
            </a:extLst>
          </p:cNvPr>
          <p:cNvSpPr txBox="1"/>
          <p:nvPr/>
        </p:nvSpPr>
        <p:spPr>
          <a:xfrm>
            <a:off x="746760" y="3909060"/>
            <a:ext cx="512711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E1E1E"/>
                </a:solidFill>
                <a:effectLst/>
                <a:uLnTx/>
                <a:uFillTx/>
                <a:latin typeface="Arial"/>
                <a:ea typeface="Microsoft YaHei"/>
                <a:cs typeface="Arial"/>
              </a:rPr>
              <a:t>双缓冲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1E1E1E"/>
                </a:solidFill>
                <a:effectLst/>
                <a:uLnTx/>
                <a:uFillTx/>
                <a:latin typeface="Arial"/>
                <a:ea typeface="Microsoft YaHei"/>
                <a:cs typeface="Arial"/>
              </a:rPr>
              <a:t>— BeginBatchDraw() / FlushBatchDraw() / EndBatchDraw()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05472CF1-EC82-3723-0D3D-C9D1339D7A41}"/>
              </a:ext>
            </a:extLst>
          </p:cNvPr>
          <p:cNvSpPr txBox="1"/>
          <p:nvPr/>
        </p:nvSpPr>
        <p:spPr>
          <a:xfrm>
            <a:off x="6267450" y="885825"/>
            <a:ext cx="213836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500" b="1" i="0" u="none" strike="noStrike" kern="1200" cap="none" spc="0" normalizeH="0" baseline="0" noProof="0" dirty="0">
                <a:ln>
                  <a:noFill/>
                </a:ln>
                <a:solidFill>
                  <a:srgbClr val="1A3A5C"/>
                </a:solidFill>
                <a:effectLst/>
                <a:uLnTx/>
                <a:uFillTx/>
                <a:latin typeface="Arial"/>
                <a:ea typeface="Microsoft YaHei"/>
                <a:cs typeface="Arial"/>
              </a:rPr>
              <a:t>EasyBomber </a:t>
            </a:r>
            <a:r>
              <a:rPr kumimoji="0" lang="zh-CN" alt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1A3A5C"/>
                </a:solidFill>
                <a:effectLst/>
                <a:uLnTx/>
                <a:uFillTx/>
                <a:latin typeface="Arial"/>
                <a:ea typeface="Microsoft YaHei"/>
                <a:cs typeface="Arial"/>
              </a:rPr>
              <a:t>中的使用</a:t>
            </a:r>
          </a:p>
        </p:txBody>
      </p:sp>
      <p:sp>
        <p:nvSpPr>
          <p:cNvPr id="22" name="Rectangle 22">
            <a:extLst>
              <a:ext uri="{FF2B5EF4-FFF2-40B4-BE49-F238E27FC236}">
                <a16:creationId xmlns:a16="http://schemas.microsoft.com/office/drawing/2014/main" id="{DAF7B056-CCC4-DA6B-78D4-36B90E341F6C}"/>
              </a:ext>
            </a:extLst>
          </p:cNvPr>
          <p:cNvSpPr/>
          <p:nvPr/>
        </p:nvSpPr>
        <p:spPr>
          <a:xfrm>
            <a:off x="6144016" y="1373505"/>
            <a:ext cx="5555922" cy="4795563"/>
          </a:xfrm>
          <a:prstGeom prst="roundRect">
            <a:avLst>
              <a:gd name="adj" fmla="val 2632"/>
            </a:avLst>
          </a:prstGeom>
          <a:solidFill>
            <a:srgbClr val="F4F6F8"/>
          </a:solidFill>
          <a:ln>
            <a:noFill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3" name="Rectangle 23">
            <a:extLst>
              <a:ext uri="{FF2B5EF4-FFF2-40B4-BE49-F238E27FC236}">
                <a16:creationId xmlns:a16="http://schemas.microsoft.com/office/drawing/2014/main" id="{FC327303-15A2-57E4-E583-12ECAC9EFF1F}"/>
              </a:ext>
            </a:extLst>
          </p:cNvPr>
          <p:cNvSpPr/>
          <p:nvPr/>
        </p:nvSpPr>
        <p:spPr>
          <a:xfrm>
            <a:off x="6286500" y="1333500"/>
            <a:ext cx="5334000" cy="342900"/>
          </a:xfrm>
          <a:prstGeom prst="roundRect">
            <a:avLst>
              <a:gd name="adj" fmla="val 27778"/>
            </a:avLst>
          </a:prstGeom>
          <a:solidFill>
            <a:srgbClr val="1A3A5C"/>
          </a:solidFill>
          <a:ln>
            <a:noFill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4" name="Rectangle 24">
            <a:extLst>
              <a:ext uri="{FF2B5EF4-FFF2-40B4-BE49-F238E27FC236}">
                <a16:creationId xmlns:a16="http://schemas.microsoft.com/office/drawing/2014/main" id="{6BDA6D2A-CF2F-5193-5F69-78B7DBC7BF29}"/>
              </a:ext>
            </a:extLst>
          </p:cNvPr>
          <p:cNvSpPr/>
          <p:nvPr/>
        </p:nvSpPr>
        <p:spPr>
          <a:xfrm>
            <a:off x="6286500" y="1581150"/>
            <a:ext cx="5334000" cy="9525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15E31843-F98C-5A35-CC13-69BFE33F0E02}"/>
              </a:ext>
            </a:extLst>
          </p:cNvPr>
          <p:cNvSpPr txBox="1"/>
          <p:nvPr/>
        </p:nvSpPr>
        <p:spPr>
          <a:xfrm>
            <a:off x="6464618" y="1456849"/>
            <a:ext cx="202701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975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/>
                <a:ea typeface="Microsoft YaHei"/>
                <a:cs typeface="Consolas"/>
              </a:rPr>
              <a:t>EasyBomber </a:t>
            </a:r>
            <a:r>
              <a:rPr kumimoji="0" lang="zh-CN" altLang="en-US" sz="975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/>
                <a:ea typeface="Microsoft YaHei"/>
                <a:cs typeface="Consolas"/>
              </a:rPr>
              <a:t>入口 </a:t>
            </a:r>
            <a:r>
              <a:rPr kumimoji="0" lang="en-US" altLang="zh-CN" sz="975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/>
                <a:ea typeface="Microsoft YaHei"/>
                <a:cs typeface="Consolas"/>
              </a:rPr>
              <a:t>— Game::run()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56B29959-ADEE-B165-4587-7DAEB3C99C2D}"/>
              </a:ext>
            </a:extLst>
          </p:cNvPr>
          <p:cNvSpPr txBox="1"/>
          <p:nvPr/>
        </p:nvSpPr>
        <p:spPr>
          <a:xfrm>
            <a:off x="6464618" y="1894999"/>
            <a:ext cx="240406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975" b="0" i="0" u="none" strike="noStrike" kern="1200" cap="none" spc="0" normalizeH="0" baseline="0" noProof="0" dirty="0">
                <a:ln>
                  <a:noFill/>
                </a:ln>
                <a:solidFill>
                  <a:srgbClr val="5A6570"/>
                </a:solidFill>
                <a:effectLst/>
                <a:uLnTx/>
                <a:uFillTx/>
                <a:latin typeface="Consolas"/>
                <a:ea typeface="Microsoft YaHei"/>
                <a:cs typeface="Consolas"/>
              </a:rPr>
              <a:t>#include &lt;graphics.h&gt; // EasyX </a:t>
            </a:r>
            <a:r>
              <a:rPr kumimoji="0" lang="zh-CN" altLang="en-US" sz="975" b="0" i="0" u="none" strike="noStrike" kern="1200" cap="none" spc="0" normalizeH="0" baseline="0" noProof="0" dirty="0">
                <a:ln>
                  <a:noFill/>
                </a:ln>
                <a:solidFill>
                  <a:srgbClr val="5A6570"/>
                </a:solidFill>
                <a:effectLst/>
                <a:uLnTx/>
                <a:uFillTx/>
                <a:latin typeface="Consolas"/>
                <a:ea typeface="Microsoft YaHei"/>
                <a:cs typeface="Consolas"/>
              </a:rPr>
              <a:t>头文件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1A6A02FC-FB24-855E-A8FA-8E3DBEC69CEA}"/>
              </a:ext>
            </a:extLst>
          </p:cNvPr>
          <p:cNvSpPr txBox="1"/>
          <p:nvPr/>
        </p:nvSpPr>
        <p:spPr>
          <a:xfrm>
            <a:off x="6464618" y="2133124"/>
            <a:ext cx="116890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975" b="0" i="0" u="none" strike="noStrike" kern="1200" cap="none" spc="0" normalizeH="0" baseline="0" noProof="0" dirty="0">
                <a:ln>
                  <a:noFill/>
                </a:ln>
                <a:solidFill>
                  <a:srgbClr val="5A6570"/>
                </a:solidFill>
                <a:effectLst/>
                <a:uLnTx/>
                <a:uFillTx/>
                <a:latin typeface="Consolas"/>
                <a:ea typeface="Microsoft YaHei"/>
                <a:cs typeface="Consolas"/>
              </a:rPr>
              <a:t>int Game::run() {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6478F96C-028A-88B7-C1C6-FDAC045D6673}"/>
              </a:ext>
            </a:extLst>
          </p:cNvPr>
          <p:cNvSpPr txBox="1"/>
          <p:nvPr/>
        </p:nvSpPr>
        <p:spPr>
          <a:xfrm>
            <a:off x="6655118" y="2371249"/>
            <a:ext cx="223504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975" b="0" i="0" u="none" strike="noStrike" kern="1200" cap="none" spc="0" normalizeH="0" baseline="0" noProof="0" dirty="0">
                <a:ln>
                  <a:noFill/>
                </a:ln>
                <a:solidFill>
                  <a:srgbClr val="2563A0"/>
                </a:solidFill>
                <a:effectLst/>
                <a:uLnTx/>
                <a:uFillTx/>
                <a:latin typeface="Consolas"/>
                <a:ea typeface="Microsoft YaHei"/>
                <a:cs typeface="Consolas"/>
              </a:rPr>
              <a:t>initgraph(WIN_WIDTH, WIN_HEIGHT);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39BC583F-F499-59BD-E65E-A83F261FCBBB}"/>
              </a:ext>
            </a:extLst>
          </p:cNvPr>
          <p:cNvSpPr txBox="1"/>
          <p:nvPr/>
        </p:nvSpPr>
        <p:spPr>
          <a:xfrm>
            <a:off x="6655118" y="2609374"/>
            <a:ext cx="283311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975" b="0" i="0" u="none" strike="noStrike" kern="1200" cap="none" spc="0" normalizeH="0" baseline="0" noProof="0" dirty="0">
                <a:ln>
                  <a:noFill/>
                </a:ln>
                <a:solidFill>
                  <a:srgbClr val="5A6570"/>
                </a:solidFill>
                <a:effectLst/>
                <a:uLnTx/>
                <a:uFillTx/>
                <a:latin typeface="Consolas"/>
                <a:ea typeface="Microsoft YaHei"/>
                <a:cs typeface="Consolas"/>
              </a:rPr>
              <a:t>SetWindowText(GetHWnd(), L"</a:t>
            </a:r>
            <a:r>
              <a:rPr kumimoji="0" lang="zh-CN" altLang="en-US" sz="975" b="0" i="0" u="none" strike="noStrike" kern="1200" cap="none" spc="0" normalizeH="0" baseline="0" noProof="0" dirty="0">
                <a:ln>
                  <a:noFill/>
                </a:ln>
                <a:solidFill>
                  <a:srgbClr val="5A6570"/>
                </a:solidFill>
                <a:effectLst/>
                <a:uLnTx/>
                <a:uFillTx/>
                <a:latin typeface="Consolas"/>
                <a:ea typeface="Microsoft YaHei"/>
                <a:cs typeface="Consolas"/>
              </a:rPr>
              <a:t>简易炸弹人</a:t>
            </a:r>
            <a:r>
              <a:rPr kumimoji="0" lang="en-US" altLang="zh-CN" sz="975" b="0" i="0" u="none" strike="noStrike" kern="1200" cap="none" spc="0" normalizeH="0" baseline="0" noProof="0" dirty="0">
                <a:ln>
                  <a:noFill/>
                </a:ln>
                <a:solidFill>
                  <a:srgbClr val="5A6570"/>
                </a:solidFill>
                <a:effectLst/>
                <a:uLnTx/>
                <a:uFillTx/>
                <a:latin typeface="Consolas"/>
                <a:ea typeface="Microsoft YaHei"/>
                <a:cs typeface="Consolas"/>
              </a:rPr>
              <a:t>");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84B53A25-D51C-3AFD-2096-6943F73F5559}"/>
              </a:ext>
            </a:extLst>
          </p:cNvPr>
          <p:cNvSpPr txBox="1"/>
          <p:nvPr/>
        </p:nvSpPr>
        <p:spPr>
          <a:xfrm>
            <a:off x="6655118" y="2847499"/>
            <a:ext cx="127942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975" b="0" i="0" u="none" strike="noStrike" kern="1200" cap="none" spc="0" normalizeH="0" baseline="0" noProof="0" dirty="0">
                <a:ln>
                  <a:noFill/>
                </a:ln>
                <a:solidFill>
                  <a:srgbClr val="5A6570"/>
                </a:solidFill>
                <a:effectLst/>
                <a:uLnTx/>
                <a:uFillTx/>
                <a:latin typeface="Consolas"/>
                <a:ea typeface="Microsoft YaHei"/>
                <a:cs typeface="Consolas"/>
              </a:rPr>
              <a:t>setbkcolor(BLACK);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B19EE160-1F2B-A2EF-57E1-9064A19B6936}"/>
              </a:ext>
            </a:extLst>
          </p:cNvPr>
          <p:cNvSpPr txBox="1"/>
          <p:nvPr/>
        </p:nvSpPr>
        <p:spPr>
          <a:xfrm>
            <a:off x="6655118" y="3085624"/>
            <a:ext cx="210502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975" b="0" i="0" u="none" strike="noStrike" kern="1200" cap="none" spc="0" normalizeH="0" baseline="0" noProof="0" dirty="0">
                <a:ln>
                  <a:noFill/>
                </a:ln>
                <a:solidFill>
                  <a:srgbClr val="2563A0"/>
                </a:solidFill>
                <a:effectLst/>
                <a:uLnTx/>
                <a:uFillTx/>
                <a:latin typeface="Consolas"/>
                <a:ea typeface="Microsoft YaHei"/>
                <a:cs typeface="Consolas"/>
              </a:rPr>
              <a:t>BeginBatchDraw(); // </a:t>
            </a:r>
            <a:r>
              <a:rPr kumimoji="0" lang="zh-CN" altLang="en-US" sz="975" b="0" i="0" u="none" strike="noStrike" kern="1200" cap="none" spc="0" normalizeH="0" baseline="0" noProof="0" dirty="0">
                <a:ln>
                  <a:noFill/>
                </a:ln>
                <a:solidFill>
                  <a:srgbClr val="2563A0"/>
                </a:solidFill>
                <a:effectLst/>
                <a:uLnTx/>
                <a:uFillTx/>
                <a:latin typeface="Consolas"/>
                <a:ea typeface="Microsoft YaHei"/>
                <a:cs typeface="Consolas"/>
              </a:rPr>
              <a:t>开启双缓冲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34191D3A-6445-355F-6208-D8DEA324D9A8}"/>
              </a:ext>
            </a:extLst>
          </p:cNvPr>
          <p:cNvSpPr txBox="1"/>
          <p:nvPr/>
        </p:nvSpPr>
        <p:spPr>
          <a:xfrm>
            <a:off x="6655118" y="3418999"/>
            <a:ext cx="110390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975" b="0" i="0" u="none" strike="noStrike" kern="1200" cap="none" spc="0" normalizeH="0" baseline="0" noProof="0" dirty="0">
                <a:ln>
                  <a:noFill/>
                </a:ln>
                <a:solidFill>
                  <a:srgbClr val="5A6570"/>
                </a:solidFill>
                <a:effectLst/>
                <a:uLnTx/>
                <a:uFillTx/>
                <a:latin typeface="Consolas"/>
                <a:ea typeface="Microsoft YaHei"/>
                <a:cs typeface="Consolas"/>
              </a:rPr>
              <a:t>while (running) {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3B402C48-0927-9114-BA42-B570699BBD0C}"/>
              </a:ext>
            </a:extLst>
          </p:cNvPr>
          <p:cNvSpPr txBox="1"/>
          <p:nvPr/>
        </p:nvSpPr>
        <p:spPr>
          <a:xfrm>
            <a:off x="6845618" y="3657124"/>
            <a:ext cx="195550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975" b="0" i="0" u="none" strike="noStrike" kern="1200" cap="none" spc="0" normalizeH="0" baseline="0" noProof="0" dirty="0">
                <a:ln>
                  <a:noFill/>
                </a:ln>
                <a:solidFill>
                  <a:srgbClr val="5A6570"/>
                </a:solidFill>
                <a:effectLst/>
                <a:uLnTx/>
                <a:uFillTx/>
                <a:latin typeface="Consolas"/>
                <a:ea typeface="Microsoft YaHei"/>
                <a:cs typeface="Consolas"/>
              </a:rPr>
              <a:t>input(); update(dt); draw();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6F1E90BC-A363-7D4A-2B4B-D37DB09E3E18}"/>
              </a:ext>
            </a:extLst>
          </p:cNvPr>
          <p:cNvSpPr txBox="1"/>
          <p:nvPr/>
        </p:nvSpPr>
        <p:spPr>
          <a:xfrm>
            <a:off x="6845618" y="3895249"/>
            <a:ext cx="210502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975" b="0" i="0" u="none" strike="noStrike" kern="1200" cap="none" spc="0" normalizeH="0" baseline="0" noProof="0" dirty="0">
                <a:ln>
                  <a:noFill/>
                </a:ln>
                <a:solidFill>
                  <a:srgbClr val="2563A0"/>
                </a:solidFill>
                <a:effectLst/>
                <a:uLnTx/>
                <a:uFillTx/>
                <a:latin typeface="Consolas"/>
                <a:ea typeface="Microsoft YaHei"/>
                <a:cs typeface="Consolas"/>
              </a:rPr>
              <a:t>FlushBatchDraw(); // </a:t>
            </a:r>
            <a:r>
              <a:rPr kumimoji="0" lang="zh-CN" altLang="en-US" sz="975" b="0" i="0" u="none" strike="noStrike" kern="1200" cap="none" spc="0" normalizeH="0" baseline="0" noProof="0" dirty="0">
                <a:ln>
                  <a:noFill/>
                </a:ln>
                <a:solidFill>
                  <a:srgbClr val="2563A0"/>
                </a:solidFill>
                <a:effectLst/>
                <a:uLnTx/>
                <a:uFillTx/>
                <a:latin typeface="Consolas"/>
                <a:ea typeface="Microsoft YaHei"/>
                <a:cs typeface="Consolas"/>
              </a:rPr>
              <a:t>双缓冲呈现</a:t>
            </a: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49879A61-2F5E-828A-DFBF-705D714E78BF}"/>
              </a:ext>
            </a:extLst>
          </p:cNvPr>
          <p:cNvSpPr txBox="1"/>
          <p:nvPr/>
        </p:nvSpPr>
        <p:spPr>
          <a:xfrm>
            <a:off x="6655118" y="4133374"/>
            <a:ext cx="63584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975" b="0" i="0" u="none" strike="noStrike" kern="1200" cap="none" spc="0" normalizeH="0" baseline="0" noProof="0" dirty="0">
                <a:ln>
                  <a:noFill/>
                </a:ln>
                <a:solidFill>
                  <a:srgbClr val="5A6570"/>
                </a:solidFill>
                <a:effectLst/>
                <a:uLnTx/>
                <a:uFillTx/>
                <a:latin typeface="Consolas"/>
                <a:ea typeface="Microsoft YaHei"/>
                <a:cs typeface="Consolas"/>
              </a:rPr>
              <a:t>Sleep(8);</a:t>
            </a: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CCCB3668-1E73-3BCE-3233-9A61D4B8D308}"/>
              </a:ext>
            </a:extLst>
          </p:cNvPr>
          <p:cNvSpPr txBox="1"/>
          <p:nvPr/>
        </p:nvSpPr>
        <p:spPr>
          <a:xfrm>
            <a:off x="6655118" y="4371499"/>
            <a:ext cx="9627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975" b="0" i="0" u="none" strike="noStrike" kern="1200" cap="none" spc="0" normalizeH="0" baseline="0" noProof="0" dirty="0">
                <a:ln>
                  <a:noFill/>
                </a:ln>
                <a:solidFill>
                  <a:srgbClr val="5A6570"/>
                </a:solidFill>
                <a:effectLst/>
                <a:uLnTx/>
                <a:uFillTx/>
                <a:latin typeface="Consolas"/>
                <a:ea typeface="Microsoft YaHei"/>
                <a:cs typeface="Consolas"/>
              </a:rPr>
              <a:t>}</a:t>
            </a:r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1E058EF8-8671-FC96-F198-47CA568C1804}"/>
              </a:ext>
            </a:extLst>
          </p:cNvPr>
          <p:cNvSpPr txBox="1"/>
          <p:nvPr/>
        </p:nvSpPr>
        <p:spPr>
          <a:xfrm>
            <a:off x="6655118" y="4609624"/>
            <a:ext cx="199451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975" b="0" i="0" u="none" strike="noStrike" kern="1200" cap="none" spc="0" normalizeH="0" baseline="0" noProof="0" dirty="0">
                <a:ln>
                  <a:noFill/>
                </a:ln>
                <a:solidFill>
                  <a:srgbClr val="2563A0"/>
                </a:solidFill>
                <a:effectLst/>
                <a:uLnTx/>
                <a:uFillTx/>
                <a:latin typeface="Consolas"/>
                <a:ea typeface="Microsoft YaHei"/>
                <a:cs typeface="Consolas"/>
              </a:rPr>
              <a:t>EndBatchDraw(); // </a:t>
            </a:r>
            <a:r>
              <a:rPr kumimoji="0" lang="zh-CN" altLang="en-US" sz="975" b="0" i="0" u="none" strike="noStrike" kern="1200" cap="none" spc="0" normalizeH="0" baseline="0" noProof="0" dirty="0">
                <a:ln>
                  <a:noFill/>
                </a:ln>
                <a:solidFill>
                  <a:srgbClr val="2563A0"/>
                </a:solidFill>
                <a:effectLst/>
                <a:uLnTx/>
                <a:uFillTx/>
                <a:latin typeface="Consolas"/>
                <a:ea typeface="Microsoft YaHei"/>
                <a:cs typeface="Consolas"/>
              </a:rPr>
              <a:t>关闭双缓冲</a:t>
            </a:r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36BB11B6-C0C3-9FFD-A2BE-7B06E6208D5A}"/>
              </a:ext>
            </a:extLst>
          </p:cNvPr>
          <p:cNvSpPr txBox="1"/>
          <p:nvPr/>
        </p:nvSpPr>
        <p:spPr>
          <a:xfrm>
            <a:off x="6464618" y="4847749"/>
            <a:ext cx="157195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975" b="0" i="0" u="none" strike="noStrike" kern="1200" cap="none" spc="0" normalizeH="0" baseline="0" noProof="0" dirty="0">
                <a:ln>
                  <a:noFill/>
                </a:ln>
                <a:solidFill>
                  <a:srgbClr val="5A6570"/>
                </a:solidFill>
                <a:effectLst/>
                <a:uLnTx/>
                <a:uFillTx/>
                <a:latin typeface="Consolas"/>
                <a:ea typeface="Microsoft YaHei"/>
                <a:cs typeface="Consolas"/>
              </a:rPr>
              <a:t>closegraph(); return 0;</a:t>
            </a:r>
          </a:p>
        </p:txBody>
      </p:sp>
      <p:grpSp>
        <p:nvGrpSpPr>
          <p:cNvPr id="45" name="Group 6">
            <a:extLst>
              <a:ext uri="{FF2B5EF4-FFF2-40B4-BE49-F238E27FC236}">
                <a16:creationId xmlns:a16="http://schemas.microsoft.com/office/drawing/2014/main" id="{F39FA781-FC9B-5366-C759-2E4F1F5E9989}"/>
              </a:ext>
            </a:extLst>
          </p:cNvPr>
          <p:cNvGrpSpPr/>
          <p:nvPr/>
        </p:nvGrpSpPr>
        <p:grpSpPr>
          <a:xfrm>
            <a:off x="4382" y="-24363"/>
            <a:ext cx="12192000" cy="647700"/>
            <a:chOff x="0" y="0"/>
            <a:chExt cx="12192000" cy="647700"/>
          </a:xfrm>
        </p:grpSpPr>
        <p:sp>
          <p:nvSpPr>
            <p:cNvPr id="46" name="Rectangle 3">
              <a:extLst>
                <a:ext uri="{FF2B5EF4-FFF2-40B4-BE49-F238E27FC236}">
                  <a16:creationId xmlns:a16="http://schemas.microsoft.com/office/drawing/2014/main" id="{DB61B38D-E173-D6EB-2CA5-C0C326F1D41B}"/>
                </a:ext>
              </a:extLst>
            </p:cNvPr>
            <p:cNvSpPr/>
            <p:nvPr/>
          </p:nvSpPr>
          <p:spPr>
            <a:xfrm>
              <a:off x="0" y="0"/>
              <a:ext cx="12192000" cy="647700"/>
            </a:xfrm>
            <a:prstGeom prst="rect">
              <a:avLst/>
            </a:prstGeom>
            <a:solidFill>
              <a:srgbClr val="1E4268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" name="TextBox 4">
              <a:extLst>
                <a:ext uri="{FF2B5EF4-FFF2-40B4-BE49-F238E27FC236}">
                  <a16:creationId xmlns:a16="http://schemas.microsoft.com/office/drawing/2014/main" id="{1027F192-FB81-F97A-47D1-6F57746717A5}"/>
                </a:ext>
              </a:extLst>
            </p:cNvPr>
            <p:cNvSpPr txBox="1"/>
            <p:nvPr/>
          </p:nvSpPr>
          <p:spPr>
            <a:xfrm>
              <a:off x="539115" y="162878"/>
              <a:ext cx="2540760" cy="3924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altLang="zh-CN" sz="2550" b="1" dirty="0" err="1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easyx</a:t>
              </a:r>
              <a:r>
                <a:rPr lang="zh-CN" altLang="en-US" sz="25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图形库简介</a:t>
              </a:r>
              <a:endParaRPr lang="zh-CN" sz="25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endParaRPr>
            </a:p>
          </p:txBody>
        </p:sp>
        <p:sp>
          <p:nvSpPr>
            <p:cNvPr id="48" name="Freeform 5">
              <a:extLst>
                <a:ext uri="{FF2B5EF4-FFF2-40B4-BE49-F238E27FC236}">
                  <a16:creationId xmlns:a16="http://schemas.microsoft.com/office/drawing/2014/main" id="{9DB53704-C568-6209-EB35-09EEE3D05C95}"/>
                </a:ext>
              </a:extLst>
            </p:cNvPr>
            <p:cNvSpPr/>
            <p:nvPr/>
          </p:nvSpPr>
          <p:spPr>
            <a:xfrm>
              <a:off x="11334750" y="228600"/>
              <a:ext cx="304800" cy="228600"/>
            </a:xfrm>
            <a:custGeom>
              <a:avLst/>
              <a:gdLst/>
              <a:ahLst/>
              <a:cxnLst/>
              <a:rect l="l" t="t" r="r" b="b"/>
              <a:pathLst>
                <a:path w="304800" h="228600">
                  <a:moveTo>
                    <a:pt x="0" y="209550"/>
                  </a:moveTo>
                  <a:lnTo>
                    <a:pt x="57150" y="228600"/>
                  </a:lnTo>
                  <a:lnTo>
                    <a:pt x="114300" y="171450"/>
                  </a:lnTo>
                  <a:lnTo>
                    <a:pt x="190500" y="171450"/>
                  </a:lnTo>
                  <a:lnTo>
                    <a:pt x="247650" y="228600"/>
                  </a:lnTo>
                  <a:lnTo>
                    <a:pt x="304800" y="209550"/>
                  </a:lnTo>
                  <a:lnTo>
                    <a:pt x="290474" y="51976"/>
                  </a:lnTo>
                  <a:cubicBezTo>
                    <a:pt x="287800" y="22539"/>
                    <a:pt x="263119" y="0"/>
                    <a:pt x="233561" y="0"/>
                  </a:cubicBezTo>
                  <a:lnTo>
                    <a:pt x="71240" y="0"/>
                  </a:lnTo>
                  <a:cubicBezTo>
                    <a:pt x="41682" y="0"/>
                    <a:pt x="17001" y="22539"/>
                    <a:pt x="14325" y="51976"/>
                  </a:cubicBezTo>
                  <a:lnTo>
                    <a:pt x="0" y="209550"/>
                  </a:lnTo>
                  <a:close/>
                  <a:moveTo>
                    <a:pt x="228600" y="76200"/>
                  </a:moveTo>
                  <a:cubicBezTo>
                    <a:pt x="239121" y="76200"/>
                    <a:pt x="247650" y="67671"/>
                    <a:pt x="247650" y="57150"/>
                  </a:cubicBezTo>
                  <a:cubicBezTo>
                    <a:pt x="247650" y="46629"/>
                    <a:pt x="239121" y="38100"/>
                    <a:pt x="228600" y="38100"/>
                  </a:cubicBezTo>
                  <a:cubicBezTo>
                    <a:pt x="218079" y="38100"/>
                    <a:pt x="209550" y="46629"/>
                    <a:pt x="209550" y="57150"/>
                  </a:cubicBezTo>
                  <a:cubicBezTo>
                    <a:pt x="209550" y="67671"/>
                    <a:pt x="218079" y="76200"/>
                    <a:pt x="228600" y="76200"/>
                  </a:cubicBezTo>
                  <a:close/>
                  <a:moveTo>
                    <a:pt x="228600" y="114300"/>
                  </a:moveTo>
                  <a:cubicBezTo>
                    <a:pt x="228600" y="124821"/>
                    <a:pt x="220071" y="133350"/>
                    <a:pt x="209550" y="133350"/>
                  </a:cubicBezTo>
                  <a:cubicBezTo>
                    <a:pt x="199029" y="133350"/>
                    <a:pt x="190500" y="124821"/>
                    <a:pt x="190500" y="114300"/>
                  </a:cubicBezTo>
                  <a:cubicBezTo>
                    <a:pt x="190500" y="103779"/>
                    <a:pt x="199029" y="95250"/>
                    <a:pt x="209550" y="95250"/>
                  </a:cubicBezTo>
                  <a:cubicBezTo>
                    <a:pt x="220071" y="95250"/>
                    <a:pt x="228600" y="103779"/>
                    <a:pt x="228600" y="114300"/>
                  </a:cubicBezTo>
                  <a:close/>
                  <a:moveTo>
                    <a:pt x="95250" y="114300"/>
                  </a:moveTo>
                  <a:cubicBezTo>
                    <a:pt x="116292" y="114300"/>
                    <a:pt x="133350" y="97242"/>
                    <a:pt x="133350" y="76200"/>
                  </a:cubicBezTo>
                  <a:cubicBezTo>
                    <a:pt x="133350" y="55158"/>
                    <a:pt x="116292" y="38100"/>
                    <a:pt x="95250" y="38100"/>
                  </a:cubicBezTo>
                  <a:cubicBezTo>
                    <a:pt x="74208" y="38100"/>
                    <a:pt x="57150" y="55158"/>
                    <a:pt x="57150" y="76200"/>
                  </a:cubicBezTo>
                  <a:cubicBezTo>
                    <a:pt x="57150" y="97242"/>
                    <a:pt x="74208" y="114300"/>
                    <a:pt x="95250" y="114300"/>
                  </a:cubicBezTo>
                  <a:close/>
                </a:path>
              </a:pathLst>
            </a:custGeom>
            <a:solidFill>
              <a:srgbClr val="5E91BD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" name="TextBox 19">
            <a:extLst>
              <a:ext uri="{FF2B5EF4-FFF2-40B4-BE49-F238E27FC236}">
                <a16:creationId xmlns:a16="http://schemas.microsoft.com/office/drawing/2014/main" id="{D1E94676-58C3-63DD-864C-1C049DC82B10}"/>
              </a:ext>
            </a:extLst>
          </p:cNvPr>
          <p:cNvSpPr txBox="1"/>
          <p:nvPr/>
        </p:nvSpPr>
        <p:spPr>
          <a:xfrm>
            <a:off x="11329497" y="6410325"/>
            <a:ext cx="214803" cy="2308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altLang="zh-CN" sz="1500" dirty="0">
                <a:solidFill>
                  <a:srgbClr val="66788A"/>
                </a:solidFill>
                <a:latin typeface="Arial"/>
                <a:ea typeface="Microsoft YaHei"/>
                <a:cs typeface="Arial"/>
              </a:rPr>
              <a:t>04</a:t>
            </a:r>
            <a:endParaRPr lang="zh-CN" sz="1500" dirty="0">
              <a:solidFill>
                <a:srgbClr val="66788A"/>
              </a:solidFill>
              <a:latin typeface="Arial"/>
              <a:ea typeface="Microsoft YaHei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273433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27227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8" name="Group 8"/>
          <p:cNvGrpSpPr/>
          <p:nvPr/>
        </p:nvGrpSpPr>
        <p:grpSpPr>
          <a:xfrm>
            <a:off x="-71714" y="-22277"/>
            <a:ext cx="12192000" cy="647700"/>
            <a:chOff x="0" y="0"/>
            <a:chExt cx="12192000" cy="647700"/>
          </a:xfrm>
        </p:grpSpPr>
        <p:sp>
          <p:nvSpPr>
            <p:cNvPr id="3" name="Rectangle 3"/>
            <p:cNvSpPr/>
            <p:nvPr/>
          </p:nvSpPr>
          <p:spPr>
            <a:xfrm>
              <a:off x="0" y="0"/>
              <a:ext cx="12192000" cy="647700"/>
            </a:xfrm>
            <a:prstGeom prst="rect">
              <a:avLst/>
            </a:prstGeom>
            <a:solidFill>
              <a:srgbClr val="1E4268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7" name="Group 7"/>
            <p:cNvGrpSpPr/>
            <p:nvPr/>
          </p:nvGrpSpPr>
          <p:grpSpPr>
            <a:xfrm>
              <a:off x="11334750" y="190500"/>
              <a:ext cx="304800" cy="304800"/>
              <a:chOff x="11334750" y="190500"/>
              <a:chExt cx="304800" cy="304800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11334750" y="190500"/>
                <a:ext cx="2667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171450">
                    <a:moveTo>
                      <a:pt x="190500" y="152400"/>
                    </a:moveTo>
                    <a:lnTo>
                      <a:pt x="171450" y="152400"/>
                    </a:lnTo>
                    <a:lnTo>
                      <a:pt x="171450" y="91817"/>
                    </a:lnTo>
                    <a:lnTo>
                      <a:pt x="98246" y="77177"/>
                    </a:lnTo>
                    <a:cubicBezTo>
                      <a:pt x="94999" y="76527"/>
                      <a:pt x="91696" y="76200"/>
                      <a:pt x="88385" y="76200"/>
                    </a:cubicBezTo>
                    <a:cubicBezTo>
                      <a:pt x="60613" y="76200"/>
                      <a:pt x="38100" y="98713"/>
                      <a:pt x="38100" y="126485"/>
                    </a:cubicBezTo>
                    <a:lnTo>
                      <a:pt x="38100" y="171450"/>
                    </a:lnTo>
                    <a:lnTo>
                      <a:pt x="0" y="171450"/>
                    </a:lnTo>
                    <a:lnTo>
                      <a:pt x="0" y="126485"/>
                    </a:lnTo>
                    <a:cubicBezTo>
                      <a:pt x="0" y="77671"/>
                      <a:pt x="39571" y="38100"/>
                      <a:pt x="88385" y="38100"/>
                    </a:cubicBezTo>
                    <a:cubicBezTo>
                      <a:pt x="94205" y="38100"/>
                      <a:pt x="100011" y="38675"/>
                      <a:pt x="105718" y="39816"/>
                    </a:cubicBezTo>
                    <a:lnTo>
                      <a:pt x="171450" y="52963"/>
                    </a:lnTo>
                    <a:lnTo>
                      <a:pt x="171450" y="0"/>
                    </a:lnTo>
                    <a:lnTo>
                      <a:pt x="190500" y="0"/>
                    </a:lnTo>
                    <a:lnTo>
                      <a:pt x="266700" y="76200"/>
                    </a:lnTo>
                    <a:lnTo>
                      <a:pt x="190500" y="152400"/>
                    </a:lnTo>
                    <a:close/>
                  </a:path>
                </a:pathLst>
              </a:custGeom>
              <a:solidFill>
                <a:srgbClr val="5E91BD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" name="Freeform 6"/>
              <p:cNvSpPr/>
              <p:nvPr/>
            </p:nvSpPr>
            <p:spPr>
              <a:xfrm>
                <a:off x="11372850" y="323850"/>
                <a:ext cx="2667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171450">
                    <a:moveTo>
                      <a:pt x="266700" y="0"/>
                    </a:moveTo>
                    <a:lnTo>
                      <a:pt x="266700" y="44965"/>
                    </a:lnTo>
                    <a:cubicBezTo>
                      <a:pt x="266700" y="93779"/>
                      <a:pt x="227129" y="133350"/>
                      <a:pt x="178316" y="133350"/>
                    </a:cubicBezTo>
                    <a:cubicBezTo>
                      <a:pt x="172496" y="133350"/>
                      <a:pt x="166689" y="132775"/>
                      <a:pt x="160982" y="131634"/>
                    </a:cubicBezTo>
                    <a:lnTo>
                      <a:pt x="95250" y="118487"/>
                    </a:lnTo>
                    <a:lnTo>
                      <a:pt x="95250" y="171450"/>
                    </a:lnTo>
                    <a:lnTo>
                      <a:pt x="76200" y="171450"/>
                    </a:lnTo>
                    <a:lnTo>
                      <a:pt x="0" y="95250"/>
                    </a:lnTo>
                    <a:lnTo>
                      <a:pt x="76200" y="19050"/>
                    </a:lnTo>
                    <a:lnTo>
                      <a:pt x="95250" y="19050"/>
                    </a:lnTo>
                    <a:lnTo>
                      <a:pt x="95250" y="79633"/>
                    </a:lnTo>
                    <a:lnTo>
                      <a:pt x="168453" y="94273"/>
                    </a:lnTo>
                    <a:cubicBezTo>
                      <a:pt x="171701" y="94922"/>
                      <a:pt x="175005" y="95250"/>
                      <a:pt x="178316" y="95250"/>
                    </a:cubicBezTo>
                    <a:cubicBezTo>
                      <a:pt x="206087" y="95250"/>
                      <a:pt x="228600" y="72737"/>
                      <a:pt x="228600" y="44965"/>
                    </a:cubicBezTo>
                    <a:lnTo>
                      <a:pt x="228600" y="0"/>
                    </a:lnTo>
                    <a:lnTo>
                      <a:pt x="266700" y="0"/>
                    </a:lnTo>
                    <a:close/>
                  </a:path>
                </a:pathLst>
              </a:custGeom>
              <a:solidFill>
                <a:srgbClr val="5E91BD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35" name="TextBox 34"/>
          <p:cNvSpPr txBox="1"/>
          <p:nvPr/>
        </p:nvSpPr>
        <p:spPr>
          <a:xfrm>
            <a:off x="500000" y="150000"/>
            <a:ext cx="11000000" cy="484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>
                <a:solidFill>
                  <a:srgbClr val="FFFFFF"/>
                </a:solidFill>
              </a:defRPr>
            </a:pPr>
            <a:r>
              <a:rPr lang="en-US" altLang="zh-CN" sz="25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2</a:t>
            </a:r>
            <a:r>
              <a:rPr lang="zh-CN" altLang="zh-CN" sz="25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 —</a:t>
            </a:r>
            <a:r>
              <a:rPr sz="2550" b="1" dirty="0" err="1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整体架构</a:t>
            </a:r>
            <a:r>
              <a:rPr sz="25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 — </a:t>
            </a:r>
            <a:r>
              <a:rPr sz="2550" b="1" dirty="0" err="1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文件</a:t>
            </a:r>
            <a:r>
              <a:rPr lang="zh-CN" altLang="en-US" sz="25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依</a:t>
            </a:r>
            <a:r>
              <a:rPr sz="2550" b="1" dirty="0" err="1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赖与继承关系</a:t>
            </a:r>
            <a:endParaRPr sz="2550" b="1" dirty="0">
              <a:solidFill>
                <a:srgbClr val="FFFFFF"/>
              </a:solidFill>
              <a:latin typeface="Arial"/>
              <a:ea typeface="Microsoft YaHei"/>
              <a:cs typeface="Arial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5296000" y="1050000"/>
            <a:ext cx="1600000" cy="500000"/>
          </a:xfrm>
          <a:prstGeom prst="roundRect">
            <a:avLst/>
          </a:prstGeom>
          <a:solidFill>
            <a:srgbClr val="282C34"/>
          </a:solidFill>
          <a:ln w="25400">
            <a:solidFill>
              <a:srgbClr val="C8B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0000" tIns="10000" rIns="30000" bIns="10000" rtlCol="0" anchor="ctr"/>
          <a:lstStyle/>
          <a:p>
            <a:pPr algn="l">
              <a:defRPr sz="1300">
                <a:solidFill>
                  <a:srgbClr val="C8C8DC"/>
                </a:solidFill>
              </a:defRPr>
            </a:pPr>
            <a:r>
              <a:rPr dirty="0"/>
              <a:t>Types.hpp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196000" y="2250000"/>
            <a:ext cx="1800000" cy="500000"/>
          </a:xfrm>
          <a:prstGeom prst="roundRect">
            <a:avLst/>
          </a:prstGeom>
          <a:solidFill>
            <a:srgbClr val="282C34"/>
          </a:solidFill>
          <a:ln w="25400">
            <a:solidFill>
              <a:srgbClr val="64C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0000" tIns="10000" rIns="30000" bIns="10000" rtlCol="0" anchor="ctr"/>
          <a:lstStyle/>
          <a:p>
            <a:pPr algn="l">
              <a:defRPr sz="1300">
                <a:solidFill>
                  <a:srgbClr val="C8C8DC"/>
                </a:solidFill>
              </a:defRPr>
            </a:pPr>
            <a:r>
              <a:rPr dirty="0"/>
              <a:t>GameObject.hpp</a:t>
            </a:r>
            <a:br>
              <a:rPr dirty="0"/>
            </a:br>
            <a:endParaRPr dirty="0"/>
          </a:p>
        </p:txBody>
      </p:sp>
      <p:sp>
        <p:nvSpPr>
          <p:cNvPr id="38" name="Rounded Rectangle 37"/>
          <p:cNvSpPr/>
          <p:nvPr/>
        </p:nvSpPr>
        <p:spPr>
          <a:xfrm>
            <a:off x="7265686" y="2250000"/>
            <a:ext cx="1600000" cy="500000"/>
          </a:xfrm>
          <a:prstGeom prst="roundRect">
            <a:avLst/>
          </a:prstGeom>
          <a:solidFill>
            <a:srgbClr val="282C34"/>
          </a:solidFill>
          <a:ln w="25400">
            <a:solidFill>
              <a:srgbClr val="64C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0000" tIns="10000" rIns="30000" bIns="10000" rtlCol="0" anchor="ctr"/>
          <a:lstStyle/>
          <a:p>
            <a:pPr algn="l">
              <a:defRPr sz="1300">
                <a:solidFill>
                  <a:srgbClr val="C8C8DC"/>
                </a:solidFill>
              </a:defRPr>
            </a:pPr>
            <a:r>
              <a:rPr dirty="0"/>
              <a:t>Map.hpp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400000" y="3550000"/>
            <a:ext cx="1200000" cy="500000"/>
          </a:xfrm>
          <a:prstGeom prst="roundRect">
            <a:avLst/>
          </a:prstGeom>
          <a:solidFill>
            <a:srgbClr val="282C34"/>
          </a:solidFill>
          <a:ln w="25400">
            <a:solidFill>
              <a:srgbClr val="647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0000" tIns="10000" rIns="30000" bIns="10000" rtlCol="0" anchor="ctr"/>
          <a:lstStyle/>
          <a:p>
            <a:pPr algn="l">
              <a:defRPr sz="1300">
                <a:solidFill>
                  <a:srgbClr val="C8C8DC"/>
                </a:solidFill>
              </a:defRPr>
            </a:pPr>
            <a:r>
              <a:rPr dirty="0"/>
              <a:t>Player.hpp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200000" y="3550000"/>
            <a:ext cx="1200000" cy="500000"/>
          </a:xfrm>
          <a:prstGeom prst="roundRect">
            <a:avLst/>
          </a:prstGeom>
          <a:solidFill>
            <a:srgbClr val="282C34"/>
          </a:solidFill>
          <a:ln w="25400">
            <a:solidFill>
              <a:srgbClr val="647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0000" tIns="10000" rIns="30000" bIns="10000" rtlCol="0" anchor="ctr"/>
          <a:lstStyle/>
          <a:p>
            <a:pPr algn="l">
              <a:defRPr sz="1300">
                <a:solidFill>
                  <a:srgbClr val="C8C8DC"/>
                </a:solidFill>
              </a:defRPr>
            </a:pPr>
            <a:r>
              <a:rPr dirty="0"/>
              <a:t>Monster.hpp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600000" y="3550000"/>
            <a:ext cx="1200000" cy="500000"/>
          </a:xfrm>
          <a:prstGeom prst="roundRect">
            <a:avLst/>
          </a:prstGeom>
          <a:solidFill>
            <a:srgbClr val="282C34"/>
          </a:solidFill>
          <a:ln w="25400">
            <a:solidFill>
              <a:srgbClr val="647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0000" tIns="10000" rIns="30000" bIns="10000" rtlCol="0" anchor="ctr"/>
          <a:lstStyle/>
          <a:p>
            <a:pPr algn="l">
              <a:defRPr sz="1300">
                <a:solidFill>
                  <a:srgbClr val="C8C8DC"/>
                </a:solidFill>
              </a:defRPr>
            </a:pPr>
            <a:r>
              <a:rPr dirty="0"/>
              <a:t>Bomb.hpp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200000" y="3550000"/>
            <a:ext cx="1600000" cy="500000"/>
          </a:xfrm>
          <a:prstGeom prst="roundRect">
            <a:avLst/>
          </a:prstGeom>
          <a:solidFill>
            <a:srgbClr val="282C34"/>
          </a:solidFill>
          <a:ln w="25400">
            <a:solidFill>
              <a:srgbClr val="647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0000" tIns="10000" rIns="30000" bIns="10000" rtlCol="0" anchor="ctr"/>
          <a:lstStyle/>
          <a:p>
            <a:pPr algn="l">
              <a:defRPr sz="1300">
                <a:solidFill>
                  <a:srgbClr val="C8C8DC"/>
                </a:solidFill>
              </a:defRPr>
            </a:pPr>
            <a:r>
              <a:rPr dirty="0"/>
              <a:t>Explosion.hpp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296000" y="4850000"/>
            <a:ext cx="1600000" cy="500000"/>
          </a:xfrm>
          <a:prstGeom prst="roundRect">
            <a:avLst/>
          </a:prstGeom>
          <a:solidFill>
            <a:srgbClr val="282C34"/>
          </a:solidFill>
          <a:ln w="25400">
            <a:solidFill>
              <a:srgbClr val="647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0000" tIns="10000" rIns="30000" bIns="10000" rtlCol="0" anchor="ctr"/>
          <a:lstStyle/>
          <a:p>
            <a:pPr algn="l">
              <a:defRPr sz="1300">
                <a:solidFill>
                  <a:srgbClr val="C8C8DC"/>
                </a:solidFill>
              </a:defRPr>
            </a:pPr>
            <a:r>
              <a:rPr dirty="0"/>
              <a:t>Game.hpp</a:t>
            </a:r>
            <a:br>
              <a:rPr dirty="0"/>
            </a:br>
            <a:r>
              <a:rPr dirty="0"/>
              <a:t>(</a:t>
            </a:r>
            <a:r>
              <a:rPr lang="zh-CN" altLang="en-US" dirty="0"/>
              <a:t>控制</a:t>
            </a:r>
            <a:r>
              <a:rPr dirty="0"/>
              <a:t>)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496000" y="5950000"/>
            <a:ext cx="1200000" cy="500000"/>
          </a:xfrm>
          <a:prstGeom prst="roundRect">
            <a:avLst/>
          </a:prstGeom>
          <a:solidFill>
            <a:srgbClr val="282C34"/>
          </a:solidFill>
          <a:ln w="25400">
            <a:solidFill>
              <a:srgbClr val="647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0000" tIns="10000" rIns="30000" bIns="10000" rtlCol="0" anchor="ctr"/>
          <a:lstStyle/>
          <a:p>
            <a:pPr algn="l">
              <a:defRPr sz="1300">
                <a:solidFill>
                  <a:srgbClr val="C8C8DC"/>
                </a:solidFill>
              </a:defRPr>
            </a:pPr>
            <a:r>
              <a:t>main()</a:t>
            </a:r>
          </a:p>
        </p:txBody>
      </p:sp>
      <p:cxnSp>
        <p:nvCxnSpPr>
          <p:cNvPr id="45" name="Connector 44"/>
          <p:cNvCxnSpPr/>
          <p:nvPr/>
        </p:nvCxnSpPr>
        <p:spPr>
          <a:xfrm flipH="1">
            <a:off x="4096000" y="1550000"/>
            <a:ext cx="2000000" cy="700000"/>
          </a:xfrm>
          <a:prstGeom prst="line">
            <a:avLst/>
          </a:prstGeom>
          <a:ln w="19050">
            <a:solidFill>
              <a:srgbClr val="508C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6096000" y="1550000"/>
            <a:ext cx="2000000" cy="700000"/>
          </a:xfrm>
          <a:prstGeom prst="line">
            <a:avLst/>
          </a:prstGeom>
          <a:ln w="19050">
            <a:solidFill>
              <a:srgbClr val="508C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H="1">
            <a:off x="2000000" y="2750000"/>
            <a:ext cx="2096000" cy="800000"/>
          </a:xfrm>
          <a:prstGeom prst="line">
            <a:avLst/>
          </a:prstGeom>
          <a:ln w="19050">
            <a:solidFill>
              <a:srgbClr val="508C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H="1">
            <a:off x="3800000" y="2750000"/>
            <a:ext cx="296000" cy="800000"/>
          </a:xfrm>
          <a:prstGeom prst="line">
            <a:avLst/>
          </a:prstGeom>
          <a:ln w="19050">
            <a:solidFill>
              <a:srgbClr val="508C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4096000" y="2750000"/>
            <a:ext cx="3104000" cy="800000"/>
          </a:xfrm>
          <a:prstGeom prst="line">
            <a:avLst/>
          </a:prstGeom>
          <a:ln w="19050">
            <a:solidFill>
              <a:srgbClr val="508C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4096000" y="2750000"/>
            <a:ext cx="4904000" cy="800000"/>
          </a:xfrm>
          <a:prstGeom prst="line">
            <a:avLst/>
          </a:prstGeom>
          <a:ln w="19050">
            <a:solidFill>
              <a:srgbClr val="508C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2000000" y="4050000"/>
            <a:ext cx="3496000" cy="800000"/>
          </a:xfrm>
          <a:prstGeom prst="line">
            <a:avLst/>
          </a:prstGeom>
          <a:ln w="19050">
            <a:solidFill>
              <a:srgbClr val="508C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3800000" y="4050000"/>
            <a:ext cx="1696000" cy="800000"/>
          </a:xfrm>
          <a:prstGeom prst="line">
            <a:avLst/>
          </a:prstGeom>
          <a:ln w="19050">
            <a:solidFill>
              <a:srgbClr val="508C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4096000" y="2750000"/>
            <a:ext cx="1400000" cy="2100000"/>
          </a:xfrm>
          <a:prstGeom prst="line">
            <a:avLst/>
          </a:prstGeom>
          <a:ln w="19050">
            <a:solidFill>
              <a:srgbClr val="508C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6096000" y="5350000"/>
            <a:ext cx="0" cy="600000"/>
          </a:xfrm>
          <a:prstGeom prst="line">
            <a:avLst/>
          </a:prstGeom>
          <a:ln w="19050">
            <a:solidFill>
              <a:srgbClr val="508C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5">
            <a:extLst>
              <a:ext uri="{FF2B5EF4-FFF2-40B4-BE49-F238E27FC236}">
                <a16:creationId xmlns:a16="http://schemas.microsoft.com/office/drawing/2014/main" id="{33CCD1F8-4E9E-DBC9-62C1-7D6E62910039}"/>
              </a:ext>
            </a:extLst>
          </p:cNvPr>
          <p:cNvSpPr/>
          <p:nvPr/>
        </p:nvSpPr>
        <p:spPr>
          <a:xfrm>
            <a:off x="950000" y="655142"/>
            <a:ext cx="2196000" cy="1594858"/>
          </a:xfrm>
          <a:prstGeom prst="roundRect">
            <a:avLst/>
          </a:prstGeom>
          <a:solidFill>
            <a:srgbClr val="282C34"/>
          </a:solidFill>
          <a:ln w="25400">
            <a:solidFill>
              <a:srgbClr val="C8B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0000" tIns="10000" rIns="30000" bIns="10000" rtlCol="0" anchor="ctr"/>
          <a:lstStyle/>
          <a:p>
            <a:pPr>
              <a:defRPr sz="1300">
                <a:solidFill>
                  <a:srgbClr val="C8C8DC"/>
                </a:solidFill>
              </a:defRPr>
            </a:pPr>
            <a:r>
              <a:rPr lang="zh-CN" altLang="zh-CN" sz="1300" dirty="0"/>
              <a:t>基础类型（GridPosition、Direction、TileType、GameState）</a:t>
            </a:r>
            <a:r>
              <a:rPr lang="zh-CN" altLang="en-US" sz="1300" dirty="0"/>
              <a:t>，</a:t>
            </a:r>
            <a:r>
              <a:rPr lang="zh-CN" altLang="zh-CN" sz="1300" dirty="0"/>
              <a:t>内联工具函数（moved、containsPosition）</a:t>
            </a:r>
            <a:endParaRPr dirty="0"/>
          </a:p>
        </p:txBody>
      </p: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FB96BC68-922C-D589-5180-35BD13BAD3E2}"/>
              </a:ext>
            </a:extLst>
          </p:cNvPr>
          <p:cNvCxnSpPr>
            <a:endCxn id="36" idx="1"/>
          </p:cNvCxnSpPr>
          <p:nvPr/>
        </p:nvCxnSpPr>
        <p:spPr>
          <a:xfrm>
            <a:off x="3146000" y="1299029"/>
            <a:ext cx="2150000" cy="9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35">
            <a:extLst>
              <a:ext uri="{FF2B5EF4-FFF2-40B4-BE49-F238E27FC236}">
                <a16:creationId xmlns:a16="http://schemas.microsoft.com/office/drawing/2014/main" id="{79BE72FF-18AF-707F-371B-02D0DE365A2E}"/>
              </a:ext>
            </a:extLst>
          </p:cNvPr>
          <p:cNvSpPr/>
          <p:nvPr/>
        </p:nvSpPr>
        <p:spPr>
          <a:xfrm>
            <a:off x="348000" y="2250000"/>
            <a:ext cx="1652000" cy="500000"/>
          </a:xfrm>
          <a:prstGeom prst="roundRect">
            <a:avLst/>
          </a:prstGeom>
          <a:solidFill>
            <a:srgbClr val="282C34"/>
          </a:solidFill>
          <a:ln w="25400">
            <a:solidFill>
              <a:srgbClr val="C8B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0000" tIns="10000" rIns="30000" bIns="10000" rtlCol="0" anchor="ctr"/>
          <a:lstStyle/>
          <a:p>
            <a:pPr algn="ctr">
              <a:defRPr sz="1300">
                <a:solidFill>
                  <a:srgbClr val="C8C8DC"/>
                </a:solidFill>
              </a:defRPr>
            </a:pPr>
            <a:r>
              <a:rPr lang="zh-CN" altLang="en-US" dirty="0"/>
              <a:t>基类</a:t>
            </a:r>
            <a:endParaRPr lang="en-US" altLang="zh-CN" dirty="0"/>
          </a:p>
        </p:txBody>
      </p: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1FAEAD53-2461-57D8-926A-F220FE58835C}"/>
              </a:ext>
            </a:extLst>
          </p:cNvPr>
          <p:cNvCxnSpPr>
            <a:stCxn id="42" idx="2"/>
          </p:cNvCxnSpPr>
          <p:nvPr/>
        </p:nvCxnSpPr>
        <p:spPr>
          <a:xfrm flipH="1">
            <a:off x="6335486" y="4050000"/>
            <a:ext cx="2664514" cy="800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C8637EFB-044A-0704-BC32-FC09D43A6089}"/>
              </a:ext>
            </a:extLst>
          </p:cNvPr>
          <p:cNvCxnSpPr/>
          <p:nvPr/>
        </p:nvCxnSpPr>
        <p:spPr>
          <a:xfrm flipH="1">
            <a:off x="6277429" y="4050000"/>
            <a:ext cx="618571" cy="800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35">
            <a:extLst>
              <a:ext uri="{FF2B5EF4-FFF2-40B4-BE49-F238E27FC236}">
                <a16:creationId xmlns:a16="http://schemas.microsoft.com/office/drawing/2014/main" id="{BFD64343-1308-D4B5-8CF0-CF006D80AF83}"/>
              </a:ext>
            </a:extLst>
          </p:cNvPr>
          <p:cNvSpPr/>
          <p:nvPr/>
        </p:nvSpPr>
        <p:spPr>
          <a:xfrm>
            <a:off x="27227" y="3550000"/>
            <a:ext cx="1141173" cy="500000"/>
          </a:xfrm>
          <a:prstGeom prst="roundRect">
            <a:avLst/>
          </a:prstGeom>
          <a:solidFill>
            <a:srgbClr val="282C34"/>
          </a:solidFill>
          <a:ln w="25400">
            <a:solidFill>
              <a:srgbClr val="C8B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0000" tIns="10000" rIns="30000" bIns="10000" rtlCol="0" anchor="ctr"/>
          <a:lstStyle/>
          <a:p>
            <a:pPr algn="ctr">
              <a:defRPr sz="1300">
                <a:solidFill>
                  <a:srgbClr val="C8C8DC"/>
                </a:solidFill>
              </a:defRPr>
            </a:pPr>
            <a:r>
              <a:rPr lang="zh-CN" altLang="en-US" dirty="0"/>
              <a:t>派生类</a:t>
            </a:r>
            <a:endParaRPr lang="en-US" altLang="zh-CN" dirty="0"/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790BE34A-252F-B8B1-F9CE-CC3D767EED9A}"/>
              </a:ext>
            </a:extLst>
          </p:cNvPr>
          <p:cNvCxnSpPr>
            <a:stCxn id="9" idx="3"/>
            <a:endCxn id="39" idx="1"/>
          </p:cNvCxnSpPr>
          <p:nvPr/>
        </p:nvCxnSpPr>
        <p:spPr>
          <a:xfrm>
            <a:off x="1168400" y="3800000"/>
            <a:ext cx="2316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8B5C1724-6DC9-1270-62EE-2D503F6B294E}"/>
              </a:ext>
            </a:extLst>
          </p:cNvPr>
          <p:cNvCxnSpPr>
            <a:endCxn id="37" idx="1"/>
          </p:cNvCxnSpPr>
          <p:nvPr/>
        </p:nvCxnSpPr>
        <p:spPr>
          <a:xfrm>
            <a:off x="2000000" y="2498725"/>
            <a:ext cx="1196000" cy="12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9">
            <a:extLst>
              <a:ext uri="{FF2B5EF4-FFF2-40B4-BE49-F238E27FC236}">
                <a16:creationId xmlns:a16="http://schemas.microsoft.com/office/drawing/2014/main" id="{71EE003F-56F7-A72D-C0AC-A4B7CBE97F27}"/>
              </a:ext>
            </a:extLst>
          </p:cNvPr>
          <p:cNvSpPr txBox="1"/>
          <p:nvPr/>
        </p:nvSpPr>
        <p:spPr>
          <a:xfrm>
            <a:off x="11329497" y="6410325"/>
            <a:ext cx="214803" cy="2308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altLang="zh-CN" sz="1500" dirty="0">
                <a:solidFill>
                  <a:srgbClr val="66788A"/>
                </a:solidFill>
                <a:latin typeface="Arial"/>
                <a:ea typeface="Microsoft YaHei"/>
                <a:cs typeface="Arial"/>
              </a:rPr>
              <a:t>05</a:t>
            </a:r>
            <a:endParaRPr lang="zh-CN" sz="1500" dirty="0">
              <a:solidFill>
                <a:srgbClr val="66788A"/>
              </a:solidFill>
              <a:latin typeface="Arial"/>
              <a:ea typeface="Microsoft YaHei"/>
              <a:cs typeface="Arial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718C69AE-92CE-B26E-BDAA-80B6BAB1C96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5" name="Group 8">
            <a:extLst>
              <a:ext uri="{FF2B5EF4-FFF2-40B4-BE49-F238E27FC236}">
                <a16:creationId xmlns:a16="http://schemas.microsoft.com/office/drawing/2014/main" id="{3E4E380E-B198-2A5B-662F-9F11C49EF86D}"/>
              </a:ext>
            </a:extLst>
          </p:cNvPr>
          <p:cNvGrpSpPr/>
          <p:nvPr/>
        </p:nvGrpSpPr>
        <p:grpSpPr>
          <a:xfrm>
            <a:off x="0" y="0"/>
            <a:ext cx="12192000" cy="647700"/>
            <a:chOff x="0" y="0"/>
            <a:chExt cx="12192000" cy="647700"/>
          </a:xfrm>
        </p:grpSpPr>
        <p:sp>
          <p:nvSpPr>
            <p:cNvPr id="6" name="Rectangle 3">
              <a:extLst>
                <a:ext uri="{FF2B5EF4-FFF2-40B4-BE49-F238E27FC236}">
                  <a16:creationId xmlns:a16="http://schemas.microsoft.com/office/drawing/2014/main" id="{F35EC1CD-38C7-4BCC-7CF0-1B9AE5FEA469}"/>
                </a:ext>
              </a:extLst>
            </p:cNvPr>
            <p:cNvSpPr/>
            <p:nvPr/>
          </p:nvSpPr>
          <p:spPr>
            <a:xfrm>
              <a:off x="0" y="0"/>
              <a:ext cx="12192000" cy="647700"/>
            </a:xfrm>
            <a:prstGeom prst="rect">
              <a:avLst/>
            </a:prstGeom>
            <a:solidFill>
              <a:srgbClr val="1E4268"/>
            </a:solidFill>
            <a:ln>
              <a:noFill/>
            </a:ln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7" name="TextBox 4">
              <a:extLst>
                <a:ext uri="{FF2B5EF4-FFF2-40B4-BE49-F238E27FC236}">
                  <a16:creationId xmlns:a16="http://schemas.microsoft.com/office/drawing/2014/main" id="{44FBBA54-A8C9-B199-7BEF-D18595409A99}"/>
                </a:ext>
              </a:extLst>
            </p:cNvPr>
            <p:cNvSpPr txBox="1"/>
            <p:nvPr/>
          </p:nvSpPr>
          <p:spPr>
            <a:xfrm>
              <a:off x="539115" y="162878"/>
              <a:ext cx="65" cy="3924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endParaRPr lang="zh-CN" sz="25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endParaRPr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89A6EBB8-DADE-6D1A-B521-A044931B2609}"/>
                </a:ext>
              </a:extLst>
            </p:cNvPr>
            <p:cNvGrpSpPr/>
            <p:nvPr/>
          </p:nvGrpSpPr>
          <p:grpSpPr>
            <a:xfrm>
              <a:off x="11334750" y="190500"/>
              <a:ext cx="304800" cy="304800"/>
              <a:chOff x="11334750" y="190500"/>
              <a:chExt cx="304800" cy="304800"/>
            </a:xfrm>
          </p:grpSpPr>
          <p:sp>
            <p:nvSpPr>
              <p:cNvPr id="9" name="Freeform 5">
                <a:extLst>
                  <a:ext uri="{FF2B5EF4-FFF2-40B4-BE49-F238E27FC236}">
                    <a16:creationId xmlns:a16="http://schemas.microsoft.com/office/drawing/2014/main" id="{F702B474-2773-2036-3CD0-DBFC3932F4F7}"/>
                  </a:ext>
                </a:extLst>
              </p:cNvPr>
              <p:cNvSpPr/>
              <p:nvPr/>
            </p:nvSpPr>
            <p:spPr>
              <a:xfrm>
                <a:off x="11334750" y="190500"/>
                <a:ext cx="2667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171450">
                    <a:moveTo>
                      <a:pt x="190500" y="152400"/>
                    </a:moveTo>
                    <a:lnTo>
                      <a:pt x="171450" y="152400"/>
                    </a:lnTo>
                    <a:lnTo>
                      <a:pt x="171450" y="91817"/>
                    </a:lnTo>
                    <a:lnTo>
                      <a:pt x="98246" y="77177"/>
                    </a:lnTo>
                    <a:cubicBezTo>
                      <a:pt x="94999" y="76527"/>
                      <a:pt x="91696" y="76200"/>
                      <a:pt x="88385" y="76200"/>
                    </a:cubicBezTo>
                    <a:cubicBezTo>
                      <a:pt x="60613" y="76200"/>
                      <a:pt x="38100" y="98713"/>
                      <a:pt x="38100" y="126485"/>
                    </a:cubicBezTo>
                    <a:lnTo>
                      <a:pt x="38100" y="171450"/>
                    </a:lnTo>
                    <a:lnTo>
                      <a:pt x="0" y="171450"/>
                    </a:lnTo>
                    <a:lnTo>
                      <a:pt x="0" y="126485"/>
                    </a:lnTo>
                    <a:cubicBezTo>
                      <a:pt x="0" y="77671"/>
                      <a:pt x="39571" y="38100"/>
                      <a:pt x="88385" y="38100"/>
                    </a:cubicBezTo>
                    <a:cubicBezTo>
                      <a:pt x="94205" y="38100"/>
                      <a:pt x="100011" y="38675"/>
                      <a:pt x="105718" y="39816"/>
                    </a:cubicBezTo>
                    <a:lnTo>
                      <a:pt x="171450" y="52963"/>
                    </a:lnTo>
                    <a:lnTo>
                      <a:pt x="171450" y="0"/>
                    </a:lnTo>
                    <a:lnTo>
                      <a:pt x="190500" y="0"/>
                    </a:lnTo>
                    <a:lnTo>
                      <a:pt x="266700" y="76200"/>
                    </a:lnTo>
                    <a:lnTo>
                      <a:pt x="190500" y="152400"/>
                    </a:lnTo>
                    <a:close/>
                  </a:path>
                </a:pathLst>
              </a:custGeom>
              <a:solidFill>
                <a:srgbClr val="5E91BD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" name="Freeform 6">
                <a:extLst>
                  <a:ext uri="{FF2B5EF4-FFF2-40B4-BE49-F238E27FC236}">
                    <a16:creationId xmlns:a16="http://schemas.microsoft.com/office/drawing/2014/main" id="{2CE5E4A6-BAE9-F4CC-0592-3D5A31CA8F10}"/>
                  </a:ext>
                </a:extLst>
              </p:cNvPr>
              <p:cNvSpPr/>
              <p:nvPr/>
            </p:nvSpPr>
            <p:spPr>
              <a:xfrm>
                <a:off x="11372850" y="323850"/>
                <a:ext cx="2667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171450">
                    <a:moveTo>
                      <a:pt x="266700" y="0"/>
                    </a:moveTo>
                    <a:lnTo>
                      <a:pt x="266700" y="44965"/>
                    </a:lnTo>
                    <a:cubicBezTo>
                      <a:pt x="266700" y="93779"/>
                      <a:pt x="227129" y="133350"/>
                      <a:pt x="178316" y="133350"/>
                    </a:cubicBezTo>
                    <a:cubicBezTo>
                      <a:pt x="172496" y="133350"/>
                      <a:pt x="166689" y="132775"/>
                      <a:pt x="160982" y="131634"/>
                    </a:cubicBezTo>
                    <a:lnTo>
                      <a:pt x="95250" y="118487"/>
                    </a:lnTo>
                    <a:lnTo>
                      <a:pt x="95250" y="171450"/>
                    </a:lnTo>
                    <a:lnTo>
                      <a:pt x="76200" y="171450"/>
                    </a:lnTo>
                    <a:lnTo>
                      <a:pt x="0" y="95250"/>
                    </a:lnTo>
                    <a:lnTo>
                      <a:pt x="76200" y="19050"/>
                    </a:lnTo>
                    <a:lnTo>
                      <a:pt x="95250" y="19050"/>
                    </a:lnTo>
                    <a:lnTo>
                      <a:pt x="95250" y="79633"/>
                    </a:lnTo>
                    <a:lnTo>
                      <a:pt x="168453" y="94273"/>
                    </a:lnTo>
                    <a:cubicBezTo>
                      <a:pt x="171701" y="94922"/>
                      <a:pt x="175005" y="95250"/>
                      <a:pt x="178316" y="95250"/>
                    </a:cubicBezTo>
                    <a:cubicBezTo>
                      <a:pt x="206087" y="95250"/>
                      <a:pt x="228600" y="72737"/>
                      <a:pt x="228600" y="44965"/>
                    </a:cubicBezTo>
                    <a:lnTo>
                      <a:pt x="228600" y="0"/>
                    </a:lnTo>
                    <a:lnTo>
                      <a:pt x="266700" y="0"/>
                    </a:lnTo>
                    <a:close/>
                  </a:path>
                </a:pathLst>
              </a:custGeom>
              <a:solidFill>
                <a:srgbClr val="5E91BD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13" name="TextBox 12"/>
          <p:cNvSpPr txBox="1"/>
          <p:nvPr/>
        </p:nvSpPr>
        <p:spPr>
          <a:xfrm>
            <a:off x="350000" y="250000"/>
            <a:ext cx="11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5F8FF"/>
                </a:solidFill>
              </a:defRPr>
            </a:pPr>
            <a:r>
              <a:rPr dirty="0" err="1"/>
              <a:t>GameObject</a:t>
            </a:r>
            <a:r>
              <a:rPr dirty="0"/>
              <a:t> </a:t>
            </a:r>
            <a:r>
              <a:rPr dirty="0" err="1"/>
              <a:t>基类</a:t>
            </a:r>
            <a:endParaRPr dirty="0"/>
          </a:p>
        </p:txBody>
      </p:sp>
      <p:sp>
        <p:nvSpPr>
          <p:cNvPr id="14" name="Rounded Rectangle 13"/>
          <p:cNvSpPr/>
          <p:nvPr/>
        </p:nvSpPr>
        <p:spPr>
          <a:xfrm>
            <a:off x="250000" y="897700"/>
            <a:ext cx="5600000" cy="5500000"/>
          </a:xfrm>
          <a:prstGeom prst="roundRect">
            <a:avLst/>
          </a:prstGeom>
          <a:solidFill>
            <a:srgbClr val="FAFCFF"/>
          </a:solidFill>
          <a:ln w="12700">
            <a:solidFill>
              <a:srgbClr val="C8D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92000" y="1319436"/>
            <a:ext cx="5158000" cy="3631763"/>
          </a:xfrm>
          <a:prstGeom prst="rect">
            <a:avLst/>
          </a:prstGeom>
          <a:noFill/>
        </p:spPr>
        <p:txBody>
          <a:bodyPr wrap="square" lIns="80000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375082"/>
                </a:solidFill>
                <a:latin typeface="Consolas"/>
              </a:defRPr>
            </a:pPr>
            <a:r>
              <a:rPr sz="1300" dirty="0">
                <a:solidFill>
                  <a:srgbClr val="375082"/>
                </a:solidFill>
                <a:latin typeface="Consolas"/>
              </a:rPr>
              <a:t>// </a:t>
            </a:r>
            <a:r>
              <a:rPr sz="1300" dirty="0" err="1">
                <a:solidFill>
                  <a:srgbClr val="375082"/>
                </a:solidFill>
                <a:latin typeface="Consolas"/>
              </a:rPr>
              <a:t>抽象基类，所有动态对象的公共基础</a:t>
            </a:r>
            <a:endParaRPr sz="1300" dirty="0">
              <a:solidFill>
                <a:srgbClr val="375082"/>
              </a:solidFill>
              <a:latin typeface="Consolas"/>
            </a:endParaRPr>
          </a:p>
          <a:p>
            <a:pPr>
              <a:spcAft>
                <a:spcPts val="300"/>
              </a:spcAft>
              <a:defRPr sz="1300">
                <a:solidFill>
                  <a:srgbClr val="375082"/>
                </a:solidFill>
                <a:latin typeface="Consolas"/>
              </a:defRPr>
            </a:pPr>
            <a:r>
              <a:rPr sz="1300" dirty="0">
                <a:solidFill>
                  <a:srgbClr val="375082"/>
                </a:solidFill>
                <a:latin typeface="Consolas"/>
              </a:rPr>
              <a:t>class </a:t>
            </a:r>
            <a:r>
              <a:rPr sz="1300" dirty="0" err="1">
                <a:solidFill>
                  <a:srgbClr val="375082"/>
                </a:solidFill>
                <a:latin typeface="Consolas"/>
              </a:rPr>
              <a:t>GameObject</a:t>
            </a:r>
            <a:r>
              <a:rPr sz="1300" dirty="0">
                <a:solidFill>
                  <a:srgbClr val="375082"/>
                </a:solidFill>
                <a:latin typeface="Consolas"/>
              </a:rPr>
              <a:t> {</a:t>
            </a:r>
          </a:p>
          <a:p>
            <a:pPr>
              <a:spcAft>
                <a:spcPts val="300"/>
              </a:spcAft>
              <a:defRPr sz="1300">
                <a:solidFill>
                  <a:srgbClr val="375082"/>
                </a:solidFill>
                <a:latin typeface="Consolas"/>
              </a:defRPr>
            </a:pPr>
            <a:r>
              <a:rPr sz="1300" dirty="0">
                <a:solidFill>
                  <a:srgbClr val="375082"/>
                </a:solidFill>
                <a:latin typeface="Consolas"/>
              </a:rPr>
              <a:t>protected:</a:t>
            </a:r>
          </a:p>
          <a:p>
            <a:pPr>
              <a:spcAft>
                <a:spcPts val="300"/>
              </a:spcAft>
              <a:defRPr sz="1300">
                <a:solidFill>
                  <a:srgbClr val="375082"/>
                </a:solidFill>
                <a:latin typeface="Consolas"/>
              </a:defRPr>
            </a:pPr>
            <a:r>
              <a:rPr sz="1300" dirty="0">
                <a:solidFill>
                  <a:srgbClr val="375082"/>
                </a:solidFill>
                <a:latin typeface="Consolas"/>
              </a:rPr>
              <a:t>    </a:t>
            </a:r>
            <a:r>
              <a:rPr sz="1300" dirty="0" err="1">
                <a:solidFill>
                  <a:srgbClr val="375082"/>
                </a:solidFill>
                <a:latin typeface="Consolas"/>
              </a:rPr>
              <a:t>GridPosition</a:t>
            </a:r>
            <a:r>
              <a:rPr sz="1300" dirty="0">
                <a:solidFill>
                  <a:srgbClr val="375082"/>
                </a:solidFill>
                <a:latin typeface="Consolas"/>
              </a:rPr>
              <a:t> pos;      // </a:t>
            </a:r>
            <a:r>
              <a:rPr sz="1300" dirty="0" err="1">
                <a:solidFill>
                  <a:srgbClr val="375082"/>
                </a:solidFill>
                <a:latin typeface="宋体 (正文)"/>
                <a:ea typeface="+mj-ea"/>
              </a:rPr>
              <a:t>格子坐标</a:t>
            </a:r>
            <a:endParaRPr sz="1300" dirty="0">
              <a:solidFill>
                <a:srgbClr val="375082"/>
              </a:solidFill>
              <a:latin typeface="宋体 (正文)"/>
              <a:ea typeface="+mj-ea"/>
            </a:endParaRPr>
          </a:p>
          <a:p>
            <a:pPr>
              <a:spcAft>
                <a:spcPts val="300"/>
              </a:spcAft>
              <a:defRPr sz="1300">
                <a:solidFill>
                  <a:srgbClr val="375082"/>
                </a:solidFill>
                <a:latin typeface="Consolas"/>
              </a:defRPr>
            </a:pPr>
            <a:r>
              <a:rPr sz="1300" dirty="0">
                <a:solidFill>
                  <a:srgbClr val="375082"/>
                </a:solidFill>
                <a:latin typeface="Consolas"/>
              </a:rPr>
              <a:t>    bool active = true;    // </a:t>
            </a:r>
            <a:r>
              <a:rPr lang="zh-CN" altLang="en-US" sz="1300" dirty="0">
                <a:solidFill>
                  <a:srgbClr val="375082"/>
                </a:solidFill>
                <a:latin typeface="Consolas"/>
              </a:rPr>
              <a:t>生存标记</a:t>
            </a:r>
            <a:endParaRPr sz="1300" dirty="0">
              <a:solidFill>
                <a:srgbClr val="375082"/>
              </a:solidFill>
              <a:latin typeface="Consolas"/>
            </a:endParaRPr>
          </a:p>
          <a:p>
            <a:pPr>
              <a:spcAft>
                <a:spcPts val="300"/>
              </a:spcAft>
              <a:defRPr sz="1300">
                <a:solidFill>
                  <a:srgbClr val="375082"/>
                </a:solidFill>
                <a:latin typeface="Consolas"/>
              </a:defRPr>
            </a:pPr>
            <a:r>
              <a:rPr sz="1300" dirty="0">
                <a:solidFill>
                  <a:srgbClr val="375082"/>
                </a:solidFill>
                <a:latin typeface="Consolas"/>
              </a:rPr>
              <a:t>public:</a:t>
            </a:r>
          </a:p>
          <a:p>
            <a:pPr>
              <a:spcAft>
                <a:spcPts val="300"/>
              </a:spcAft>
              <a:defRPr sz="1300">
                <a:solidFill>
                  <a:srgbClr val="375082"/>
                </a:solidFill>
                <a:latin typeface="Consolas"/>
              </a:defRPr>
            </a:pPr>
            <a:r>
              <a:rPr sz="1300" dirty="0">
                <a:solidFill>
                  <a:srgbClr val="375082"/>
                </a:solidFill>
                <a:latin typeface="Consolas"/>
              </a:rPr>
              <a:t>    </a:t>
            </a:r>
            <a:r>
              <a:rPr sz="1300" dirty="0" err="1">
                <a:solidFill>
                  <a:srgbClr val="375082"/>
                </a:solidFill>
                <a:latin typeface="Consolas"/>
              </a:rPr>
              <a:t>GameObject</a:t>
            </a:r>
            <a:r>
              <a:rPr sz="1300" dirty="0">
                <a:solidFill>
                  <a:srgbClr val="375082"/>
                </a:solidFill>
                <a:latin typeface="Consolas"/>
              </a:rPr>
              <a:t>(</a:t>
            </a:r>
            <a:r>
              <a:rPr sz="1300" dirty="0" err="1">
                <a:solidFill>
                  <a:srgbClr val="375082"/>
                </a:solidFill>
                <a:latin typeface="Consolas"/>
              </a:rPr>
              <a:t>GridPosition</a:t>
            </a:r>
            <a:r>
              <a:rPr sz="1300" dirty="0">
                <a:solidFill>
                  <a:srgbClr val="375082"/>
                </a:solidFill>
                <a:latin typeface="Consolas"/>
              </a:rPr>
              <a:t> p) : pos(p) {}</a:t>
            </a:r>
          </a:p>
          <a:p>
            <a:pPr>
              <a:spcAft>
                <a:spcPts val="300"/>
              </a:spcAft>
              <a:defRPr sz="1300">
                <a:solidFill>
                  <a:srgbClr val="375082"/>
                </a:solidFill>
                <a:latin typeface="Consolas"/>
              </a:defRPr>
            </a:pPr>
            <a:r>
              <a:rPr sz="1300" dirty="0">
                <a:solidFill>
                  <a:srgbClr val="375082"/>
                </a:solidFill>
                <a:latin typeface="Consolas"/>
              </a:rPr>
              <a:t>    virtual ~</a:t>
            </a:r>
            <a:r>
              <a:rPr sz="1300" dirty="0" err="1">
                <a:solidFill>
                  <a:srgbClr val="375082"/>
                </a:solidFill>
                <a:latin typeface="Consolas"/>
              </a:rPr>
              <a:t>GameObject</a:t>
            </a:r>
            <a:r>
              <a:rPr sz="1300" dirty="0">
                <a:solidFill>
                  <a:srgbClr val="375082"/>
                </a:solidFill>
                <a:latin typeface="Consolas"/>
              </a:rPr>
              <a:t>() = default;</a:t>
            </a:r>
            <a:r>
              <a:rPr lang="en-US" sz="1300" dirty="0">
                <a:solidFill>
                  <a:srgbClr val="375082"/>
                </a:solidFill>
                <a:latin typeface="Consolas"/>
              </a:rPr>
              <a:t>  //</a:t>
            </a:r>
            <a:r>
              <a:rPr lang="zh-CN" altLang="en-US" sz="1300" dirty="0">
                <a:solidFill>
                  <a:srgbClr val="375082"/>
                </a:solidFill>
                <a:latin typeface="Consolas" panose="020B0609020204030204" pitchFamily="49" charset="0"/>
              </a:rPr>
              <a:t>虚析构函数</a:t>
            </a:r>
            <a:endParaRPr lang="en-US" altLang="zh-CN" sz="1300" dirty="0">
              <a:solidFill>
                <a:srgbClr val="375082"/>
              </a:solidFill>
              <a:latin typeface="Consolas" panose="020B0609020204030204" pitchFamily="49" charset="0"/>
            </a:endParaRPr>
          </a:p>
          <a:p>
            <a:pPr>
              <a:spcAft>
                <a:spcPts val="300"/>
              </a:spcAft>
              <a:defRPr sz="1300">
                <a:solidFill>
                  <a:srgbClr val="375082"/>
                </a:solidFill>
                <a:latin typeface="Consolas"/>
              </a:defRPr>
            </a:pPr>
            <a:endParaRPr sz="1300" dirty="0">
              <a:solidFill>
                <a:srgbClr val="375082"/>
              </a:solidFill>
              <a:latin typeface="Consolas"/>
            </a:endParaRPr>
          </a:p>
          <a:p>
            <a:pPr>
              <a:spcAft>
                <a:spcPts val="300"/>
              </a:spcAft>
              <a:defRPr sz="1300">
                <a:solidFill>
                  <a:srgbClr val="375082"/>
                </a:solidFill>
                <a:latin typeface="Consolas"/>
              </a:defRPr>
            </a:pPr>
            <a:r>
              <a:rPr sz="1300" dirty="0">
                <a:solidFill>
                  <a:srgbClr val="375082"/>
                </a:solidFill>
                <a:latin typeface="Consolas"/>
              </a:rPr>
              <a:t>    virtual void update(int dt, const Map&amp; map) = 0;</a:t>
            </a:r>
          </a:p>
          <a:p>
            <a:pPr>
              <a:spcAft>
                <a:spcPts val="300"/>
              </a:spcAft>
              <a:defRPr sz="1300">
                <a:solidFill>
                  <a:srgbClr val="375082"/>
                </a:solidFill>
                <a:latin typeface="Consolas"/>
              </a:defRPr>
            </a:pPr>
            <a:r>
              <a:rPr sz="1300" dirty="0">
                <a:solidFill>
                  <a:srgbClr val="375082"/>
                </a:solidFill>
                <a:latin typeface="Consolas"/>
              </a:rPr>
              <a:t>    virtual void draw() const = 0;</a:t>
            </a:r>
          </a:p>
          <a:p>
            <a:pPr>
              <a:spcAft>
                <a:spcPts val="300"/>
              </a:spcAft>
              <a:defRPr sz="1300">
                <a:solidFill>
                  <a:srgbClr val="375082"/>
                </a:solidFill>
                <a:latin typeface="Consolas"/>
              </a:defRPr>
            </a:pPr>
            <a:r>
              <a:rPr sz="1300" dirty="0">
                <a:solidFill>
                  <a:srgbClr val="375082"/>
                </a:solidFill>
                <a:latin typeface="Consolas"/>
              </a:rPr>
              <a:t>    </a:t>
            </a:r>
            <a:r>
              <a:rPr sz="1300" dirty="0" err="1">
                <a:solidFill>
                  <a:srgbClr val="375082"/>
                </a:solidFill>
                <a:latin typeface="Consolas"/>
              </a:rPr>
              <a:t>GridPosition</a:t>
            </a:r>
            <a:r>
              <a:rPr sz="1300" dirty="0">
                <a:solidFill>
                  <a:srgbClr val="375082"/>
                </a:solidFill>
                <a:latin typeface="Consolas"/>
              </a:rPr>
              <a:t> </a:t>
            </a:r>
            <a:r>
              <a:rPr sz="1300" dirty="0" err="1">
                <a:solidFill>
                  <a:srgbClr val="375082"/>
                </a:solidFill>
                <a:latin typeface="Consolas"/>
              </a:rPr>
              <a:t>getPos</a:t>
            </a:r>
            <a:r>
              <a:rPr sz="1300" dirty="0">
                <a:solidFill>
                  <a:srgbClr val="375082"/>
                </a:solidFill>
                <a:latin typeface="Consolas"/>
              </a:rPr>
              <a:t>() const { return pos; }</a:t>
            </a:r>
          </a:p>
          <a:p>
            <a:pPr>
              <a:spcAft>
                <a:spcPts val="300"/>
              </a:spcAft>
              <a:defRPr sz="1300">
                <a:solidFill>
                  <a:srgbClr val="375082"/>
                </a:solidFill>
                <a:latin typeface="Consolas"/>
              </a:defRPr>
            </a:pPr>
            <a:r>
              <a:rPr sz="1300" dirty="0">
                <a:solidFill>
                  <a:srgbClr val="375082"/>
                </a:solidFill>
                <a:latin typeface="Consolas"/>
              </a:rPr>
              <a:t>    bool </a:t>
            </a:r>
            <a:r>
              <a:rPr sz="1300" dirty="0" err="1">
                <a:solidFill>
                  <a:srgbClr val="375082"/>
                </a:solidFill>
                <a:latin typeface="Consolas"/>
              </a:rPr>
              <a:t>isActive</a:t>
            </a:r>
            <a:r>
              <a:rPr sz="1300" dirty="0">
                <a:solidFill>
                  <a:srgbClr val="375082"/>
                </a:solidFill>
                <a:latin typeface="Consolas"/>
              </a:rPr>
              <a:t>() const { return active; }</a:t>
            </a:r>
          </a:p>
          <a:p>
            <a:pPr>
              <a:spcAft>
                <a:spcPts val="300"/>
              </a:spcAft>
              <a:defRPr sz="1300">
                <a:solidFill>
                  <a:srgbClr val="375082"/>
                </a:solidFill>
                <a:latin typeface="Consolas"/>
              </a:defRPr>
            </a:pPr>
            <a:r>
              <a:rPr sz="1300" dirty="0">
                <a:solidFill>
                  <a:srgbClr val="375082"/>
                </a:solidFill>
                <a:latin typeface="Consolas"/>
              </a:rPr>
              <a:t>    void remove() { active = false; }</a:t>
            </a:r>
          </a:p>
          <a:p>
            <a:pPr>
              <a:spcAft>
                <a:spcPts val="300"/>
              </a:spcAft>
              <a:defRPr sz="1300">
                <a:solidFill>
                  <a:srgbClr val="375082"/>
                </a:solidFill>
                <a:latin typeface="Consolas"/>
              </a:defRPr>
            </a:pPr>
            <a:r>
              <a:rPr sz="1300" dirty="0">
                <a:solidFill>
                  <a:srgbClr val="375082"/>
                </a:solidFill>
                <a:latin typeface="Consolas"/>
              </a:rPr>
              <a:t>};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00000" y="850000"/>
            <a:ext cx="5800000" cy="5500000"/>
          </a:xfrm>
          <a:prstGeom prst="roundRect">
            <a:avLst/>
          </a:prstGeom>
          <a:solidFill>
            <a:srgbClr val="FAFCFF"/>
          </a:solidFill>
          <a:ln w="12700">
            <a:solidFill>
              <a:srgbClr val="C8D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98990" y="1251930"/>
            <a:ext cx="5201009" cy="4093428"/>
          </a:xfrm>
          <a:prstGeom prst="rect">
            <a:avLst/>
          </a:prstGeom>
          <a:noFill/>
        </p:spPr>
        <p:txBody>
          <a:bodyPr wrap="square" lIns="8000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 sz="1600" b="1">
                <a:solidFill>
                  <a:srgbClr val="2D3C64"/>
                </a:solidFill>
              </a:defRPr>
            </a:pPr>
            <a:r>
              <a:rPr lang="zh-CN" altLang="zh-CN" sz="2000" b="1" dirty="0">
                <a:latin typeface="+mj-ea"/>
                <a:ea typeface="+mj-ea"/>
              </a:rPr>
              <a:t>定义了两个纯虚函数 update(int dt, const Map&amp; map) 和 draw()，强制派生类实现</a:t>
            </a:r>
            <a:endParaRPr lang="en-US" altLang="zh-CN" sz="2000" b="1" dirty="0">
              <a:latin typeface="+mj-ea"/>
              <a:ea typeface="+mj-ea"/>
            </a:endParaRPr>
          </a:p>
          <a:p>
            <a:pPr marL="285750" indent="-285750">
              <a:buFont typeface="Arial" panose="020B0604020202020204" pitchFamily="34" charset="0"/>
              <a:buChar char="•"/>
              <a:defRPr sz="1600" b="1">
                <a:solidFill>
                  <a:srgbClr val="2D3C64"/>
                </a:solidFill>
              </a:defRPr>
            </a:pPr>
            <a:endParaRPr lang="en-US" altLang="zh-CN" sz="2000" b="1" dirty="0">
              <a:latin typeface="+mj-ea"/>
              <a:ea typeface="+mj-ea"/>
            </a:endParaRPr>
          </a:p>
          <a:p>
            <a:pPr marL="285750" indent="-285750">
              <a:buFont typeface="Arial" panose="020B0604020202020204" pitchFamily="34" charset="0"/>
              <a:buChar char="•"/>
              <a:defRPr sz="1600" b="1">
                <a:solidFill>
                  <a:srgbClr val="2D3C64"/>
                </a:solidFill>
              </a:defRPr>
            </a:pPr>
            <a:r>
              <a:rPr lang="zh-CN" altLang="zh-CN" sz="2000" b="1" dirty="0">
                <a:latin typeface="+mj-ea"/>
                <a:ea typeface="+mj-ea"/>
              </a:rPr>
              <a:t>GridPosition pos 记录格子坐标，bool active 标记存活状态</a:t>
            </a:r>
            <a:endParaRPr lang="en-US" altLang="zh-CN" sz="2000" b="1" dirty="0">
              <a:latin typeface="+mj-ea"/>
              <a:ea typeface="+mj-ea"/>
            </a:endParaRPr>
          </a:p>
          <a:p>
            <a:pPr marL="285750" indent="-285750">
              <a:buFont typeface="Arial" panose="020B0604020202020204" pitchFamily="34" charset="0"/>
              <a:buChar char="•"/>
              <a:defRPr sz="1600" b="1">
                <a:solidFill>
                  <a:srgbClr val="2D3C64"/>
                </a:solidFill>
              </a:defRPr>
            </a:pPr>
            <a:endParaRPr lang="en-US" altLang="zh-CN" sz="2000" b="1" dirty="0">
              <a:latin typeface="+mj-ea"/>
              <a:ea typeface="+mj-ea"/>
            </a:endParaRPr>
          </a:p>
          <a:p>
            <a:pPr marL="285750" indent="-285750">
              <a:buFont typeface="Arial" panose="020B0604020202020204" pitchFamily="34" charset="0"/>
              <a:buChar char="•"/>
              <a:defRPr sz="1600" b="1">
                <a:solidFill>
                  <a:srgbClr val="2D3C64"/>
                </a:solidFill>
              </a:defRPr>
            </a:pPr>
            <a:r>
              <a:rPr lang="zh-CN" altLang="zh-CN" sz="2000" b="1" dirty="0">
                <a:latin typeface="+mj-ea"/>
                <a:ea typeface="+mj-ea"/>
              </a:rPr>
              <a:t>remove() 只把 active 设为 false，不真的 delete。由 Game 统一在 clearObjects() 中清理</a:t>
            </a:r>
            <a:endParaRPr lang="en-US" altLang="zh-CN" sz="2000" b="1" dirty="0">
              <a:latin typeface="+mj-ea"/>
              <a:ea typeface="+mj-ea"/>
            </a:endParaRPr>
          </a:p>
          <a:p>
            <a:pPr marL="285750" indent="-285750">
              <a:buFont typeface="Arial" panose="020B0604020202020204" pitchFamily="34" charset="0"/>
              <a:buChar char="•"/>
              <a:defRPr sz="1600" b="1">
                <a:solidFill>
                  <a:srgbClr val="2D3C64"/>
                </a:solidFill>
              </a:defRPr>
            </a:pPr>
            <a:endParaRPr lang="en-US" altLang="zh-CN" sz="2000" b="1" dirty="0">
              <a:latin typeface="+mj-ea"/>
              <a:ea typeface="+mj-ea"/>
            </a:endParaRPr>
          </a:p>
          <a:p>
            <a:pPr marL="285750" indent="-285750">
              <a:buFont typeface="Arial" panose="020B0604020202020204" pitchFamily="34" charset="0"/>
              <a:buChar char="•"/>
              <a:defRPr sz="1600" b="1">
                <a:solidFill>
                  <a:srgbClr val="2D3C64"/>
                </a:solidFill>
              </a:defRPr>
            </a:pPr>
            <a:r>
              <a:rPr lang="zh-CN" altLang="zh-CN" sz="2000" b="1" dirty="0">
                <a:latin typeface="+mj-ea"/>
                <a:ea typeface="+mj-ea"/>
              </a:rPr>
              <a:t>虚析构函数保证通过基类指针 delete 派生类时正确释放</a:t>
            </a:r>
            <a:endParaRPr sz="2000" dirty="0">
              <a:latin typeface="+mj-ea"/>
              <a:ea typeface="+mj-ea"/>
            </a:endParaRPr>
          </a:p>
        </p:txBody>
      </p:sp>
      <p:sp>
        <p:nvSpPr>
          <p:cNvPr id="2" name="TextBox 19">
            <a:extLst>
              <a:ext uri="{FF2B5EF4-FFF2-40B4-BE49-F238E27FC236}">
                <a16:creationId xmlns:a16="http://schemas.microsoft.com/office/drawing/2014/main" id="{C9D7AAAB-FD4E-388B-88A9-C6E1478AA368}"/>
              </a:ext>
            </a:extLst>
          </p:cNvPr>
          <p:cNvSpPr txBox="1"/>
          <p:nvPr/>
        </p:nvSpPr>
        <p:spPr>
          <a:xfrm>
            <a:off x="11329497" y="6410325"/>
            <a:ext cx="214803" cy="2308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altLang="zh-CN" sz="1500" dirty="0">
                <a:solidFill>
                  <a:srgbClr val="66788A"/>
                </a:solidFill>
                <a:latin typeface="Arial"/>
                <a:ea typeface="Microsoft YaHei"/>
                <a:cs typeface="Arial"/>
              </a:rPr>
              <a:t>06</a:t>
            </a:r>
            <a:endParaRPr lang="zh-CN" sz="1500" dirty="0">
              <a:solidFill>
                <a:srgbClr val="66788A"/>
              </a:solidFill>
              <a:latin typeface="Arial"/>
              <a:ea typeface="Microsoft YaHei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125683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4AC5BD84-F03C-BBEF-255B-6AC3D9F3C0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F7A237B0-0687-C34E-B141-32CE6BFAB9FE}"/>
              </a:ext>
            </a:extLst>
          </p:cNvPr>
          <p:cNvSpPr/>
          <p:nvPr/>
        </p:nvSpPr>
        <p:spPr>
          <a:xfrm>
            <a:off x="2400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5" name="Group 8">
            <a:extLst>
              <a:ext uri="{FF2B5EF4-FFF2-40B4-BE49-F238E27FC236}">
                <a16:creationId xmlns:a16="http://schemas.microsoft.com/office/drawing/2014/main" id="{AD806099-2EAB-AB04-EA39-B519E585BA43}"/>
              </a:ext>
            </a:extLst>
          </p:cNvPr>
          <p:cNvGrpSpPr/>
          <p:nvPr/>
        </p:nvGrpSpPr>
        <p:grpSpPr>
          <a:xfrm>
            <a:off x="0" y="0"/>
            <a:ext cx="12192000" cy="647700"/>
            <a:chOff x="0" y="0"/>
            <a:chExt cx="12192000" cy="647700"/>
          </a:xfrm>
        </p:grpSpPr>
        <p:sp>
          <p:nvSpPr>
            <p:cNvPr id="6" name="Rectangle 3">
              <a:extLst>
                <a:ext uri="{FF2B5EF4-FFF2-40B4-BE49-F238E27FC236}">
                  <a16:creationId xmlns:a16="http://schemas.microsoft.com/office/drawing/2014/main" id="{0E6BDC9B-AE7C-94C5-2967-3217B1A5A444}"/>
                </a:ext>
              </a:extLst>
            </p:cNvPr>
            <p:cNvSpPr/>
            <p:nvPr/>
          </p:nvSpPr>
          <p:spPr>
            <a:xfrm>
              <a:off x="0" y="0"/>
              <a:ext cx="12192000" cy="647700"/>
            </a:xfrm>
            <a:prstGeom prst="rect">
              <a:avLst/>
            </a:prstGeom>
            <a:solidFill>
              <a:srgbClr val="1E4268"/>
            </a:solidFill>
            <a:ln>
              <a:noFill/>
            </a:ln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7" name="TextBox 4">
              <a:extLst>
                <a:ext uri="{FF2B5EF4-FFF2-40B4-BE49-F238E27FC236}">
                  <a16:creationId xmlns:a16="http://schemas.microsoft.com/office/drawing/2014/main" id="{E70A29AF-A3ED-668D-445B-F313CC5AC21D}"/>
                </a:ext>
              </a:extLst>
            </p:cNvPr>
            <p:cNvSpPr txBox="1"/>
            <p:nvPr/>
          </p:nvSpPr>
          <p:spPr>
            <a:xfrm>
              <a:off x="539115" y="162878"/>
              <a:ext cx="65" cy="3924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endParaRPr lang="zh-CN" sz="25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endParaRPr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5919D71E-9974-9F32-10EE-26B9C1149E01}"/>
                </a:ext>
              </a:extLst>
            </p:cNvPr>
            <p:cNvGrpSpPr/>
            <p:nvPr/>
          </p:nvGrpSpPr>
          <p:grpSpPr>
            <a:xfrm>
              <a:off x="11334750" y="190500"/>
              <a:ext cx="304800" cy="304800"/>
              <a:chOff x="11334750" y="190500"/>
              <a:chExt cx="304800" cy="304800"/>
            </a:xfrm>
          </p:grpSpPr>
          <p:sp>
            <p:nvSpPr>
              <p:cNvPr id="9" name="Freeform 5">
                <a:extLst>
                  <a:ext uri="{FF2B5EF4-FFF2-40B4-BE49-F238E27FC236}">
                    <a16:creationId xmlns:a16="http://schemas.microsoft.com/office/drawing/2014/main" id="{4782F9AE-56AA-DC11-0662-DD50BE6FFA9B}"/>
                  </a:ext>
                </a:extLst>
              </p:cNvPr>
              <p:cNvSpPr/>
              <p:nvPr/>
            </p:nvSpPr>
            <p:spPr>
              <a:xfrm>
                <a:off x="11334750" y="190500"/>
                <a:ext cx="2667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171450">
                    <a:moveTo>
                      <a:pt x="190500" y="152400"/>
                    </a:moveTo>
                    <a:lnTo>
                      <a:pt x="171450" y="152400"/>
                    </a:lnTo>
                    <a:lnTo>
                      <a:pt x="171450" y="91817"/>
                    </a:lnTo>
                    <a:lnTo>
                      <a:pt x="98246" y="77177"/>
                    </a:lnTo>
                    <a:cubicBezTo>
                      <a:pt x="94999" y="76527"/>
                      <a:pt x="91696" y="76200"/>
                      <a:pt x="88385" y="76200"/>
                    </a:cubicBezTo>
                    <a:cubicBezTo>
                      <a:pt x="60613" y="76200"/>
                      <a:pt x="38100" y="98713"/>
                      <a:pt x="38100" y="126485"/>
                    </a:cubicBezTo>
                    <a:lnTo>
                      <a:pt x="38100" y="171450"/>
                    </a:lnTo>
                    <a:lnTo>
                      <a:pt x="0" y="171450"/>
                    </a:lnTo>
                    <a:lnTo>
                      <a:pt x="0" y="126485"/>
                    </a:lnTo>
                    <a:cubicBezTo>
                      <a:pt x="0" y="77671"/>
                      <a:pt x="39571" y="38100"/>
                      <a:pt x="88385" y="38100"/>
                    </a:cubicBezTo>
                    <a:cubicBezTo>
                      <a:pt x="94205" y="38100"/>
                      <a:pt x="100011" y="38675"/>
                      <a:pt x="105718" y="39816"/>
                    </a:cubicBezTo>
                    <a:lnTo>
                      <a:pt x="171450" y="52963"/>
                    </a:lnTo>
                    <a:lnTo>
                      <a:pt x="171450" y="0"/>
                    </a:lnTo>
                    <a:lnTo>
                      <a:pt x="190500" y="0"/>
                    </a:lnTo>
                    <a:lnTo>
                      <a:pt x="266700" y="76200"/>
                    </a:lnTo>
                    <a:lnTo>
                      <a:pt x="190500" y="152400"/>
                    </a:lnTo>
                    <a:close/>
                  </a:path>
                </a:pathLst>
              </a:custGeom>
              <a:solidFill>
                <a:srgbClr val="5E91BD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" name="Freeform 6">
                <a:extLst>
                  <a:ext uri="{FF2B5EF4-FFF2-40B4-BE49-F238E27FC236}">
                    <a16:creationId xmlns:a16="http://schemas.microsoft.com/office/drawing/2014/main" id="{5C3F7DA8-296E-F0DE-80B6-E264A4429D93}"/>
                  </a:ext>
                </a:extLst>
              </p:cNvPr>
              <p:cNvSpPr/>
              <p:nvPr/>
            </p:nvSpPr>
            <p:spPr>
              <a:xfrm>
                <a:off x="11372850" y="323850"/>
                <a:ext cx="2667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171450">
                    <a:moveTo>
                      <a:pt x="266700" y="0"/>
                    </a:moveTo>
                    <a:lnTo>
                      <a:pt x="266700" y="44965"/>
                    </a:lnTo>
                    <a:cubicBezTo>
                      <a:pt x="266700" y="93779"/>
                      <a:pt x="227129" y="133350"/>
                      <a:pt x="178316" y="133350"/>
                    </a:cubicBezTo>
                    <a:cubicBezTo>
                      <a:pt x="172496" y="133350"/>
                      <a:pt x="166689" y="132775"/>
                      <a:pt x="160982" y="131634"/>
                    </a:cubicBezTo>
                    <a:lnTo>
                      <a:pt x="95250" y="118487"/>
                    </a:lnTo>
                    <a:lnTo>
                      <a:pt x="95250" y="171450"/>
                    </a:lnTo>
                    <a:lnTo>
                      <a:pt x="76200" y="171450"/>
                    </a:lnTo>
                    <a:lnTo>
                      <a:pt x="0" y="95250"/>
                    </a:lnTo>
                    <a:lnTo>
                      <a:pt x="76200" y="19050"/>
                    </a:lnTo>
                    <a:lnTo>
                      <a:pt x="95250" y="19050"/>
                    </a:lnTo>
                    <a:lnTo>
                      <a:pt x="95250" y="79633"/>
                    </a:lnTo>
                    <a:lnTo>
                      <a:pt x="168453" y="94273"/>
                    </a:lnTo>
                    <a:cubicBezTo>
                      <a:pt x="171701" y="94922"/>
                      <a:pt x="175005" y="95250"/>
                      <a:pt x="178316" y="95250"/>
                    </a:cubicBezTo>
                    <a:cubicBezTo>
                      <a:pt x="206087" y="95250"/>
                      <a:pt x="228600" y="72737"/>
                      <a:pt x="228600" y="44965"/>
                    </a:cubicBezTo>
                    <a:lnTo>
                      <a:pt x="228600" y="0"/>
                    </a:lnTo>
                    <a:lnTo>
                      <a:pt x="266700" y="0"/>
                    </a:lnTo>
                    <a:close/>
                  </a:path>
                </a:pathLst>
              </a:custGeom>
              <a:solidFill>
                <a:srgbClr val="5E91BD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13" name="TextBox 12"/>
          <p:cNvSpPr txBox="1"/>
          <p:nvPr/>
        </p:nvSpPr>
        <p:spPr>
          <a:xfrm>
            <a:off x="350000" y="250000"/>
            <a:ext cx="11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5F8FF"/>
                </a:solidFill>
              </a:defRPr>
            </a:pPr>
            <a:r>
              <a:rPr dirty="0"/>
              <a:t>Player </a:t>
            </a:r>
            <a:r>
              <a:rPr dirty="0" err="1"/>
              <a:t>玩家类</a:t>
            </a:r>
            <a:endParaRPr dirty="0"/>
          </a:p>
        </p:txBody>
      </p:sp>
      <p:sp>
        <p:nvSpPr>
          <p:cNvPr id="14" name="Rounded Rectangle 13"/>
          <p:cNvSpPr/>
          <p:nvPr/>
        </p:nvSpPr>
        <p:spPr>
          <a:xfrm>
            <a:off x="272000" y="850000"/>
            <a:ext cx="5600000" cy="5500000"/>
          </a:xfrm>
          <a:prstGeom prst="roundRect">
            <a:avLst/>
          </a:prstGeom>
          <a:solidFill>
            <a:srgbClr val="FAFCFF"/>
          </a:solidFill>
          <a:ln w="12700">
            <a:solidFill>
              <a:srgbClr val="C8D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92000" y="1246340"/>
            <a:ext cx="5158000" cy="4308872"/>
          </a:xfrm>
          <a:prstGeom prst="rect">
            <a:avLst/>
          </a:prstGeom>
          <a:noFill/>
        </p:spPr>
        <p:txBody>
          <a:bodyPr wrap="square" lIns="80000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375082"/>
                </a:solidFill>
                <a:latin typeface="Consolas"/>
              </a:defRPr>
            </a:pPr>
            <a:r>
              <a:rPr dirty="0"/>
              <a:t>// </a:t>
            </a:r>
            <a:r>
              <a:rPr dirty="0" err="1"/>
              <a:t>键盘驱动移动，无需每帧更新</a:t>
            </a:r>
            <a:endParaRPr dirty="0"/>
          </a:p>
          <a:p>
            <a:pPr>
              <a:spcAft>
                <a:spcPts val="300"/>
              </a:spcAft>
              <a:defRPr sz="1300">
                <a:solidFill>
                  <a:srgbClr val="375082"/>
                </a:solidFill>
                <a:latin typeface="Consolas"/>
              </a:defRPr>
            </a:pPr>
            <a:r>
              <a:rPr dirty="0"/>
              <a:t>class Player : public </a:t>
            </a:r>
            <a:r>
              <a:rPr dirty="0" err="1"/>
              <a:t>GameObject</a:t>
            </a:r>
            <a:r>
              <a:rPr dirty="0"/>
              <a:t> {</a:t>
            </a:r>
          </a:p>
          <a:p>
            <a:pPr>
              <a:spcAft>
                <a:spcPts val="300"/>
              </a:spcAft>
              <a:defRPr sz="1300">
                <a:solidFill>
                  <a:srgbClr val="375082"/>
                </a:solidFill>
                <a:latin typeface="Consolas"/>
              </a:defRPr>
            </a:pPr>
            <a:r>
              <a:rPr dirty="0"/>
              <a:t>public:</a:t>
            </a:r>
          </a:p>
          <a:p>
            <a:pPr>
              <a:spcAft>
                <a:spcPts val="300"/>
              </a:spcAft>
              <a:defRPr sz="1300">
                <a:solidFill>
                  <a:srgbClr val="375082"/>
                </a:solidFill>
                <a:latin typeface="Consolas"/>
              </a:defRPr>
            </a:pPr>
            <a:r>
              <a:rPr dirty="0"/>
              <a:t>    Player(</a:t>
            </a:r>
            <a:r>
              <a:rPr dirty="0" err="1"/>
              <a:t>GridPosition</a:t>
            </a:r>
            <a:r>
              <a:rPr dirty="0"/>
              <a:t> p);</a:t>
            </a:r>
          </a:p>
          <a:p>
            <a:pPr>
              <a:spcAft>
                <a:spcPts val="300"/>
              </a:spcAft>
              <a:defRPr sz="1300">
                <a:solidFill>
                  <a:srgbClr val="375082"/>
                </a:solidFill>
                <a:latin typeface="Consolas"/>
              </a:defRPr>
            </a:pPr>
            <a:r>
              <a:rPr dirty="0"/>
              <a:t>    void update(int, const Map&amp;) override {}</a:t>
            </a:r>
          </a:p>
          <a:p>
            <a:pPr>
              <a:spcAft>
                <a:spcPts val="300"/>
              </a:spcAft>
              <a:defRPr sz="1300">
                <a:solidFill>
                  <a:srgbClr val="375082"/>
                </a:solidFill>
                <a:latin typeface="Consolas"/>
              </a:defRPr>
            </a:pPr>
            <a:r>
              <a:rPr dirty="0"/>
              <a:t>    void draw() const override;</a:t>
            </a:r>
          </a:p>
          <a:p>
            <a:pPr>
              <a:spcAft>
                <a:spcPts val="300"/>
              </a:spcAft>
              <a:defRPr sz="1300">
                <a:solidFill>
                  <a:srgbClr val="375082"/>
                </a:solidFill>
                <a:latin typeface="Consolas"/>
              </a:defRPr>
            </a:pPr>
            <a:r>
              <a:rPr dirty="0"/>
              <a:t>    bool </a:t>
            </a:r>
            <a:r>
              <a:rPr dirty="0" err="1"/>
              <a:t>tryMove</a:t>
            </a:r>
            <a:r>
              <a:rPr dirty="0"/>
              <a:t>(Direction </a:t>
            </a:r>
            <a:r>
              <a:rPr dirty="0" err="1"/>
              <a:t>dir</a:t>
            </a:r>
            <a:r>
              <a:rPr dirty="0"/>
              <a:t>, const Map&amp; map,</a:t>
            </a:r>
          </a:p>
          <a:p>
            <a:pPr>
              <a:spcAft>
                <a:spcPts val="300"/>
              </a:spcAft>
              <a:defRPr sz="1300">
                <a:solidFill>
                  <a:srgbClr val="375082"/>
                </a:solidFill>
                <a:latin typeface="Consolas"/>
              </a:defRPr>
            </a:pPr>
            <a:r>
              <a:rPr dirty="0"/>
              <a:t>                 const vector&lt;</a:t>
            </a:r>
            <a:r>
              <a:rPr dirty="0" err="1"/>
              <a:t>GridPosition</a:t>
            </a:r>
            <a:r>
              <a:rPr dirty="0"/>
              <a:t>&gt;&amp; bombs);</a:t>
            </a:r>
          </a:p>
          <a:p>
            <a:pPr>
              <a:spcAft>
                <a:spcPts val="300"/>
              </a:spcAft>
              <a:defRPr sz="1300">
                <a:solidFill>
                  <a:srgbClr val="375082"/>
                </a:solidFill>
                <a:latin typeface="Consolas"/>
              </a:defRPr>
            </a:pPr>
            <a:r>
              <a:rPr dirty="0"/>
              <a:t>};</a:t>
            </a:r>
          </a:p>
          <a:p>
            <a:pPr>
              <a:spcAft>
                <a:spcPts val="300"/>
              </a:spcAft>
              <a:defRPr sz="1300">
                <a:solidFill>
                  <a:srgbClr val="375082"/>
                </a:solidFill>
                <a:latin typeface="Consolas"/>
              </a:defRPr>
            </a:pPr>
            <a:endParaRPr dirty="0"/>
          </a:p>
          <a:p>
            <a:pPr>
              <a:spcAft>
                <a:spcPts val="300"/>
              </a:spcAft>
              <a:defRPr sz="1300">
                <a:solidFill>
                  <a:srgbClr val="375082"/>
                </a:solidFill>
                <a:latin typeface="Consolas"/>
              </a:defRPr>
            </a:pPr>
            <a:r>
              <a:rPr dirty="0"/>
              <a:t>bool Player::</a:t>
            </a:r>
            <a:r>
              <a:rPr dirty="0" err="1"/>
              <a:t>tryMove</a:t>
            </a:r>
            <a:r>
              <a:rPr dirty="0"/>
              <a:t>(Direction </a:t>
            </a:r>
            <a:r>
              <a:rPr dirty="0" err="1"/>
              <a:t>dir</a:t>
            </a:r>
            <a:r>
              <a:rPr dirty="0"/>
              <a:t>, const Map&amp; map,</a:t>
            </a:r>
          </a:p>
          <a:p>
            <a:pPr>
              <a:spcAft>
                <a:spcPts val="300"/>
              </a:spcAft>
              <a:defRPr sz="1300">
                <a:solidFill>
                  <a:srgbClr val="375082"/>
                </a:solidFill>
                <a:latin typeface="Consolas"/>
              </a:defRPr>
            </a:pPr>
            <a:r>
              <a:rPr dirty="0"/>
              <a:t>                     const vector&lt;</a:t>
            </a:r>
            <a:r>
              <a:rPr dirty="0" err="1"/>
              <a:t>GridPosition</a:t>
            </a:r>
            <a:r>
              <a:rPr dirty="0"/>
              <a:t>&gt;&amp; bombs) {</a:t>
            </a:r>
          </a:p>
          <a:p>
            <a:pPr>
              <a:spcAft>
                <a:spcPts val="300"/>
              </a:spcAft>
              <a:defRPr sz="1300">
                <a:solidFill>
                  <a:srgbClr val="375082"/>
                </a:solidFill>
                <a:latin typeface="Consolas"/>
              </a:defRPr>
            </a:pPr>
            <a:r>
              <a:rPr dirty="0"/>
              <a:t>    auto next = moved(pos, </a:t>
            </a:r>
            <a:r>
              <a:rPr dirty="0" err="1"/>
              <a:t>dir</a:t>
            </a:r>
            <a:r>
              <a:rPr dirty="0"/>
              <a:t>);</a:t>
            </a:r>
          </a:p>
          <a:p>
            <a:pPr>
              <a:spcAft>
                <a:spcPts val="300"/>
              </a:spcAft>
              <a:defRPr sz="1300">
                <a:solidFill>
                  <a:srgbClr val="375082"/>
                </a:solidFill>
                <a:latin typeface="Consolas"/>
              </a:defRPr>
            </a:pPr>
            <a:r>
              <a:rPr dirty="0"/>
              <a:t>    if (!</a:t>
            </a:r>
            <a:r>
              <a:rPr dirty="0" err="1"/>
              <a:t>map.canWalk</a:t>
            </a:r>
            <a:r>
              <a:rPr dirty="0"/>
              <a:t>(next) ||</a:t>
            </a:r>
          </a:p>
          <a:p>
            <a:pPr>
              <a:spcAft>
                <a:spcPts val="300"/>
              </a:spcAft>
              <a:defRPr sz="1300">
                <a:solidFill>
                  <a:srgbClr val="375082"/>
                </a:solidFill>
                <a:latin typeface="Consolas"/>
              </a:defRPr>
            </a:pPr>
            <a:r>
              <a:rPr dirty="0"/>
              <a:t>        </a:t>
            </a:r>
            <a:r>
              <a:rPr dirty="0" err="1"/>
              <a:t>containsPosition</a:t>
            </a:r>
            <a:r>
              <a:rPr dirty="0"/>
              <a:t>(bombs, next)) return false;</a:t>
            </a:r>
          </a:p>
          <a:p>
            <a:pPr>
              <a:spcAft>
                <a:spcPts val="300"/>
              </a:spcAft>
              <a:defRPr sz="1300">
                <a:solidFill>
                  <a:srgbClr val="375082"/>
                </a:solidFill>
                <a:latin typeface="Consolas"/>
              </a:defRPr>
            </a:pPr>
            <a:r>
              <a:rPr dirty="0"/>
              <a:t>    pos = next; return true;</a:t>
            </a:r>
          </a:p>
          <a:p>
            <a:pPr>
              <a:spcAft>
                <a:spcPts val="300"/>
              </a:spcAft>
              <a:defRPr sz="1300">
                <a:solidFill>
                  <a:srgbClr val="375082"/>
                </a:solidFill>
                <a:latin typeface="Consolas"/>
              </a:defRPr>
            </a:pPr>
            <a:r>
              <a:rPr dirty="0"/>
              <a:t>}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0000" y="850000"/>
            <a:ext cx="5800000" cy="5500000"/>
          </a:xfrm>
          <a:prstGeom prst="roundRect">
            <a:avLst/>
          </a:prstGeom>
          <a:solidFill>
            <a:srgbClr val="FAFCFF"/>
          </a:solidFill>
          <a:ln w="12700">
            <a:solidFill>
              <a:srgbClr val="C8D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13326" y="1246340"/>
            <a:ext cx="5286674" cy="2964914"/>
          </a:xfrm>
          <a:prstGeom prst="rect">
            <a:avLst/>
          </a:prstGeom>
          <a:noFill/>
        </p:spPr>
        <p:txBody>
          <a:bodyPr wrap="square" lIns="80000">
            <a:spAutoFit/>
          </a:bodyPr>
          <a:lstStyle/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  <a:defRPr sz="1400">
                <a:solidFill>
                  <a:srgbClr val="3C465A"/>
                </a:solidFill>
              </a:defRPr>
            </a:pPr>
            <a:r>
              <a:rPr lang="zh-CN" altLang="en-US" sz="2000" dirty="0"/>
              <a:t>空的</a:t>
            </a:r>
            <a:r>
              <a:rPr lang="zh-CN" altLang="zh-CN" sz="2000" dirty="0"/>
              <a:t>update() </a:t>
            </a:r>
            <a:r>
              <a:rPr lang="zh-CN" altLang="en-US" sz="2000" dirty="0"/>
              <a:t>确保</a:t>
            </a:r>
            <a:r>
              <a:rPr lang="zh-CN" altLang="zh-CN" sz="2000" dirty="0"/>
              <a:t>由键盘事件直接调用</a:t>
            </a:r>
            <a:r>
              <a:rPr lang="zh-CN" altLang="en-US" sz="2000" dirty="0"/>
              <a:t>，使得每一帧自己更新</a:t>
            </a:r>
            <a:endParaRPr lang="en-US" altLang="zh-CN" sz="2000" dirty="0"/>
          </a:p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  <a:defRPr sz="1400">
                <a:solidFill>
                  <a:srgbClr val="3C465A"/>
                </a:solidFill>
              </a:defRPr>
            </a:pPr>
            <a:endParaRPr lang="en-US" altLang="zh-CN" sz="2000" dirty="0"/>
          </a:p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  <a:defRPr sz="1400">
                <a:solidFill>
                  <a:srgbClr val="3C465A"/>
                </a:solidFill>
              </a:defRPr>
            </a:pPr>
            <a:r>
              <a:rPr lang="zh-CN" altLang="zh-CN" sz="2000" dirty="0"/>
              <a:t>tryMove(dir, map, bombs)：先算目标格子，检查能否走（墙？砖块？有炸弹？），能走就更新 pos</a:t>
            </a:r>
            <a:endParaRPr lang="en-US" altLang="zh-CN" sz="2000" dirty="0"/>
          </a:p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  <a:defRPr sz="1400">
                <a:solidFill>
                  <a:srgbClr val="3C465A"/>
                </a:solidFill>
              </a:defRPr>
            </a:pPr>
            <a:endParaRPr lang="en-US" altLang="zh-CN" sz="2000" dirty="0"/>
          </a:p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  <a:defRPr sz="1400">
                <a:solidFill>
                  <a:srgbClr val="3C465A"/>
                </a:solidFill>
              </a:defRPr>
            </a:pPr>
            <a:r>
              <a:rPr lang="zh-CN" altLang="zh-CN" sz="2000" dirty="0"/>
              <a:t>每帧只能放一颗炸弹，通过全局 getBombPos() 检查踏上去的位置是否有炸弹</a:t>
            </a:r>
            <a:endParaRPr sz="2000" dirty="0"/>
          </a:p>
        </p:txBody>
      </p:sp>
      <p:sp>
        <p:nvSpPr>
          <p:cNvPr id="3" name="TextBox 19">
            <a:extLst>
              <a:ext uri="{FF2B5EF4-FFF2-40B4-BE49-F238E27FC236}">
                <a16:creationId xmlns:a16="http://schemas.microsoft.com/office/drawing/2014/main" id="{26C33B4A-AA27-72C2-8B55-358C46271023}"/>
              </a:ext>
            </a:extLst>
          </p:cNvPr>
          <p:cNvSpPr txBox="1"/>
          <p:nvPr/>
        </p:nvSpPr>
        <p:spPr>
          <a:xfrm>
            <a:off x="11329497" y="6410325"/>
            <a:ext cx="214803" cy="2308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altLang="zh-CN" sz="1500" dirty="0">
                <a:solidFill>
                  <a:srgbClr val="66788A"/>
                </a:solidFill>
                <a:latin typeface="Arial"/>
                <a:ea typeface="Microsoft YaHei"/>
                <a:cs typeface="Arial"/>
              </a:rPr>
              <a:t>07</a:t>
            </a:r>
            <a:endParaRPr lang="zh-CN" sz="1500" dirty="0">
              <a:solidFill>
                <a:srgbClr val="66788A"/>
              </a:solidFill>
              <a:latin typeface="Arial"/>
              <a:ea typeface="Microsoft YaHei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6111868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FE5522-1A2F-8186-E207-874D792D3B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047079E9-852A-57DD-A4C3-65DBB5E0027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5" name="Group 8">
            <a:extLst>
              <a:ext uri="{FF2B5EF4-FFF2-40B4-BE49-F238E27FC236}">
                <a16:creationId xmlns:a16="http://schemas.microsoft.com/office/drawing/2014/main" id="{6B878E24-FDD2-96BE-A5F3-A4EEC22F9C19}"/>
              </a:ext>
            </a:extLst>
          </p:cNvPr>
          <p:cNvGrpSpPr/>
          <p:nvPr/>
        </p:nvGrpSpPr>
        <p:grpSpPr>
          <a:xfrm>
            <a:off x="0" y="0"/>
            <a:ext cx="12192000" cy="647700"/>
            <a:chOff x="0" y="0"/>
            <a:chExt cx="12192000" cy="647700"/>
          </a:xfrm>
        </p:grpSpPr>
        <p:sp>
          <p:nvSpPr>
            <p:cNvPr id="6" name="Rectangle 3">
              <a:extLst>
                <a:ext uri="{FF2B5EF4-FFF2-40B4-BE49-F238E27FC236}">
                  <a16:creationId xmlns:a16="http://schemas.microsoft.com/office/drawing/2014/main" id="{DA10D99E-5373-BE48-FF13-C432E71AA308}"/>
                </a:ext>
              </a:extLst>
            </p:cNvPr>
            <p:cNvSpPr/>
            <p:nvPr/>
          </p:nvSpPr>
          <p:spPr>
            <a:xfrm>
              <a:off x="0" y="0"/>
              <a:ext cx="12192000" cy="647700"/>
            </a:xfrm>
            <a:prstGeom prst="rect">
              <a:avLst/>
            </a:prstGeom>
            <a:solidFill>
              <a:srgbClr val="1E4268"/>
            </a:solidFill>
            <a:ln>
              <a:noFill/>
            </a:ln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7" name="TextBox 4">
              <a:extLst>
                <a:ext uri="{FF2B5EF4-FFF2-40B4-BE49-F238E27FC236}">
                  <a16:creationId xmlns:a16="http://schemas.microsoft.com/office/drawing/2014/main" id="{F520EBF5-6256-D131-6BA7-F19E87D5F2FB}"/>
                </a:ext>
              </a:extLst>
            </p:cNvPr>
            <p:cNvSpPr txBox="1"/>
            <p:nvPr/>
          </p:nvSpPr>
          <p:spPr>
            <a:xfrm>
              <a:off x="539115" y="162878"/>
              <a:ext cx="65" cy="3924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endParaRPr lang="zh-CN" sz="25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endParaRPr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2B77CA92-7770-DA38-5CFB-18B4B71E3CEB}"/>
                </a:ext>
              </a:extLst>
            </p:cNvPr>
            <p:cNvGrpSpPr/>
            <p:nvPr/>
          </p:nvGrpSpPr>
          <p:grpSpPr>
            <a:xfrm>
              <a:off x="11334750" y="190500"/>
              <a:ext cx="304800" cy="304800"/>
              <a:chOff x="11334750" y="190500"/>
              <a:chExt cx="304800" cy="304800"/>
            </a:xfrm>
          </p:grpSpPr>
          <p:sp>
            <p:nvSpPr>
              <p:cNvPr id="9" name="Freeform 5">
                <a:extLst>
                  <a:ext uri="{FF2B5EF4-FFF2-40B4-BE49-F238E27FC236}">
                    <a16:creationId xmlns:a16="http://schemas.microsoft.com/office/drawing/2014/main" id="{AF3B4CE1-B3FD-993E-CF8A-09715631137C}"/>
                  </a:ext>
                </a:extLst>
              </p:cNvPr>
              <p:cNvSpPr/>
              <p:nvPr/>
            </p:nvSpPr>
            <p:spPr>
              <a:xfrm>
                <a:off x="11334750" y="190500"/>
                <a:ext cx="2667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171450">
                    <a:moveTo>
                      <a:pt x="190500" y="152400"/>
                    </a:moveTo>
                    <a:lnTo>
                      <a:pt x="171450" y="152400"/>
                    </a:lnTo>
                    <a:lnTo>
                      <a:pt x="171450" y="91817"/>
                    </a:lnTo>
                    <a:lnTo>
                      <a:pt x="98246" y="77177"/>
                    </a:lnTo>
                    <a:cubicBezTo>
                      <a:pt x="94999" y="76527"/>
                      <a:pt x="91696" y="76200"/>
                      <a:pt x="88385" y="76200"/>
                    </a:cubicBezTo>
                    <a:cubicBezTo>
                      <a:pt x="60613" y="76200"/>
                      <a:pt x="38100" y="98713"/>
                      <a:pt x="38100" y="126485"/>
                    </a:cubicBezTo>
                    <a:lnTo>
                      <a:pt x="38100" y="171450"/>
                    </a:lnTo>
                    <a:lnTo>
                      <a:pt x="0" y="171450"/>
                    </a:lnTo>
                    <a:lnTo>
                      <a:pt x="0" y="126485"/>
                    </a:lnTo>
                    <a:cubicBezTo>
                      <a:pt x="0" y="77671"/>
                      <a:pt x="39571" y="38100"/>
                      <a:pt x="88385" y="38100"/>
                    </a:cubicBezTo>
                    <a:cubicBezTo>
                      <a:pt x="94205" y="38100"/>
                      <a:pt x="100011" y="38675"/>
                      <a:pt x="105718" y="39816"/>
                    </a:cubicBezTo>
                    <a:lnTo>
                      <a:pt x="171450" y="52963"/>
                    </a:lnTo>
                    <a:lnTo>
                      <a:pt x="171450" y="0"/>
                    </a:lnTo>
                    <a:lnTo>
                      <a:pt x="190500" y="0"/>
                    </a:lnTo>
                    <a:lnTo>
                      <a:pt x="266700" y="76200"/>
                    </a:lnTo>
                    <a:lnTo>
                      <a:pt x="190500" y="152400"/>
                    </a:lnTo>
                    <a:close/>
                  </a:path>
                </a:pathLst>
              </a:custGeom>
              <a:solidFill>
                <a:srgbClr val="5E91BD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" name="Freeform 6">
                <a:extLst>
                  <a:ext uri="{FF2B5EF4-FFF2-40B4-BE49-F238E27FC236}">
                    <a16:creationId xmlns:a16="http://schemas.microsoft.com/office/drawing/2014/main" id="{C1AADFCD-0DEB-F126-E0B5-5F73EC118293}"/>
                  </a:ext>
                </a:extLst>
              </p:cNvPr>
              <p:cNvSpPr/>
              <p:nvPr/>
            </p:nvSpPr>
            <p:spPr>
              <a:xfrm>
                <a:off x="11372850" y="323850"/>
                <a:ext cx="2667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171450">
                    <a:moveTo>
                      <a:pt x="266700" y="0"/>
                    </a:moveTo>
                    <a:lnTo>
                      <a:pt x="266700" y="44965"/>
                    </a:lnTo>
                    <a:cubicBezTo>
                      <a:pt x="266700" y="93779"/>
                      <a:pt x="227129" y="133350"/>
                      <a:pt x="178316" y="133350"/>
                    </a:cubicBezTo>
                    <a:cubicBezTo>
                      <a:pt x="172496" y="133350"/>
                      <a:pt x="166689" y="132775"/>
                      <a:pt x="160982" y="131634"/>
                    </a:cubicBezTo>
                    <a:lnTo>
                      <a:pt x="95250" y="118487"/>
                    </a:lnTo>
                    <a:lnTo>
                      <a:pt x="95250" y="171450"/>
                    </a:lnTo>
                    <a:lnTo>
                      <a:pt x="76200" y="171450"/>
                    </a:lnTo>
                    <a:lnTo>
                      <a:pt x="0" y="95250"/>
                    </a:lnTo>
                    <a:lnTo>
                      <a:pt x="76200" y="19050"/>
                    </a:lnTo>
                    <a:lnTo>
                      <a:pt x="95250" y="19050"/>
                    </a:lnTo>
                    <a:lnTo>
                      <a:pt x="95250" y="79633"/>
                    </a:lnTo>
                    <a:lnTo>
                      <a:pt x="168453" y="94273"/>
                    </a:lnTo>
                    <a:cubicBezTo>
                      <a:pt x="171701" y="94922"/>
                      <a:pt x="175005" y="95250"/>
                      <a:pt x="178316" y="95250"/>
                    </a:cubicBezTo>
                    <a:cubicBezTo>
                      <a:pt x="206087" y="95250"/>
                      <a:pt x="228600" y="72737"/>
                      <a:pt x="228600" y="44965"/>
                    </a:cubicBezTo>
                    <a:lnTo>
                      <a:pt x="228600" y="0"/>
                    </a:lnTo>
                    <a:lnTo>
                      <a:pt x="266700" y="0"/>
                    </a:lnTo>
                    <a:close/>
                  </a:path>
                </a:pathLst>
              </a:custGeom>
              <a:solidFill>
                <a:srgbClr val="5E91BD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13" name="TextBox 12"/>
          <p:cNvSpPr txBox="1"/>
          <p:nvPr/>
        </p:nvSpPr>
        <p:spPr>
          <a:xfrm>
            <a:off x="350000" y="250000"/>
            <a:ext cx="11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5F8FF"/>
                </a:solidFill>
              </a:defRPr>
            </a:pPr>
            <a:r>
              <a:t>Monster 怪物类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49243" y="710306"/>
            <a:ext cx="5600000" cy="5500000"/>
          </a:xfrm>
          <a:prstGeom prst="roundRect">
            <a:avLst/>
          </a:prstGeom>
          <a:solidFill>
            <a:srgbClr val="FAFCFF"/>
          </a:solidFill>
          <a:ln w="12700">
            <a:solidFill>
              <a:srgbClr val="C8D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01516" y="880590"/>
            <a:ext cx="4796969" cy="5039841"/>
          </a:xfrm>
          <a:prstGeom prst="rect">
            <a:avLst/>
          </a:prstGeom>
          <a:noFill/>
        </p:spPr>
        <p:txBody>
          <a:bodyPr wrap="square" lIns="80000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375082"/>
                </a:solidFill>
                <a:latin typeface="Consolas"/>
              </a:defRPr>
            </a:pPr>
            <a:r>
              <a:rPr sz="1100" dirty="0"/>
              <a:t>// </a:t>
            </a:r>
            <a:r>
              <a:rPr sz="1100" dirty="0" err="1"/>
              <a:t>固定路线往返巡逻，时间驱动</a:t>
            </a:r>
            <a:endParaRPr sz="1100" dirty="0"/>
          </a:p>
          <a:p>
            <a:pPr>
              <a:spcAft>
                <a:spcPts val="300"/>
              </a:spcAft>
              <a:defRPr sz="1300">
                <a:solidFill>
                  <a:srgbClr val="375082"/>
                </a:solidFill>
                <a:latin typeface="Consolas"/>
              </a:defRPr>
            </a:pPr>
            <a:r>
              <a:rPr sz="1100" dirty="0"/>
              <a:t>class Monster : public </a:t>
            </a:r>
            <a:r>
              <a:rPr sz="1100" dirty="0" err="1"/>
              <a:t>GameObject</a:t>
            </a:r>
            <a:r>
              <a:rPr sz="1100" dirty="0"/>
              <a:t> {</a:t>
            </a:r>
          </a:p>
          <a:p>
            <a:pPr>
              <a:spcAft>
                <a:spcPts val="300"/>
              </a:spcAft>
              <a:defRPr sz="1300">
                <a:solidFill>
                  <a:srgbClr val="375082"/>
                </a:solidFill>
                <a:latin typeface="Consolas"/>
              </a:defRPr>
            </a:pPr>
            <a:r>
              <a:rPr sz="1100" dirty="0"/>
              <a:t>public:</a:t>
            </a:r>
          </a:p>
          <a:p>
            <a:pPr>
              <a:spcAft>
                <a:spcPts val="300"/>
              </a:spcAft>
              <a:defRPr sz="1300">
                <a:solidFill>
                  <a:srgbClr val="375082"/>
                </a:solidFill>
                <a:latin typeface="Consolas"/>
              </a:defRPr>
            </a:pPr>
            <a:r>
              <a:rPr sz="1100" dirty="0"/>
              <a:t>    Monster(</a:t>
            </a:r>
            <a:r>
              <a:rPr sz="1100" dirty="0" err="1"/>
              <a:t>GridPosition</a:t>
            </a:r>
            <a:r>
              <a:rPr sz="1100" dirty="0"/>
              <a:t> p, vector&lt;</a:t>
            </a:r>
            <a:r>
              <a:rPr sz="1100" dirty="0" err="1"/>
              <a:t>GridPosition</a:t>
            </a:r>
            <a:r>
              <a:rPr sz="1100" dirty="0"/>
              <a:t>&gt; path);</a:t>
            </a:r>
          </a:p>
          <a:p>
            <a:pPr>
              <a:spcAft>
                <a:spcPts val="300"/>
              </a:spcAft>
              <a:defRPr sz="1300">
                <a:solidFill>
                  <a:srgbClr val="375082"/>
                </a:solidFill>
                <a:latin typeface="Consolas"/>
              </a:defRPr>
            </a:pPr>
            <a:r>
              <a:rPr sz="1100" dirty="0"/>
              <a:t>    void update(int dt, const Map&amp; map) override;</a:t>
            </a:r>
          </a:p>
          <a:p>
            <a:pPr>
              <a:spcAft>
                <a:spcPts val="300"/>
              </a:spcAft>
              <a:defRPr sz="1300">
                <a:solidFill>
                  <a:srgbClr val="375082"/>
                </a:solidFill>
                <a:latin typeface="Consolas"/>
              </a:defRPr>
            </a:pPr>
            <a:r>
              <a:rPr sz="1100" dirty="0"/>
              <a:t>    void draw() const override;</a:t>
            </a:r>
          </a:p>
          <a:p>
            <a:pPr>
              <a:spcAft>
                <a:spcPts val="300"/>
              </a:spcAft>
              <a:defRPr sz="1300">
                <a:solidFill>
                  <a:srgbClr val="375082"/>
                </a:solidFill>
                <a:latin typeface="Consolas"/>
              </a:defRPr>
            </a:pPr>
            <a:r>
              <a:rPr sz="1100" dirty="0"/>
              <a:t>private:</a:t>
            </a:r>
          </a:p>
          <a:p>
            <a:pPr>
              <a:spcAft>
                <a:spcPts val="300"/>
              </a:spcAft>
              <a:defRPr sz="1300">
                <a:solidFill>
                  <a:srgbClr val="375082"/>
                </a:solidFill>
                <a:latin typeface="Consolas"/>
              </a:defRPr>
            </a:pPr>
            <a:r>
              <a:rPr sz="1100" dirty="0"/>
              <a:t>    vector&lt;</a:t>
            </a:r>
            <a:r>
              <a:rPr sz="1100" dirty="0" err="1"/>
              <a:t>GridPosition</a:t>
            </a:r>
            <a:r>
              <a:rPr sz="1100" dirty="0"/>
              <a:t>&gt; route;</a:t>
            </a:r>
          </a:p>
          <a:p>
            <a:pPr>
              <a:spcAft>
                <a:spcPts val="300"/>
              </a:spcAft>
              <a:defRPr sz="1300">
                <a:solidFill>
                  <a:srgbClr val="375082"/>
                </a:solidFill>
                <a:latin typeface="Consolas"/>
              </a:defRPr>
            </a:pPr>
            <a:r>
              <a:rPr sz="1100" dirty="0"/>
              <a:t>    int </a:t>
            </a:r>
            <a:r>
              <a:rPr sz="1100" dirty="0" err="1"/>
              <a:t>routeId</a:t>
            </a:r>
            <a:r>
              <a:rPr sz="1100" dirty="0"/>
              <a:t> = 0;</a:t>
            </a:r>
          </a:p>
          <a:p>
            <a:pPr>
              <a:spcAft>
                <a:spcPts val="300"/>
              </a:spcAft>
              <a:defRPr sz="1300">
                <a:solidFill>
                  <a:srgbClr val="375082"/>
                </a:solidFill>
                <a:latin typeface="Consolas"/>
              </a:defRPr>
            </a:pPr>
            <a:r>
              <a:rPr sz="1100" dirty="0"/>
              <a:t>    int </a:t>
            </a:r>
            <a:r>
              <a:rPr sz="1100" dirty="0" err="1"/>
              <a:t>moveTime</a:t>
            </a:r>
            <a:r>
              <a:rPr sz="1100" dirty="0"/>
              <a:t> = 0;</a:t>
            </a:r>
          </a:p>
          <a:p>
            <a:pPr>
              <a:spcAft>
                <a:spcPts val="300"/>
              </a:spcAft>
              <a:defRPr sz="1300">
                <a:solidFill>
                  <a:srgbClr val="375082"/>
                </a:solidFill>
                <a:latin typeface="Consolas"/>
              </a:defRPr>
            </a:pPr>
            <a:r>
              <a:rPr sz="1100" dirty="0"/>
              <a:t>    static const int MOVE_TIME = 450;</a:t>
            </a:r>
          </a:p>
          <a:p>
            <a:pPr>
              <a:spcAft>
                <a:spcPts val="300"/>
              </a:spcAft>
              <a:defRPr sz="1300">
                <a:solidFill>
                  <a:srgbClr val="375082"/>
                </a:solidFill>
                <a:latin typeface="Consolas"/>
              </a:defRPr>
            </a:pPr>
            <a:r>
              <a:rPr sz="1100" dirty="0"/>
              <a:t>};</a:t>
            </a:r>
          </a:p>
          <a:p>
            <a:pPr>
              <a:spcAft>
                <a:spcPts val="300"/>
              </a:spcAft>
              <a:defRPr sz="1300">
                <a:solidFill>
                  <a:srgbClr val="375082"/>
                </a:solidFill>
                <a:latin typeface="Consolas"/>
              </a:defRPr>
            </a:pPr>
            <a:endParaRPr sz="1100" dirty="0"/>
          </a:p>
          <a:p>
            <a:pPr>
              <a:spcAft>
                <a:spcPts val="300"/>
              </a:spcAft>
              <a:defRPr sz="1300">
                <a:solidFill>
                  <a:srgbClr val="375082"/>
                </a:solidFill>
                <a:latin typeface="Consolas"/>
              </a:defRPr>
            </a:pPr>
            <a:r>
              <a:rPr sz="1100" dirty="0"/>
              <a:t>void Monster::update(int dt, const Map&amp; map) {</a:t>
            </a:r>
          </a:p>
          <a:p>
            <a:pPr>
              <a:spcAft>
                <a:spcPts val="300"/>
              </a:spcAft>
              <a:defRPr sz="1300">
                <a:solidFill>
                  <a:srgbClr val="375082"/>
                </a:solidFill>
                <a:latin typeface="Consolas"/>
              </a:defRPr>
            </a:pPr>
            <a:r>
              <a:rPr sz="1100" dirty="0"/>
              <a:t>    if (!active || </a:t>
            </a:r>
            <a:r>
              <a:rPr sz="1100" dirty="0" err="1"/>
              <a:t>route.empty</a:t>
            </a:r>
            <a:r>
              <a:rPr sz="1100" dirty="0"/>
              <a:t>()) return;</a:t>
            </a:r>
          </a:p>
          <a:p>
            <a:pPr>
              <a:spcAft>
                <a:spcPts val="300"/>
              </a:spcAft>
              <a:defRPr sz="1300">
                <a:solidFill>
                  <a:srgbClr val="375082"/>
                </a:solidFill>
                <a:latin typeface="Consolas"/>
              </a:defRPr>
            </a:pPr>
            <a:r>
              <a:rPr sz="1100" dirty="0"/>
              <a:t>    </a:t>
            </a:r>
            <a:r>
              <a:rPr sz="1100" dirty="0" err="1"/>
              <a:t>moveTime</a:t>
            </a:r>
            <a:r>
              <a:rPr sz="1100" dirty="0"/>
              <a:t> += dt;</a:t>
            </a:r>
          </a:p>
          <a:p>
            <a:pPr>
              <a:spcAft>
                <a:spcPts val="300"/>
              </a:spcAft>
              <a:defRPr sz="1300">
                <a:solidFill>
                  <a:srgbClr val="375082"/>
                </a:solidFill>
                <a:latin typeface="Consolas"/>
              </a:defRPr>
            </a:pPr>
            <a:r>
              <a:rPr sz="1100" dirty="0"/>
              <a:t>    while (</a:t>
            </a:r>
            <a:r>
              <a:rPr sz="1100" dirty="0" err="1"/>
              <a:t>moveTime</a:t>
            </a:r>
            <a:r>
              <a:rPr sz="1100" dirty="0"/>
              <a:t> &gt;= MOVE_TIME) {</a:t>
            </a:r>
          </a:p>
          <a:p>
            <a:pPr>
              <a:spcAft>
                <a:spcPts val="300"/>
              </a:spcAft>
              <a:defRPr sz="1300">
                <a:solidFill>
                  <a:srgbClr val="375082"/>
                </a:solidFill>
                <a:latin typeface="Consolas"/>
              </a:defRPr>
            </a:pPr>
            <a:r>
              <a:rPr sz="1100" dirty="0"/>
              <a:t>        </a:t>
            </a:r>
            <a:r>
              <a:rPr sz="1100" dirty="0" err="1"/>
              <a:t>moveTime</a:t>
            </a:r>
            <a:r>
              <a:rPr sz="1100" dirty="0"/>
              <a:t> -= MOVE_TIME;</a:t>
            </a:r>
          </a:p>
          <a:p>
            <a:pPr>
              <a:spcAft>
                <a:spcPts val="300"/>
              </a:spcAft>
              <a:defRPr sz="1300">
                <a:solidFill>
                  <a:srgbClr val="375082"/>
                </a:solidFill>
                <a:latin typeface="Consolas"/>
              </a:defRPr>
            </a:pPr>
            <a:r>
              <a:rPr sz="1100" dirty="0"/>
              <a:t>        int next = (</a:t>
            </a:r>
            <a:r>
              <a:rPr sz="1100" dirty="0" err="1"/>
              <a:t>routeId</a:t>
            </a:r>
            <a:r>
              <a:rPr sz="1100" dirty="0"/>
              <a:t> + 1) % </a:t>
            </a:r>
            <a:r>
              <a:rPr sz="1100" dirty="0" err="1"/>
              <a:t>route.size</a:t>
            </a:r>
            <a:r>
              <a:rPr sz="1100" dirty="0"/>
              <a:t>();</a:t>
            </a:r>
          </a:p>
          <a:p>
            <a:pPr>
              <a:spcAft>
                <a:spcPts val="300"/>
              </a:spcAft>
              <a:defRPr sz="1300">
                <a:solidFill>
                  <a:srgbClr val="375082"/>
                </a:solidFill>
                <a:latin typeface="Consolas"/>
              </a:defRPr>
            </a:pPr>
            <a:r>
              <a:rPr sz="1100" dirty="0"/>
              <a:t>        if (</a:t>
            </a:r>
            <a:r>
              <a:rPr sz="1100" dirty="0" err="1"/>
              <a:t>map.canWalk</a:t>
            </a:r>
            <a:r>
              <a:rPr sz="1100" dirty="0"/>
              <a:t>(route[next])) {</a:t>
            </a:r>
          </a:p>
          <a:p>
            <a:pPr>
              <a:spcAft>
                <a:spcPts val="300"/>
              </a:spcAft>
              <a:defRPr sz="1300">
                <a:solidFill>
                  <a:srgbClr val="375082"/>
                </a:solidFill>
                <a:latin typeface="Consolas"/>
              </a:defRPr>
            </a:pPr>
            <a:r>
              <a:rPr sz="1100" dirty="0"/>
              <a:t>            </a:t>
            </a:r>
            <a:r>
              <a:rPr sz="1100" dirty="0" err="1"/>
              <a:t>routeId</a:t>
            </a:r>
            <a:r>
              <a:rPr sz="1100" dirty="0"/>
              <a:t> = next; pos = route[</a:t>
            </a:r>
            <a:r>
              <a:rPr sz="1100" dirty="0" err="1"/>
              <a:t>routeId</a:t>
            </a:r>
            <a:r>
              <a:rPr sz="1100" dirty="0"/>
              <a:t>];</a:t>
            </a:r>
          </a:p>
          <a:p>
            <a:pPr>
              <a:spcAft>
                <a:spcPts val="300"/>
              </a:spcAft>
              <a:defRPr sz="1300">
                <a:solidFill>
                  <a:srgbClr val="375082"/>
                </a:solidFill>
                <a:latin typeface="Consolas"/>
              </a:defRPr>
            </a:pPr>
            <a:r>
              <a:rPr sz="1100" dirty="0"/>
              <a:t>        }</a:t>
            </a:r>
          </a:p>
          <a:p>
            <a:pPr>
              <a:spcAft>
                <a:spcPts val="300"/>
              </a:spcAft>
              <a:defRPr sz="1300">
                <a:solidFill>
                  <a:srgbClr val="375082"/>
                </a:solidFill>
                <a:latin typeface="Consolas"/>
              </a:defRPr>
            </a:pPr>
            <a:r>
              <a:rPr sz="1100" dirty="0"/>
              <a:t>    }</a:t>
            </a:r>
          </a:p>
          <a:p>
            <a:pPr>
              <a:spcAft>
                <a:spcPts val="300"/>
              </a:spcAft>
              <a:defRPr sz="1300">
                <a:solidFill>
                  <a:srgbClr val="375082"/>
                </a:solidFill>
                <a:latin typeface="Consolas"/>
              </a:defRPr>
            </a:pPr>
            <a:r>
              <a:rPr sz="1100" dirty="0"/>
              <a:t>}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00000" y="850000"/>
            <a:ext cx="5800000" cy="5500000"/>
          </a:xfrm>
          <a:prstGeom prst="roundRect">
            <a:avLst/>
          </a:prstGeom>
          <a:solidFill>
            <a:srgbClr val="FAFCFF"/>
          </a:solidFill>
          <a:ln w="12700">
            <a:solidFill>
              <a:srgbClr val="C8D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25348" y="1098506"/>
            <a:ext cx="5274652" cy="4606389"/>
          </a:xfrm>
          <a:prstGeom prst="rect">
            <a:avLst/>
          </a:prstGeom>
          <a:noFill/>
        </p:spPr>
        <p:txBody>
          <a:bodyPr wrap="square" lIns="80000">
            <a:spAutoFit/>
          </a:bodyPr>
          <a:lstStyle/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  <a:defRPr sz="1400">
                <a:solidFill>
                  <a:srgbClr val="3C465A"/>
                </a:solidFill>
              </a:defRPr>
            </a:pPr>
            <a:r>
              <a:rPr lang="zh-CN" altLang="zh-CN" sz="2000" dirty="0"/>
              <a:t>每个怪物创建时被赋予一条固定路线，存放在 vector&lt;GridPosition&gt; route</a:t>
            </a:r>
            <a:endParaRPr lang="en-US" altLang="zh-CN" sz="2000" dirty="0"/>
          </a:p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  <a:defRPr sz="1400">
                <a:solidFill>
                  <a:srgbClr val="3C465A"/>
                </a:solidFill>
              </a:defRPr>
            </a:pPr>
            <a:endParaRPr lang="en-US" altLang="zh-CN" sz="2000" dirty="0"/>
          </a:p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  <a:defRPr sz="1400">
                <a:solidFill>
                  <a:srgbClr val="3C465A"/>
                </a:solidFill>
              </a:defRPr>
            </a:pPr>
            <a:r>
              <a:rPr lang="zh-CN" altLang="zh-CN" sz="2000" dirty="0"/>
              <a:t>用 routeId 跟踪当前位置，(routeId + 1) % route.size() 实现往返循环</a:t>
            </a:r>
            <a:endParaRPr lang="en-US" altLang="zh-CN" sz="2000" dirty="0"/>
          </a:p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  <a:defRPr sz="1400">
                <a:solidFill>
                  <a:srgbClr val="3C465A"/>
                </a:solidFill>
              </a:defRPr>
            </a:pPr>
            <a:endParaRPr lang="en-US" altLang="zh-CN" sz="2000" dirty="0"/>
          </a:p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  <a:defRPr sz="1400">
                <a:solidFill>
                  <a:srgbClr val="3C465A"/>
                </a:solidFill>
              </a:defRPr>
            </a:pPr>
            <a:r>
              <a:rPr lang="zh-CN" altLang="zh-CN" sz="2000" dirty="0"/>
              <a:t>时间驱动：moveTime 累加每帧的 dt，达到 </a:t>
            </a:r>
            <a:r>
              <a:rPr lang="zh-CN" altLang="zh-CN" sz="2000" b="1" dirty="0"/>
              <a:t>450ms</a:t>
            </a:r>
            <a:r>
              <a:rPr lang="zh-CN" altLang="zh-CN" sz="2000" dirty="0"/>
              <a:t> 才走一步，使移动速度与帧率无关</a:t>
            </a:r>
            <a:endParaRPr lang="en-US" altLang="zh-CN" sz="2000" dirty="0"/>
          </a:p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  <a:defRPr sz="1400">
                <a:solidFill>
                  <a:srgbClr val="3C465A"/>
                </a:solidFill>
              </a:defRPr>
            </a:pPr>
            <a:endParaRPr lang="en-US" altLang="zh-CN" sz="2000" dirty="0"/>
          </a:p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  <a:defRPr sz="1400">
                <a:solidFill>
                  <a:srgbClr val="3C465A"/>
                </a:solidFill>
              </a:defRPr>
            </a:pPr>
            <a:r>
              <a:rPr lang="zh-CN" altLang="zh-CN" sz="2000" dirty="0"/>
              <a:t>用 while 而不是 if 累加 dt，防止卡顿时一口气走多步</a:t>
            </a:r>
            <a:endParaRPr lang="en-US" altLang="zh-CN" sz="2000" dirty="0"/>
          </a:p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  <a:defRPr sz="1400">
                <a:solidFill>
                  <a:srgbClr val="3C465A"/>
                </a:solidFill>
              </a:defRPr>
            </a:pPr>
            <a:endParaRPr lang="en-US" altLang="zh-CN" sz="2000" dirty="0"/>
          </a:p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  <a:defRPr sz="1400">
                <a:solidFill>
                  <a:srgbClr val="3C465A"/>
                </a:solidFill>
              </a:defRPr>
            </a:pPr>
            <a:r>
              <a:rPr lang="zh-CN" altLang="zh-CN" sz="2000" dirty="0"/>
              <a:t>如果路线上的砖块还没炸开（map.canWalk 返回 false），怪物原地等待</a:t>
            </a:r>
            <a:endParaRPr sz="2000" dirty="0"/>
          </a:p>
        </p:txBody>
      </p:sp>
      <p:sp>
        <p:nvSpPr>
          <p:cNvPr id="2" name="TextBox 19">
            <a:extLst>
              <a:ext uri="{FF2B5EF4-FFF2-40B4-BE49-F238E27FC236}">
                <a16:creationId xmlns:a16="http://schemas.microsoft.com/office/drawing/2014/main" id="{7AEBE63D-0FFB-0E3F-7101-A075EB47417C}"/>
              </a:ext>
            </a:extLst>
          </p:cNvPr>
          <p:cNvSpPr txBox="1"/>
          <p:nvPr/>
        </p:nvSpPr>
        <p:spPr>
          <a:xfrm>
            <a:off x="11329498" y="6410325"/>
            <a:ext cx="214802" cy="2308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altLang="zh-CN" sz="1500" dirty="0">
                <a:solidFill>
                  <a:srgbClr val="66788A"/>
                </a:solidFill>
                <a:latin typeface="Arial"/>
                <a:ea typeface="Microsoft YaHei"/>
                <a:cs typeface="Arial"/>
              </a:rPr>
              <a:t>08</a:t>
            </a:r>
            <a:endParaRPr lang="zh-CN" sz="1500" dirty="0">
              <a:solidFill>
                <a:srgbClr val="66788A"/>
              </a:solidFill>
              <a:latin typeface="Arial"/>
              <a:ea typeface="Microsoft YaHei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830912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9B6CEA-FD30-FAFF-AAB1-2F5AA77DDE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1E7303CB-4EE9-ABAD-34E6-018DBFCA0BED}"/>
              </a:ext>
            </a:extLst>
          </p:cNvPr>
          <p:cNvSpPr/>
          <p:nvPr/>
        </p:nvSpPr>
        <p:spPr>
          <a:xfrm>
            <a:off x="-4146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5" name="Group 8">
            <a:extLst>
              <a:ext uri="{FF2B5EF4-FFF2-40B4-BE49-F238E27FC236}">
                <a16:creationId xmlns:a16="http://schemas.microsoft.com/office/drawing/2014/main" id="{F46ABEEC-E1E4-A364-2F81-9ADD542064B8}"/>
              </a:ext>
            </a:extLst>
          </p:cNvPr>
          <p:cNvGrpSpPr/>
          <p:nvPr/>
        </p:nvGrpSpPr>
        <p:grpSpPr>
          <a:xfrm>
            <a:off x="0" y="0"/>
            <a:ext cx="12192000" cy="647700"/>
            <a:chOff x="0" y="0"/>
            <a:chExt cx="12192000" cy="647700"/>
          </a:xfrm>
        </p:grpSpPr>
        <p:sp>
          <p:nvSpPr>
            <p:cNvPr id="6" name="Rectangle 3">
              <a:extLst>
                <a:ext uri="{FF2B5EF4-FFF2-40B4-BE49-F238E27FC236}">
                  <a16:creationId xmlns:a16="http://schemas.microsoft.com/office/drawing/2014/main" id="{6C35C4F1-7535-16BC-809B-F1475A30CFE0}"/>
                </a:ext>
              </a:extLst>
            </p:cNvPr>
            <p:cNvSpPr/>
            <p:nvPr/>
          </p:nvSpPr>
          <p:spPr>
            <a:xfrm>
              <a:off x="0" y="0"/>
              <a:ext cx="12192000" cy="647700"/>
            </a:xfrm>
            <a:prstGeom prst="rect">
              <a:avLst/>
            </a:prstGeom>
            <a:solidFill>
              <a:srgbClr val="1E4268"/>
            </a:solidFill>
            <a:ln>
              <a:noFill/>
            </a:ln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7" name="TextBox 4">
              <a:extLst>
                <a:ext uri="{FF2B5EF4-FFF2-40B4-BE49-F238E27FC236}">
                  <a16:creationId xmlns:a16="http://schemas.microsoft.com/office/drawing/2014/main" id="{08327244-F8E0-C449-760B-A4B84ACA5AC1}"/>
                </a:ext>
              </a:extLst>
            </p:cNvPr>
            <p:cNvSpPr txBox="1"/>
            <p:nvPr/>
          </p:nvSpPr>
          <p:spPr>
            <a:xfrm>
              <a:off x="539115" y="162878"/>
              <a:ext cx="65" cy="3924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endParaRPr lang="zh-CN" sz="25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endParaRPr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47225845-CDE8-D86B-CE70-BA5322392782}"/>
                </a:ext>
              </a:extLst>
            </p:cNvPr>
            <p:cNvGrpSpPr/>
            <p:nvPr/>
          </p:nvGrpSpPr>
          <p:grpSpPr>
            <a:xfrm>
              <a:off x="11334750" y="190500"/>
              <a:ext cx="304800" cy="304800"/>
              <a:chOff x="11334750" y="190500"/>
              <a:chExt cx="304800" cy="304800"/>
            </a:xfrm>
          </p:grpSpPr>
          <p:sp>
            <p:nvSpPr>
              <p:cNvPr id="9" name="Freeform 5">
                <a:extLst>
                  <a:ext uri="{FF2B5EF4-FFF2-40B4-BE49-F238E27FC236}">
                    <a16:creationId xmlns:a16="http://schemas.microsoft.com/office/drawing/2014/main" id="{273A48F8-34F3-0F66-F91D-4E4047B3DF64}"/>
                  </a:ext>
                </a:extLst>
              </p:cNvPr>
              <p:cNvSpPr/>
              <p:nvPr/>
            </p:nvSpPr>
            <p:spPr>
              <a:xfrm>
                <a:off x="11334750" y="190500"/>
                <a:ext cx="2667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171450">
                    <a:moveTo>
                      <a:pt x="190500" y="152400"/>
                    </a:moveTo>
                    <a:lnTo>
                      <a:pt x="171450" y="152400"/>
                    </a:lnTo>
                    <a:lnTo>
                      <a:pt x="171450" y="91817"/>
                    </a:lnTo>
                    <a:lnTo>
                      <a:pt x="98246" y="77177"/>
                    </a:lnTo>
                    <a:cubicBezTo>
                      <a:pt x="94999" y="76527"/>
                      <a:pt x="91696" y="76200"/>
                      <a:pt x="88385" y="76200"/>
                    </a:cubicBezTo>
                    <a:cubicBezTo>
                      <a:pt x="60613" y="76200"/>
                      <a:pt x="38100" y="98713"/>
                      <a:pt x="38100" y="126485"/>
                    </a:cubicBezTo>
                    <a:lnTo>
                      <a:pt x="38100" y="171450"/>
                    </a:lnTo>
                    <a:lnTo>
                      <a:pt x="0" y="171450"/>
                    </a:lnTo>
                    <a:lnTo>
                      <a:pt x="0" y="126485"/>
                    </a:lnTo>
                    <a:cubicBezTo>
                      <a:pt x="0" y="77671"/>
                      <a:pt x="39571" y="38100"/>
                      <a:pt x="88385" y="38100"/>
                    </a:cubicBezTo>
                    <a:cubicBezTo>
                      <a:pt x="94205" y="38100"/>
                      <a:pt x="100011" y="38675"/>
                      <a:pt x="105718" y="39816"/>
                    </a:cubicBezTo>
                    <a:lnTo>
                      <a:pt x="171450" y="52963"/>
                    </a:lnTo>
                    <a:lnTo>
                      <a:pt x="171450" y="0"/>
                    </a:lnTo>
                    <a:lnTo>
                      <a:pt x="190500" y="0"/>
                    </a:lnTo>
                    <a:lnTo>
                      <a:pt x="266700" y="76200"/>
                    </a:lnTo>
                    <a:lnTo>
                      <a:pt x="190500" y="152400"/>
                    </a:lnTo>
                    <a:close/>
                  </a:path>
                </a:pathLst>
              </a:custGeom>
              <a:solidFill>
                <a:srgbClr val="5E91BD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" name="Freeform 6">
                <a:extLst>
                  <a:ext uri="{FF2B5EF4-FFF2-40B4-BE49-F238E27FC236}">
                    <a16:creationId xmlns:a16="http://schemas.microsoft.com/office/drawing/2014/main" id="{8A0BB6EE-4EA9-4D14-62BB-0DAFD4BEB441}"/>
                  </a:ext>
                </a:extLst>
              </p:cNvPr>
              <p:cNvSpPr/>
              <p:nvPr/>
            </p:nvSpPr>
            <p:spPr>
              <a:xfrm>
                <a:off x="11372850" y="323850"/>
                <a:ext cx="2667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171450">
                    <a:moveTo>
                      <a:pt x="266700" y="0"/>
                    </a:moveTo>
                    <a:lnTo>
                      <a:pt x="266700" y="44965"/>
                    </a:lnTo>
                    <a:cubicBezTo>
                      <a:pt x="266700" y="93779"/>
                      <a:pt x="227129" y="133350"/>
                      <a:pt x="178316" y="133350"/>
                    </a:cubicBezTo>
                    <a:cubicBezTo>
                      <a:pt x="172496" y="133350"/>
                      <a:pt x="166689" y="132775"/>
                      <a:pt x="160982" y="131634"/>
                    </a:cubicBezTo>
                    <a:lnTo>
                      <a:pt x="95250" y="118487"/>
                    </a:lnTo>
                    <a:lnTo>
                      <a:pt x="95250" y="171450"/>
                    </a:lnTo>
                    <a:lnTo>
                      <a:pt x="76200" y="171450"/>
                    </a:lnTo>
                    <a:lnTo>
                      <a:pt x="0" y="95250"/>
                    </a:lnTo>
                    <a:lnTo>
                      <a:pt x="76200" y="19050"/>
                    </a:lnTo>
                    <a:lnTo>
                      <a:pt x="95250" y="19050"/>
                    </a:lnTo>
                    <a:lnTo>
                      <a:pt x="95250" y="79633"/>
                    </a:lnTo>
                    <a:lnTo>
                      <a:pt x="168453" y="94273"/>
                    </a:lnTo>
                    <a:cubicBezTo>
                      <a:pt x="171701" y="94922"/>
                      <a:pt x="175005" y="95250"/>
                      <a:pt x="178316" y="95250"/>
                    </a:cubicBezTo>
                    <a:cubicBezTo>
                      <a:pt x="206087" y="95250"/>
                      <a:pt x="228600" y="72737"/>
                      <a:pt x="228600" y="44965"/>
                    </a:cubicBezTo>
                    <a:lnTo>
                      <a:pt x="228600" y="0"/>
                    </a:lnTo>
                    <a:lnTo>
                      <a:pt x="266700" y="0"/>
                    </a:lnTo>
                    <a:close/>
                  </a:path>
                </a:pathLst>
              </a:custGeom>
              <a:solidFill>
                <a:srgbClr val="5E91BD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13" name="TextBox 12"/>
          <p:cNvSpPr txBox="1"/>
          <p:nvPr/>
        </p:nvSpPr>
        <p:spPr>
          <a:xfrm>
            <a:off x="350000" y="250000"/>
            <a:ext cx="11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5F8FF"/>
                </a:solidFill>
              </a:defRPr>
            </a:pPr>
            <a:r>
              <a:t>Bomb 炸弹类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00000" y="850000"/>
            <a:ext cx="5600000" cy="5500000"/>
          </a:xfrm>
          <a:prstGeom prst="roundRect">
            <a:avLst/>
          </a:prstGeom>
          <a:solidFill>
            <a:srgbClr val="FAFCFF"/>
          </a:solidFill>
          <a:ln w="12700">
            <a:solidFill>
              <a:srgbClr val="C8D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39180" y="1227382"/>
            <a:ext cx="5110820" cy="3116238"/>
          </a:xfrm>
          <a:prstGeom prst="rect">
            <a:avLst/>
          </a:prstGeom>
          <a:noFill/>
        </p:spPr>
        <p:txBody>
          <a:bodyPr wrap="square" lIns="80000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375082"/>
                </a:solidFill>
                <a:latin typeface="Consolas"/>
              </a:defRPr>
            </a:pPr>
            <a:r>
              <a:rPr dirty="0"/>
              <a:t>// </a:t>
            </a:r>
            <a:r>
              <a:rPr dirty="0" err="1"/>
              <a:t>倒计时</a:t>
            </a:r>
            <a:r>
              <a:rPr dirty="0"/>
              <a:t> 2 </a:t>
            </a:r>
            <a:r>
              <a:rPr dirty="0" err="1"/>
              <a:t>秒，由</a:t>
            </a:r>
            <a:r>
              <a:rPr dirty="0"/>
              <a:t> Game </a:t>
            </a:r>
            <a:r>
              <a:rPr dirty="0" err="1"/>
              <a:t>统一引爆</a:t>
            </a:r>
            <a:endParaRPr dirty="0"/>
          </a:p>
          <a:p>
            <a:pPr>
              <a:spcAft>
                <a:spcPts val="300"/>
              </a:spcAft>
              <a:defRPr sz="1300">
                <a:solidFill>
                  <a:srgbClr val="375082"/>
                </a:solidFill>
                <a:latin typeface="Consolas"/>
              </a:defRPr>
            </a:pPr>
            <a:r>
              <a:rPr dirty="0"/>
              <a:t>class Bomb : public </a:t>
            </a:r>
            <a:r>
              <a:rPr dirty="0" err="1"/>
              <a:t>GameObject</a:t>
            </a:r>
            <a:r>
              <a:rPr dirty="0"/>
              <a:t> {</a:t>
            </a:r>
          </a:p>
          <a:p>
            <a:pPr>
              <a:spcAft>
                <a:spcPts val="300"/>
              </a:spcAft>
              <a:defRPr sz="1300">
                <a:solidFill>
                  <a:srgbClr val="375082"/>
                </a:solidFill>
                <a:latin typeface="Consolas"/>
              </a:defRPr>
            </a:pPr>
            <a:r>
              <a:rPr dirty="0"/>
              <a:t>public:</a:t>
            </a:r>
          </a:p>
          <a:p>
            <a:pPr>
              <a:spcAft>
                <a:spcPts val="300"/>
              </a:spcAft>
              <a:defRPr sz="1300">
                <a:solidFill>
                  <a:srgbClr val="375082"/>
                </a:solidFill>
                <a:latin typeface="Consolas"/>
              </a:defRPr>
            </a:pPr>
            <a:r>
              <a:rPr dirty="0"/>
              <a:t>    Bomb(</a:t>
            </a:r>
            <a:r>
              <a:rPr dirty="0" err="1"/>
              <a:t>GridPosition</a:t>
            </a:r>
            <a:r>
              <a:rPr dirty="0"/>
              <a:t> p);</a:t>
            </a:r>
          </a:p>
          <a:p>
            <a:pPr>
              <a:spcAft>
                <a:spcPts val="300"/>
              </a:spcAft>
              <a:defRPr sz="1300">
                <a:solidFill>
                  <a:srgbClr val="375082"/>
                </a:solidFill>
                <a:latin typeface="Consolas"/>
              </a:defRPr>
            </a:pPr>
            <a:r>
              <a:rPr dirty="0"/>
              <a:t>    void update(int dt, const Map&amp; map) override;</a:t>
            </a:r>
          </a:p>
          <a:p>
            <a:pPr>
              <a:spcAft>
                <a:spcPts val="300"/>
              </a:spcAft>
              <a:defRPr sz="1300">
                <a:solidFill>
                  <a:srgbClr val="375082"/>
                </a:solidFill>
                <a:latin typeface="Consolas"/>
              </a:defRPr>
            </a:pPr>
            <a:r>
              <a:rPr dirty="0"/>
              <a:t>    void draw() const override;</a:t>
            </a:r>
          </a:p>
          <a:p>
            <a:pPr>
              <a:spcAft>
                <a:spcPts val="300"/>
              </a:spcAft>
              <a:defRPr sz="1300">
                <a:solidFill>
                  <a:srgbClr val="375082"/>
                </a:solidFill>
                <a:latin typeface="Consolas"/>
              </a:defRPr>
            </a:pPr>
            <a:r>
              <a:rPr dirty="0"/>
              <a:t>    bool </a:t>
            </a:r>
            <a:r>
              <a:rPr dirty="0" err="1"/>
              <a:t>isReady</a:t>
            </a:r>
            <a:r>
              <a:rPr dirty="0"/>
              <a:t>() const { return timer &gt;= FUSE_TIME; }</a:t>
            </a:r>
          </a:p>
          <a:p>
            <a:pPr>
              <a:spcAft>
                <a:spcPts val="300"/>
              </a:spcAft>
              <a:defRPr sz="1300">
                <a:solidFill>
                  <a:srgbClr val="375082"/>
                </a:solidFill>
                <a:latin typeface="Consolas"/>
              </a:defRPr>
            </a:pPr>
            <a:r>
              <a:rPr dirty="0"/>
              <a:t>    int </a:t>
            </a:r>
            <a:r>
              <a:rPr dirty="0" err="1"/>
              <a:t>getSeconds</a:t>
            </a:r>
            <a:r>
              <a:rPr dirty="0"/>
              <a:t>() const;</a:t>
            </a:r>
          </a:p>
          <a:p>
            <a:pPr>
              <a:spcAft>
                <a:spcPts val="300"/>
              </a:spcAft>
              <a:defRPr sz="1300">
                <a:solidFill>
                  <a:srgbClr val="375082"/>
                </a:solidFill>
                <a:latin typeface="Consolas"/>
              </a:defRPr>
            </a:pPr>
            <a:r>
              <a:rPr dirty="0"/>
              <a:t>private:</a:t>
            </a:r>
          </a:p>
          <a:p>
            <a:pPr>
              <a:spcAft>
                <a:spcPts val="300"/>
              </a:spcAft>
              <a:defRPr sz="1300">
                <a:solidFill>
                  <a:srgbClr val="375082"/>
                </a:solidFill>
                <a:latin typeface="Consolas"/>
              </a:defRPr>
            </a:pPr>
            <a:r>
              <a:rPr dirty="0"/>
              <a:t>    int timer = 0;</a:t>
            </a:r>
          </a:p>
          <a:p>
            <a:pPr>
              <a:spcAft>
                <a:spcPts val="300"/>
              </a:spcAft>
              <a:defRPr sz="1300">
                <a:solidFill>
                  <a:srgbClr val="375082"/>
                </a:solidFill>
                <a:latin typeface="Consolas"/>
              </a:defRPr>
            </a:pPr>
            <a:r>
              <a:rPr dirty="0"/>
              <a:t>    static const int FUSE_TIME = 2000;</a:t>
            </a:r>
          </a:p>
          <a:p>
            <a:pPr>
              <a:spcAft>
                <a:spcPts val="300"/>
              </a:spcAft>
              <a:defRPr sz="1300">
                <a:solidFill>
                  <a:srgbClr val="375082"/>
                </a:solidFill>
                <a:latin typeface="Consolas"/>
              </a:defRPr>
            </a:pPr>
            <a:r>
              <a:rPr dirty="0"/>
              <a:t>};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00000" y="850000"/>
            <a:ext cx="5800000" cy="5500000"/>
          </a:xfrm>
          <a:prstGeom prst="roundRect">
            <a:avLst/>
          </a:prstGeom>
          <a:solidFill>
            <a:srgbClr val="FAFCFF"/>
          </a:solidFill>
          <a:ln w="12700">
            <a:solidFill>
              <a:srgbClr val="C8D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11264" y="1227382"/>
            <a:ext cx="5188736" cy="3939540"/>
          </a:xfrm>
          <a:prstGeom prst="rect">
            <a:avLst/>
          </a:prstGeom>
          <a:noFill/>
        </p:spPr>
        <p:txBody>
          <a:bodyPr wrap="square" lIns="80000">
            <a:spAutoFit/>
          </a:bodyPr>
          <a:lstStyle/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  <a:defRPr sz="1400">
                <a:solidFill>
                  <a:srgbClr val="3C465A"/>
                </a:solidFill>
              </a:defRPr>
            </a:pPr>
            <a:r>
              <a:rPr lang="zh-CN" altLang="zh-CN" sz="2000" dirty="0">
                <a:latin typeface="宋体 (正文)"/>
              </a:rPr>
              <a:t>设置 </a:t>
            </a:r>
            <a:r>
              <a:rPr lang="zh-CN" altLang="zh-CN" sz="2000" b="1" dirty="0">
                <a:latin typeface="宋体 (正文)"/>
              </a:rPr>
              <a:t>2 秒</a:t>
            </a:r>
            <a:r>
              <a:rPr lang="zh-CN" altLang="zh-CN" sz="2000" dirty="0">
                <a:latin typeface="宋体 (正文)"/>
              </a:rPr>
              <a:t>引信（FUSE_TIME = 2000），timer 累加每帧 dt</a:t>
            </a:r>
            <a:endParaRPr lang="en-US" altLang="zh-CN" sz="2000" dirty="0">
              <a:latin typeface="宋体 (正文)"/>
            </a:endParaRPr>
          </a:p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  <a:defRPr sz="1400">
                <a:solidFill>
                  <a:srgbClr val="3C465A"/>
                </a:solidFill>
              </a:defRPr>
            </a:pPr>
            <a:endParaRPr lang="en-US" altLang="zh-CN" sz="2000" dirty="0">
              <a:latin typeface="宋体 (正文)"/>
            </a:endParaRPr>
          </a:p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  <a:defRPr sz="1400">
                <a:solidFill>
                  <a:srgbClr val="3C465A"/>
                </a:solidFill>
              </a:defRPr>
            </a:pPr>
            <a:r>
              <a:rPr lang="zh-CN" altLang="zh-CN" sz="2000" dirty="0">
                <a:latin typeface="宋体 (正文)"/>
              </a:rPr>
              <a:t>isReady() 返回 timer &gt;= FUSE_TIME，由 Game 在 update() 中调用，统一处理引爆时机</a:t>
            </a:r>
            <a:endParaRPr lang="en-US" altLang="zh-CN" sz="2000" dirty="0">
              <a:latin typeface="宋体 (正文)"/>
            </a:endParaRPr>
          </a:p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  <a:defRPr sz="1400">
                <a:solidFill>
                  <a:srgbClr val="3C465A"/>
                </a:solidFill>
              </a:defRPr>
            </a:pPr>
            <a:endParaRPr lang="en-US" altLang="zh-CN" sz="2000" dirty="0">
              <a:latin typeface="宋体 (正文)"/>
            </a:endParaRPr>
          </a:p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  <a:defRPr sz="1400">
                <a:solidFill>
                  <a:srgbClr val="3C465A"/>
                </a:solidFill>
              </a:defRPr>
            </a:pPr>
            <a:r>
              <a:rPr lang="zh-CN" altLang="zh-CN" sz="2000" dirty="0">
                <a:latin typeface="宋体 (正文)"/>
              </a:rPr>
              <a:t>炸弹自己不引爆，只负责计时。引爆逻辑在 Game::explodeBombs() 中统一处理</a:t>
            </a:r>
            <a:endParaRPr lang="en-US" altLang="zh-CN" sz="2000" dirty="0">
              <a:latin typeface="宋体 (正文)"/>
            </a:endParaRPr>
          </a:p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  <a:defRPr sz="1400">
                <a:solidFill>
                  <a:srgbClr val="3C465A"/>
                </a:solidFill>
              </a:defRPr>
            </a:pPr>
            <a:endParaRPr lang="en-US" altLang="zh-CN" sz="2000" dirty="0">
              <a:latin typeface="宋体 (正文)"/>
            </a:endParaRPr>
          </a:p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  <a:defRPr sz="1400">
                <a:solidFill>
                  <a:srgbClr val="3C465A"/>
                </a:solidFill>
              </a:defRPr>
            </a:pPr>
            <a:r>
              <a:rPr lang="zh-CN" altLang="zh-CN" sz="2000" dirty="0">
                <a:latin typeface="宋体 (正文)"/>
              </a:rPr>
              <a:t>游戏同时只能放一颗炸弹（countBombs() 检查）</a:t>
            </a:r>
            <a:endParaRPr sz="2000" dirty="0">
              <a:latin typeface="宋体 (正文)"/>
            </a:endParaRPr>
          </a:p>
        </p:txBody>
      </p:sp>
      <p:sp>
        <p:nvSpPr>
          <p:cNvPr id="2" name="TextBox 19">
            <a:extLst>
              <a:ext uri="{FF2B5EF4-FFF2-40B4-BE49-F238E27FC236}">
                <a16:creationId xmlns:a16="http://schemas.microsoft.com/office/drawing/2014/main" id="{5301FB91-36F6-8D3B-FCBC-034FEB74C2A6}"/>
              </a:ext>
            </a:extLst>
          </p:cNvPr>
          <p:cNvSpPr txBox="1"/>
          <p:nvPr/>
        </p:nvSpPr>
        <p:spPr>
          <a:xfrm>
            <a:off x="11329497" y="6410325"/>
            <a:ext cx="214803" cy="2308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altLang="zh-CN" sz="1500" dirty="0">
                <a:solidFill>
                  <a:srgbClr val="66788A"/>
                </a:solidFill>
                <a:latin typeface="Arial"/>
                <a:ea typeface="Microsoft YaHei"/>
                <a:cs typeface="Arial"/>
              </a:rPr>
              <a:t>09</a:t>
            </a:r>
            <a:endParaRPr lang="zh-CN" sz="1500" dirty="0">
              <a:solidFill>
                <a:srgbClr val="66788A"/>
              </a:solidFill>
              <a:latin typeface="Arial"/>
              <a:ea typeface="Microsoft YaHei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49958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1DA1D8-82A5-4E28-6CBE-523A5AA9CB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FEC428EA-5049-0804-F9EB-4F5CDD47879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5" name="Group 8">
            <a:extLst>
              <a:ext uri="{FF2B5EF4-FFF2-40B4-BE49-F238E27FC236}">
                <a16:creationId xmlns:a16="http://schemas.microsoft.com/office/drawing/2014/main" id="{C5BF2242-E712-3C53-B1FF-7318F1E2614B}"/>
              </a:ext>
            </a:extLst>
          </p:cNvPr>
          <p:cNvGrpSpPr/>
          <p:nvPr/>
        </p:nvGrpSpPr>
        <p:grpSpPr>
          <a:xfrm>
            <a:off x="0" y="0"/>
            <a:ext cx="12192000" cy="647700"/>
            <a:chOff x="0" y="0"/>
            <a:chExt cx="12192000" cy="647700"/>
          </a:xfrm>
        </p:grpSpPr>
        <p:sp>
          <p:nvSpPr>
            <p:cNvPr id="6" name="Rectangle 3">
              <a:extLst>
                <a:ext uri="{FF2B5EF4-FFF2-40B4-BE49-F238E27FC236}">
                  <a16:creationId xmlns:a16="http://schemas.microsoft.com/office/drawing/2014/main" id="{4D389376-8287-C82A-8A87-4AB5B2D3B1DB}"/>
                </a:ext>
              </a:extLst>
            </p:cNvPr>
            <p:cNvSpPr/>
            <p:nvPr/>
          </p:nvSpPr>
          <p:spPr>
            <a:xfrm>
              <a:off x="0" y="0"/>
              <a:ext cx="12192000" cy="647700"/>
            </a:xfrm>
            <a:prstGeom prst="rect">
              <a:avLst/>
            </a:prstGeom>
            <a:solidFill>
              <a:srgbClr val="1E4268"/>
            </a:solidFill>
            <a:ln>
              <a:noFill/>
            </a:ln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7" name="TextBox 4">
              <a:extLst>
                <a:ext uri="{FF2B5EF4-FFF2-40B4-BE49-F238E27FC236}">
                  <a16:creationId xmlns:a16="http://schemas.microsoft.com/office/drawing/2014/main" id="{AF7ADBB5-FBEC-0057-82AC-C30A95DA1BBF}"/>
                </a:ext>
              </a:extLst>
            </p:cNvPr>
            <p:cNvSpPr txBox="1"/>
            <p:nvPr/>
          </p:nvSpPr>
          <p:spPr>
            <a:xfrm>
              <a:off x="539115" y="162878"/>
              <a:ext cx="65" cy="3924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endParaRPr lang="zh-CN" sz="25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endParaRPr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75BD922E-556F-7975-A85A-A138CE815C9E}"/>
                </a:ext>
              </a:extLst>
            </p:cNvPr>
            <p:cNvGrpSpPr/>
            <p:nvPr/>
          </p:nvGrpSpPr>
          <p:grpSpPr>
            <a:xfrm>
              <a:off x="11334750" y="190500"/>
              <a:ext cx="304800" cy="304800"/>
              <a:chOff x="11334750" y="190500"/>
              <a:chExt cx="304800" cy="304800"/>
            </a:xfrm>
          </p:grpSpPr>
          <p:sp>
            <p:nvSpPr>
              <p:cNvPr id="9" name="Freeform 5">
                <a:extLst>
                  <a:ext uri="{FF2B5EF4-FFF2-40B4-BE49-F238E27FC236}">
                    <a16:creationId xmlns:a16="http://schemas.microsoft.com/office/drawing/2014/main" id="{9D00F650-4B4C-48F7-09CD-78BD603BA458}"/>
                  </a:ext>
                </a:extLst>
              </p:cNvPr>
              <p:cNvSpPr/>
              <p:nvPr/>
            </p:nvSpPr>
            <p:spPr>
              <a:xfrm>
                <a:off x="11334750" y="190500"/>
                <a:ext cx="2667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171450">
                    <a:moveTo>
                      <a:pt x="190500" y="152400"/>
                    </a:moveTo>
                    <a:lnTo>
                      <a:pt x="171450" y="152400"/>
                    </a:lnTo>
                    <a:lnTo>
                      <a:pt x="171450" y="91817"/>
                    </a:lnTo>
                    <a:lnTo>
                      <a:pt x="98246" y="77177"/>
                    </a:lnTo>
                    <a:cubicBezTo>
                      <a:pt x="94999" y="76527"/>
                      <a:pt x="91696" y="76200"/>
                      <a:pt x="88385" y="76200"/>
                    </a:cubicBezTo>
                    <a:cubicBezTo>
                      <a:pt x="60613" y="76200"/>
                      <a:pt x="38100" y="98713"/>
                      <a:pt x="38100" y="126485"/>
                    </a:cubicBezTo>
                    <a:lnTo>
                      <a:pt x="38100" y="171450"/>
                    </a:lnTo>
                    <a:lnTo>
                      <a:pt x="0" y="171450"/>
                    </a:lnTo>
                    <a:lnTo>
                      <a:pt x="0" y="126485"/>
                    </a:lnTo>
                    <a:cubicBezTo>
                      <a:pt x="0" y="77671"/>
                      <a:pt x="39571" y="38100"/>
                      <a:pt x="88385" y="38100"/>
                    </a:cubicBezTo>
                    <a:cubicBezTo>
                      <a:pt x="94205" y="38100"/>
                      <a:pt x="100011" y="38675"/>
                      <a:pt x="105718" y="39816"/>
                    </a:cubicBezTo>
                    <a:lnTo>
                      <a:pt x="171450" y="52963"/>
                    </a:lnTo>
                    <a:lnTo>
                      <a:pt x="171450" y="0"/>
                    </a:lnTo>
                    <a:lnTo>
                      <a:pt x="190500" y="0"/>
                    </a:lnTo>
                    <a:lnTo>
                      <a:pt x="266700" y="76200"/>
                    </a:lnTo>
                    <a:lnTo>
                      <a:pt x="190500" y="152400"/>
                    </a:lnTo>
                    <a:close/>
                  </a:path>
                </a:pathLst>
              </a:custGeom>
              <a:solidFill>
                <a:srgbClr val="5E91BD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" name="Freeform 6">
                <a:extLst>
                  <a:ext uri="{FF2B5EF4-FFF2-40B4-BE49-F238E27FC236}">
                    <a16:creationId xmlns:a16="http://schemas.microsoft.com/office/drawing/2014/main" id="{84AB912C-4F7E-A01A-B44A-7FFBA23A2E1D}"/>
                  </a:ext>
                </a:extLst>
              </p:cNvPr>
              <p:cNvSpPr/>
              <p:nvPr/>
            </p:nvSpPr>
            <p:spPr>
              <a:xfrm>
                <a:off x="11372850" y="323850"/>
                <a:ext cx="2667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171450">
                    <a:moveTo>
                      <a:pt x="266700" y="0"/>
                    </a:moveTo>
                    <a:lnTo>
                      <a:pt x="266700" y="44965"/>
                    </a:lnTo>
                    <a:cubicBezTo>
                      <a:pt x="266700" y="93779"/>
                      <a:pt x="227129" y="133350"/>
                      <a:pt x="178316" y="133350"/>
                    </a:cubicBezTo>
                    <a:cubicBezTo>
                      <a:pt x="172496" y="133350"/>
                      <a:pt x="166689" y="132775"/>
                      <a:pt x="160982" y="131634"/>
                    </a:cubicBezTo>
                    <a:lnTo>
                      <a:pt x="95250" y="118487"/>
                    </a:lnTo>
                    <a:lnTo>
                      <a:pt x="95250" y="171450"/>
                    </a:lnTo>
                    <a:lnTo>
                      <a:pt x="76200" y="171450"/>
                    </a:lnTo>
                    <a:lnTo>
                      <a:pt x="0" y="95250"/>
                    </a:lnTo>
                    <a:lnTo>
                      <a:pt x="76200" y="19050"/>
                    </a:lnTo>
                    <a:lnTo>
                      <a:pt x="95250" y="19050"/>
                    </a:lnTo>
                    <a:lnTo>
                      <a:pt x="95250" y="79633"/>
                    </a:lnTo>
                    <a:lnTo>
                      <a:pt x="168453" y="94273"/>
                    </a:lnTo>
                    <a:cubicBezTo>
                      <a:pt x="171701" y="94922"/>
                      <a:pt x="175005" y="95250"/>
                      <a:pt x="178316" y="95250"/>
                    </a:cubicBezTo>
                    <a:cubicBezTo>
                      <a:pt x="206087" y="95250"/>
                      <a:pt x="228600" y="72737"/>
                      <a:pt x="228600" y="44965"/>
                    </a:cubicBezTo>
                    <a:lnTo>
                      <a:pt x="228600" y="0"/>
                    </a:lnTo>
                    <a:lnTo>
                      <a:pt x="266700" y="0"/>
                    </a:lnTo>
                    <a:close/>
                  </a:path>
                </a:pathLst>
              </a:custGeom>
              <a:solidFill>
                <a:srgbClr val="5E91BD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13" name="TextBox 12"/>
          <p:cNvSpPr txBox="1"/>
          <p:nvPr/>
        </p:nvSpPr>
        <p:spPr>
          <a:xfrm>
            <a:off x="350000" y="250000"/>
            <a:ext cx="11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5F8FF"/>
                </a:solidFill>
              </a:defRPr>
            </a:pPr>
            <a:r>
              <a:t>Explosion 爆炸类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00000" y="850000"/>
            <a:ext cx="5600000" cy="5500000"/>
          </a:xfrm>
          <a:prstGeom prst="roundRect">
            <a:avLst/>
          </a:prstGeom>
          <a:solidFill>
            <a:srgbClr val="FAFCFF"/>
          </a:solidFill>
          <a:ln w="12700">
            <a:solidFill>
              <a:srgbClr val="C8D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92000" y="1362394"/>
            <a:ext cx="5158000" cy="4070345"/>
          </a:xfrm>
          <a:prstGeom prst="rect">
            <a:avLst/>
          </a:prstGeom>
          <a:noFill/>
        </p:spPr>
        <p:txBody>
          <a:bodyPr wrap="square" lIns="80000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375082"/>
                </a:solidFill>
                <a:latin typeface="Consolas"/>
              </a:defRPr>
            </a:pPr>
            <a:r>
              <a:rPr dirty="0"/>
              <a:t>// </a:t>
            </a:r>
            <a:r>
              <a:rPr dirty="0" err="1"/>
              <a:t>火焰</a:t>
            </a:r>
            <a:r>
              <a:rPr dirty="0"/>
              <a:t> 450ms </a:t>
            </a:r>
            <a:r>
              <a:rPr dirty="0" err="1"/>
              <a:t>后自动消失</a:t>
            </a:r>
            <a:endParaRPr dirty="0"/>
          </a:p>
          <a:p>
            <a:pPr>
              <a:spcAft>
                <a:spcPts val="300"/>
              </a:spcAft>
              <a:defRPr sz="1300">
                <a:solidFill>
                  <a:srgbClr val="375082"/>
                </a:solidFill>
                <a:latin typeface="Consolas"/>
              </a:defRPr>
            </a:pPr>
            <a:r>
              <a:rPr dirty="0"/>
              <a:t>class Explosion : public </a:t>
            </a:r>
            <a:r>
              <a:rPr dirty="0" err="1"/>
              <a:t>GameObject</a:t>
            </a:r>
            <a:r>
              <a:rPr dirty="0"/>
              <a:t> {</a:t>
            </a:r>
          </a:p>
          <a:p>
            <a:pPr>
              <a:spcAft>
                <a:spcPts val="300"/>
              </a:spcAft>
              <a:defRPr sz="1300">
                <a:solidFill>
                  <a:srgbClr val="375082"/>
                </a:solidFill>
                <a:latin typeface="Consolas"/>
              </a:defRPr>
            </a:pPr>
            <a:r>
              <a:rPr dirty="0"/>
              <a:t>public:</a:t>
            </a:r>
          </a:p>
          <a:p>
            <a:pPr>
              <a:spcAft>
                <a:spcPts val="300"/>
              </a:spcAft>
              <a:defRPr sz="1300">
                <a:solidFill>
                  <a:srgbClr val="375082"/>
                </a:solidFill>
                <a:latin typeface="Consolas"/>
              </a:defRPr>
            </a:pPr>
            <a:r>
              <a:rPr dirty="0"/>
              <a:t>    Explosion(</a:t>
            </a:r>
            <a:r>
              <a:rPr dirty="0" err="1"/>
              <a:t>GridPosition</a:t>
            </a:r>
            <a:r>
              <a:rPr dirty="0"/>
              <a:t> center, vector&lt;</a:t>
            </a:r>
            <a:r>
              <a:rPr dirty="0" err="1"/>
              <a:t>GridPosition</a:t>
            </a:r>
            <a:r>
              <a:rPr dirty="0"/>
              <a:t>&gt; blast);</a:t>
            </a:r>
          </a:p>
          <a:p>
            <a:pPr>
              <a:spcAft>
                <a:spcPts val="300"/>
              </a:spcAft>
              <a:defRPr sz="1300">
                <a:solidFill>
                  <a:srgbClr val="375082"/>
                </a:solidFill>
                <a:latin typeface="Consolas"/>
              </a:defRPr>
            </a:pPr>
            <a:r>
              <a:rPr dirty="0"/>
              <a:t>    void update(int dt, const Map&amp; map) override;</a:t>
            </a:r>
          </a:p>
          <a:p>
            <a:pPr>
              <a:spcAft>
                <a:spcPts val="300"/>
              </a:spcAft>
              <a:defRPr sz="1300">
                <a:solidFill>
                  <a:srgbClr val="375082"/>
                </a:solidFill>
                <a:latin typeface="Consolas"/>
              </a:defRPr>
            </a:pPr>
            <a:r>
              <a:rPr dirty="0"/>
              <a:t>    void draw() const override;</a:t>
            </a:r>
          </a:p>
          <a:p>
            <a:pPr>
              <a:spcAft>
                <a:spcPts val="300"/>
              </a:spcAft>
              <a:defRPr sz="1300">
                <a:solidFill>
                  <a:srgbClr val="375082"/>
                </a:solidFill>
                <a:latin typeface="Consolas"/>
              </a:defRPr>
            </a:pPr>
            <a:r>
              <a:rPr dirty="0"/>
              <a:t>    bool hits(</a:t>
            </a:r>
            <a:r>
              <a:rPr dirty="0" err="1"/>
              <a:t>GridPosition</a:t>
            </a:r>
            <a:r>
              <a:rPr dirty="0"/>
              <a:t> p) const;</a:t>
            </a:r>
          </a:p>
          <a:p>
            <a:pPr>
              <a:spcAft>
                <a:spcPts val="300"/>
              </a:spcAft>
              <a:defRPr sz="1300">
                <a:solidFill>
                  <a:srgbClr val="375082"/>
                </a:solidFill>
                <a:latin typeface="Consolas"/>
              </a:defRPr>
            </a:pPr>
            <a:r>
              <a:rPr dirty="0"/>
              <a:t>private:</a:t>
            </a:r>
          </a:p>
          <a:p>
            <a:pPr>
              <a:spcAft>
                <a:spcPts val="300"/>
              </a:spcAft>
              <a:defRPr sz="1300">
                <a:solidFill>
                  <a:srgbClr val="375082"/>
                </a:solidFill>
                <a:latin typeface="Consolas"/>
              </a:defRPr>
            </a:pPr>
            <a:r>
              <a:rPr dirty="0"/>
              <a:t>    vector&lt;</a:t>
            </a:r>
            <a:r>
              <a:rPr dirty="0" err="1"/>
              <a:t>GridPosition</a:t>
            </a:r>
            <a:r>
              <a:rPr dirty="0"/>
              <a:t>&gt; cells;</a:t>
            </a:r>
          </a:p>
          <a:p>
            <a:pPr>
              <a:spcAft>
                <a:spcPts val="300"/>
              </a:spcAft>
              <a:defRPr sz="1300">
                <a:solidFill>
                  <a:srgbClr val="375082"/>
                </a:solidFill>
                <a:latin typeface="Consolas"/>
              </a:defRPr>
            </a:pPr>
            <a:r>
              <a:rPr dirty="0"/>
              <a:t>    int timer = 0;</a:t>
            </a:r>
          </a:p>
          <a:p>
            <a:pPr>
              <a:spcAft>
                <a:spcPts val="300"/>
              </a:spcAft>
              <a:defRPr sz="1300">
                <a:solidFill>
                  <a:srgbClr val="375082"/>
                </a:solidFill>
                <a:latin typeface="Consolas"/>
              </a:defRPr>
            </a:pPr>
            <a:r>
              <a:rPr dirty="0"/>
              <a:t>    static const int SHOW_TIME = 450;</a:t>
            </a:r>
          </a:p>
          <a:p>
            <a:pPr>
              <a:spcAft>
                <a:spcPts val="300"/>
              </a:spcAft>
              <a:defRPr sz="1300">
                <a:solidFill>
                  <a:srgbClr val="375082"/>
                </a:solidFill>
                <a:latin typeface="Consolas"/>
              </a:defRPr>
            </a:pPr>
            <a:r>
              <a:rPr dirty="0"/>
              <a:t>};</a:t>
            </a:r>
          </a:p>
          <a:p>
            <a:pPr>
              <a:spcAft>
                <a:spcPts val="300"/>
              </a:spcAft>
              <a:defRPr sz="1300">
                <a:solidFill>
                  <a:srgbClr val="375082"/>
                </a:solidFill>
                <a:latin typeface="Consolas"/>
              </a:defRPr>
            </a:pPr>
            <a:endParaRPr dirty="0"/>
          </a:p>
          <a:p>
            <a:pPr>
              <a:spcAft>
                <a:spcPts val="300"/>
              </a:spcAft>
              <a:defRPr sz="1300">
                <a:solidFill>
                  <a:srgbClr val="375082"/>
                </a:solidFill>
                <a:latin typeface="Consolas"/>
              </a:defRPr>
            </a:pPr>
            <a:r>
              <a:rPr dirty="0"/>
              <a:t>bool Explosion::hits(</a:t>
            </a:r>
            <a:r>
              <a:rPr dirty="0" err="1"/>
              <a:t>GridPosition</a:t>
            </a:r>
            <a:r>
              <a:rPr dirty="0"/>
              <a:t> p) const {</a:t>
            </a:r>
          </a:p>
          <a:p>
            <a:pPr>
              <a:spcAft>
                <a:spcPts val="300"/>
              </a:spcAft>
              <a:defRPr sz="1300">
                <a:solidFill>
                  <a:srgbClr val="375082"/>
                </a:solidFill>
                <a:latin typeface="Consolas"/>
              </a:defRPr>
            </a:pPr>
            <a:r>
              <a:rPr dirty="0"/>
              <a:t>    return active &amp;&amp; </a:t>
            </a:r>
            <a:r>
              <a:rPr dirty="0" err="1"/>
              <a:t>containsPosition</a:t>
            </a:r>
            <a:r>
              <a:rPr dirty="0"/>
              <a:t>(cells, p);</a:t>
            </a:r>
          </a:p>
          <a:p>
            <a:pPr>
              <a:spcAft>
                <a:spcPts val="300"/>
              </a:spcAft>
              <a:defRPr sz="1300">
                <a:solidFill>
                  <a:srgbClr val="375082"/>
                </a:solidFill>
                <a:latin typeface="Consolas"/>
              </a:defRPr>
            </a:pPr>
            <a:r>
              <a:rPr dirty="0"/>
              <a:t>}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00000" y="850000"/>
            <a:ext cx="5800000" cy="5500000"/>
          </a:xfrm>
          <a:prstGeom prst="roundRect">
            <a:avLst/>
          </a:prstGeom>
          <a:solidFill>
            <a:srgbClr val="FAFCFF"/>
          </a:solidFill>
          <a:ln w="12700">
            <a:solidFill>
              <a:srgbClr val="C8D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68306" y="1362394"/>
            <a:ext cx="5231694" cy="3939540"/>
          </a:xfrm>
          <a:prstGeom prst="rect">
            <a:avLst/>
          </a:prstGeom>
          <a:noFill/>
        </p:spPr>
        <p:txBody>
          <a:bodyPr wrap="square" lIns="80000">
            <a:spAutoFit/>
          </a:bodyPr>
          <a:lstStyle/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  <a:defRPr sz="1400">
                <a:solidFill>
                  <a:srgbClr val="3C465A"/>
                </a:solidFill>
              </a:defRPr>
            </a:pPr>
            <a:r>
              <a:rPr lang="zh-CN" altLang="zh-CN" sz="2000" dirty="0"/>
              <a:t>爆炸范围由 Map::getBlast(center, 2) 计算，四方向各传播 2 格</a:t>
            </a:r>
            <a:endParaRPr lang="en-US" altLang="zh-CN" sz="2000" dirty="0"/>
          </a:p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  <a:defRPr sz="1400">
                <a:solidFill>
                  <a:srgbClr val="3C465A"/>
                </a:solidFill>
              </a:defRPr>
            </a:pPr>
            <a:endParaRPr lang="en-US" altLang="zh-CN" sz="2000" dirty="0"/>
          </a:p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  <a:defRPr sz="1400">
                <a:solidFill>
                  <a:srgbClr val="3C465A"/>
                </a:solidFill>
              </a:defRPr>
            </a:pPr>
            <a:r>
              <a:rPr lang="zh-CN" altLang="zh-CN" sz="2000" dirty="0"/>
              <a:t>三种传播结果：</a:t>
            </a:r>
            <a:r>
              <a:rPr lang="zh-CN" altLang="zh-CN" sz="2000" b="1" dirty="0"/>
              <a:t>WALL</a:t>
            </a:r>
            <a:r>
              <a:rPr lang="zh-CN" altLang="zh-CN" sz="2000" dirty="0"/>
              <a:t> → 停止不加入、</a:t>
            </a:r>
            <a:r>
              <a:rPr lang="zh-CN" altLang="zh-CN" sz="2000" b="1" dirty="0"/>
              <a:t>BRICK</a:t>
            </a:r>
            <a:r>
              <a:rPr lang="zh-CN" altLang="zh-CN" sz="2000" dirty="0"/>
              <a:t> → 加入并停止（砖块挡住）、</a:t>
            </a:r>
            <a:r>
              <a:rPr lang="zh-CN" altLang="zh-CN" sz="2000" b="1" dirty="0"/>
              <a:t>ROAD</a:t>
            </a:r>
            <a:r>
              <a:rPr lang="zh-CN" altLang="zh-CN" sz="2000" dirty="0"/>
              <a:t> → 加入继续</a:t>
            </a:r>
            <a:endParaRPr lang="en-US" altLang="zh-CN" sz="2000" dirty="0"/>
          </a:p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  <a:defRPr sz="1400">
                <a:solidFill>
                  <a:srgbClr val="3C465A"/>
                </a:solidFill>
              </a:defRPr>
            </a:pPr>
            <a:endParaRPr lang="en-US" altLang="zh-CN" sz="2000" dirty="0"/>
          </a:p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  <a:defRPr sz="1400">
                <a:solidFill>
                  <a:srgbClr val="3C465A"/>
                </a:solidFill>
              </a:defRPr>
            </a:pPr>
            <a:r>
              <a:rPr lang="zh-CN" altLang="zh-CN" sz="2000" dirty="0"/>
              <a:t>hits(p) 判断目标是否在爆炸覆盖的格子里，用于碰撞检测</a:t>
            </a:r>
            <a:endParaRPr lang="en-US" altLang="zh-CN" sz="2000" dirty="0"/>
          </a:p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  <a:defRPr sz="1400">
                <a:solidFill>
                  <a:srgbClr val="3C465A"/>
                </a:solidFill>
              </a:defRPr>
            </a:pPr>
            <a:endParaRPr lang="en-US" altLang="zh-CN" sz="2000" dirty="0"/>
          </a:p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  <a:defRPr sz="1400">
                <a:solidFill>
                  <a:srgbClr val="3C465A"/>
                </a:solidFill>
              </a:defRPr>
            </a:pPr>
            <a:r>
              <a:rPr lang="zh-CN" altLang="zh-CN" sz="2000" dirty="0"/>
              <a:t>火焰显示 </a:t>
            </a:r>
            <a:r>
              <a:rPr lang="zh-CN" altLang="zh-CN" sz="2000" b="1" dirty="0"/>
              <a:t>450ms</a:t>
            </a:r>
            <a:r>
              <a:rPr lang="zh-CN" altLang="zh-CN" sz="2000" dirty="0"/>
              <a:t> 后自动将 active 设为 false，由 Game 统一清理</a:t>
            </a:r>
            <a:endParaRPr sz="2000" dirty="0"/>
          </a:p>
        </p:txBody>
      </p:sp>
      <p:sp>
        <p:nvSpPr>
          <p:cNvPr id="2" name="TextBox 19">
            <a:extLst>
              <a:ext uri="{FF2B5EF4-FFF2-40B4-BE49-F238E27FC236}">
                <a16:creationId xmlns:a16="http://schemas.microsoft.com/office/drawing/2014/main" id="{ACBD9495-A12D-EF12-289B-C62D401B1790}"/>
              </a:ext>
            </a:extLst>
          </p:cNvPr>
          <p:cNvSpPr txBox="1"/>
          <p:nvPr/>
        </p:nvSpPr>
        <p:spPr>
          <a:xfrm>
            <a:off x="11329498" y="6410325"/>
            <a:ext cx="214802" cy="2308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altLang="zh-CN" sz="1500" dirty="0">
                <a:solidFill>
                  <a:srgbClr val="66788A"/>
                </a:solidFill>
                <a:latin typeface="Arial"/>
                <a:ea typeface="Microsoft YaHei"/>
                <a:cs typeface="Arial"/>
              </a:rPr>
              <a:t>10</a:t>
            </a:r>
            <a:endParaRPr lang="zh-CN" sz="1500" dirty="0">
              <a:solidFill>
                <a:srgbClr val="66788A"/>
              </a:solidFill>
              <a:latin typeface="Arial"/>
              <a:ea typeface="Microsoft YaHei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24473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987A2E-C2B4-9985-D164-EB874E4E1F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3045B497-D55D-D174-2567-4E69CA57C22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8" name="Group 8">
            <a:extLst>
              <a:ext uri="{FF2B5EF4-FFF2-40B4-BE49-F238E27FC236}">
                <a16:creationId xmlns:a16="http://schemas.microsoft.com/office/drawing/2014/main" id="{E3297E71-A6D9-4E9E-764C-5A0CA9F7EDCA}"/>
              </a:ext>
            </a:extLst>
          </p:cNvPr>
          <p:cNvGrpSpPr/>
          <p:nvPr/>
        </p:nvGrpSpPr>
        <p:grpSpPr>
          <a:xfrm>
            <a:off x="0" y="0"/>
            <a:ext cx="12192000" cy="681038"/>
            <a:chOff x="0" y="0"/>
            <a:chExt cx="12192000" cy="681038"/>
          </a:xfrm>
        </p:grpSpPr>
        <p:sp>
          <p:nvSpPr>
            <p:cNvPr id="3" name="Rectangle 3">
              <a:extLst>
                <a:ext uri="{FF2B5EF4-FFF2-40B4-BE49-F238E27FC236}">
                  <a16:creationId xmlns:a16="http://schemas.microsoft.com/office/drawing/2014/main" id="{55CBAC3B-4152-F01D-9074-C7A0068ED37D}"/>
                </a:ext>
              </a:extLst>
            </p:cNvPr>
            <p:cNvSpPr/>
            <p:nvPr/>
          </p:nvSpPr>
          <p:spPr>
            <a:xfrm>
              <a:off x="0" y="0"/>
              <a:ext cx="12192000" cy="647700"/>
            </a:xfrm>
            <a:prstGeom prst="rect">
              <a:avLst/>
            </a:prstGeom>
            <a:solidFill>
              <a:srgbClr val="1E4268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22968BD7-2523-8B81-29BB-8C6E4B19EB53}"/>
                </a:ext>
              </a:extLst>
            </p:cNvPr>
            <p:cNvSpPr txBox="1"/>
            <p:nvPr/>
          </p:nvSpPr>
          <p:spPr>
            <a:xfrm>
              <a:off x="539115" y="162878"/>
              <a:ext cx="3528103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 — 一帧是怎样运行的</a:t>
              </a:r>
            </a:p>
          </p:txBody>
        </p:sp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C4002FF0-32BE-5E67-5873-36BBC6A0EE65}"/>
                </a:ext>
              </a:extLst>
            </p:cNvPr>
            <p:cNvGrpSpPr/>
            <p:nvPr/>
          </p:nvGrpSpPr>
          <p:grpSpPr>
            <a:xfrm>
              <a:off x="11334750" y="190500"/>
              <a:ext cx="304800" cy="304800"/>
              <a:chOff x="11334750" y="190500"/>
              <a:chExt cx="304800" cy="304800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01252B11-4E48-47AC-ABB0-0A09799D1B17}"/>
                  </a:ext>
                </a:extLst>
              </p:cNvPr>
              <p:cNvSpPr/>
              <p:nvPr/>
            </p:nvSpPr>
            <p:spPr>
              <a:xfrm>
                <a:off x="11334750" y="190500"/>
                <a:ext cx="2667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171450">
                    <a:moveTo>
                      <a:pt x="190500" y="152400"/>
                    </a:moveTo>
                    <a:lnTo>
                      <a:pt x="171450" y="152400"/>
                    </a:lnTo>
                    <a:lnTo>
                      <a:pt x="171450" y="91817"/>
                    </a:lnTo>
                    <a:lnTo>
                      <a:pt x="98246" y="77177"/>
                    </a:lnTo>
                    <a:cubicBezTo>
                      <a:pt x="94999" y="76527"/>
                      <a:pt x="91696" y="76200"/>
                      <a:pt x="88385" y="76200"/>
                    </a:cubicBezTo>
                    <a:cubicBezTo>
                      <a:pt x="60613" y="76200"/>
                      <a:pt x="38100" y="98713"/>
                      <a:pt x="38100" y="126485"/>
                    </a:cubicBezTo>
                    <a:lnTo>
                      <a:pt x="38100" y="171450"/>
                    </a:lnTo>
                    <a:lnTo>
                      <a:pt x="0" y="171450"/>
                    </a:lnTo>
                    <a:lnTo>
                      <a:pt x="0" y="126485"/>
                    </a:lnTo>
                    <a:cubicBezTo>
                      <a:pt x="0" y="77671"/>
                      <a:pt x="39571" y="38100"/>
                      <a:pt x="88385" y="38100"/>
                    </a:cubicBezTo>
                    <a:cubicBezTo>
                      <a:pt x="94205" y="38100"/>
                      <a:pt x="100011" y="38675"/>
                      <a:pt x="105718" y="39816"/>
                    </a:cubicBezTo>
                    <a:lnTo>
                      <a:pt x="171450" y="52963"/>
                    </a:lnTo>
                    <a:lnTo>
                      <a:pt x="171450" y="0"/>
                    </a:lnTo>
                    <a:lnTo>
                      <a:pt x="190500" y="0"/>
                    </a:lnTo>
                    <a:lnTo>
                      <a:pt x="266700" y="76200"/>
                    </a:lnTo>
                    <a:lnTo>
                      <a:pt x="190500" y="152400"/>
                    </a:lnTo>
                    <a:close/>
                  </a:path>
                </a:pathLst>
              </a:custGeom>
              <a:solidFill>
                <a:srgbClr val="5E91BD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" name="Freeform 6">
                <a:extLst>
                  <a:ext uri="{FF2B5EF4-FFF2-40B4-BE49-F238E27FC236}">
                    <a16:creationId xmlns:a16="http://schemas.microsoft.com/office/drawing/2014/main" id="{0764A8B8-AF00-2706-ADA1-1E3C8D3F8539}"/>
                  </a:ext>
                </a:extLst>
              </p:cNvPr>
              <p:cNvSpPr/>
              <p:nvPr/>
            </p:nvSpPr>
            <p:spPr>
              <a:xfrm>
                <a:off x="11372850" y="323850"/>
                <a:ext cx="2667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171450">
                    <a:moveTo>
                      <a:pt x="266700" y="0"/>
                    </a:moveTo>
                    <a:lnTo>
                      <a:pt x="266700" y="44965"/>
                    </a:lnTo>
                    <a:cubicBezTo>
                      <a:pt x="266700" y="93779"/>
                      <a:pt x="227129" y="133350"/>
                      <a:pt x="178316" y="133350"/>
                    </a:cubicBezTo>
                    <a:cubicBezTo>
                      <a:pt x="172496" y="133350"/>
                      <a:pt x="166689" y="132775"/>
                      <a:pt x="160982" y="131634"/>
                    </a:cubicBezTo>
                    <a:lnTo>
                      <a:pt x="95250" y="118487"/>
                    </a:lnTo>
                    <a:lnTo>
                      <a:pt x="95250" y="171450"/>
                    </a:lnTo>
                    <a:lnTo>
                      <a:pt x="76200" y="171450"/>
                    </a:lnTo>
                    <a:lnTo>
                      <a:pt x="0" y="95250"/>
                    </a:lnTo>
                    <a:lnTo>
                      <a:pt x="76200" y="19050"/>
                    </a:lnTo>
                    <a:lnTo>
                      <a:pt x="95250" y="19050"/>
                    </a:lnTo>
                    <a:lnTo>
                      <a:pt x="95250" y="79633"/>
                    </a:lnTo>
                    <a:lnTo>
                      <a:pt x="168453" y="94273"/>
                    </a:lnTo>
                    <a:cubicBezTo>
                      <a:pt x="171701" y="94922"/>
                      <a:pt x="175005" y="95250"/>
                      <a:pt x="178316" y="95250"/>
                    </a:cubicBezTo>
                    <a:cubicBezTo>
                      <a:pt x="206087" y="95250"/>
                      <a:pt x="228600" y="72737"/>
                      <a:pt x="228600" y="44965"/>
                    </a:cubicBezTo>
                    <a:lnTo>
                      <a:pt x="228600" y="0"/>
                    </a:lnTo>
                    <a:lnTo>
                      <a:pt x="266700" y="0"/>
                    </a:lnTo>
                    <a:close/>
                  </a:path>
                </a:pathLst>
              </a:custGeom>
              <a:solidFill>
                <a:srgbClr val="5E91BD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29" name="Group 29">
            <a:extLst>
              <a:ext uri="{FF2B5EF4-FFF2-40B4-BE49-F238E27FC236}">
                <a16:creationId xmlns:a16="http://schemas.microsoft.com/office/drawing/2014/main" id="{61A7292E-070A-6D49-9558-3A269EBD00BA}"/>
              </a:ext>
            </a:extLst>
          </p:cNvPr>
          <p:cNvGrpSpPr/>
          <p:nvPr/>
        </p:nvGrpSpPr>
        <p:grpSpPr>
          <a:xfrm>
            <a:off x="666750" y="1059180"/>
            <a:ext cx="10887075" cy="1845945"/>
            <a:chOff x="666750" y="1059180"/>
            <a:chExt cx="10887075" cy="1845945"/>
          </a:xfrm>
        </p:grpSpPr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8CC8A4D4-D5FE-1C31-701A-A0D67F0BFC3A}"/>
                </a:ext>
              </a:extLst>
            </p:cNvPr>
            <p:cNvSpPr txBox="1"/>
            <p:nvPr/>
          </p:nvSpPr>
          <p:spPr>
            <a:xfrm>
              <a:off x="4158091" y="1059180"/>
              <a:ext cx="3875818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1E3A5F"/>
                  </a:solidFill>
                  <a:latin typeface="Arial"/>
                  <a:ea typeface="Microsoft YaHei"/>
                  <a:cs typeface="Arial"/>
                </a:rPr>
                <a:t>每一帧都重复同一条执行骨架</a:t>
              </a:r>
            </a:p>
          </p:txBody>
        </p:sp>
        <p:sp>
          <p:nvSpPr>
            <p:cNvPr id="10" name="Rectangle 10">
              <a:extLst>
                <a:ext uri="{FF2B5EF4-FFF2-40B4-BE49-F238E27FC236}">
                  <a16:creationId xmlns:a16="http://schemas.microsoft.com/office/drawing/2014/main" id="{CA5ACD8F-289D-38A8-5F95-EB6205B21571}"/>
                </a:ext>
              </a:extLst>
            </p:cNvPr>
            <p:cNvSpPr/>
            <p:nvPr/>
          </p:nvSpPr>
          <p:spPr>
            <a:xfrm>
              <a:off x="666750" y="1952625"/>
              <a:ext cx="1762125" cy="9525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9525">
              <a:solidFill>
                <a:srgbClr val="D4DCE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9D575062-25D0-AC30-1D26-FD309A7D35F2}"/>
                </a:ext>
              </a:extLst>
            </p:cNvPr>
            <p:cNvSpPr txBox="1"/>
            <p:nvPr/>
          </p:nvSpPr>
          <p:spPr>
            <a:xfrm>
              <a:off x="1046678" y="2159794"/>
              <a:ext cx="992743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75" b="1" dirty="0">
                  <a:solidFill>
                    <a:srgbClr val="1E4268"/>
                  </a:solidFill>
                  <a:latin typeface="Consolas"/>
                  <a:ea typeface="Microsoft YaHei"/>
                  <a:cs typeface="Consolas"/>
                </a:rPr>
                <a:t>input()</a:t>
              </a:r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2E4314F7-AA40-8877-ADED-B8EAAD946891}"/>
                </a:ext>
              </a:extLst>
            </p:cNvPr>
            <p:cNvSpPr txBox="1"/>
            <p:nvPr/>
          </p:nvSpPr>
          <p:spPr>
            <a:xfrm>
              <a:off x="1123950" y="2524125"/>
              <a:ext cx="8382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66788A"/>
                  </a:solidFill>
                  <a:latin typeface="Arial"/>
                  <a:ea typeface="Microsoft YaHei"/>
                  <a:cs typeface="Arial"/>
                </a:rPr>
                <a:t>读取按键</a:t>
              </a:r>
            </a:p>
          </p:txBody>
        </p:sp>
        <p:sp>
          <p:nvSpPr>
            <p:cNvPr id="13" name="Rectangle 13">
              <a:extLst>
                <a:ext uri="{FF2B5EF4-FFF2-40B4-BE49-F238E27FC236}">
                  <a16:creationId xmlns:a16="http://schemas.microsoft.com/office/drawing/2014/main" id="{C016C3AF-6B34-8E66-0736-F12A8970AA91}"/>
                </a:ext>
              </a:extLst>
            </p:cNvPr>
            <p:cNvSpPr/>
            <p:nvPr/>
          </p:nvSpPr>
          <p:spPr>
            <a:xfrm>
              <a:off x="2971800" y="1952625"/>
              <a:ext cx="1762125" cy="9525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9525">
              <a:solidFill>
                <a:srgbClr val="D4DCE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TextBox 14">
              <a:extLst>
                <a:ext uri="{FF2B5EF4-FFF2-40B4-BE49-F238E27FC236}">
                  <a16:creationId xmlns:a16="http://schemas.microsoft.com/office/drawing/2014/main" id="{35DCB2A8-2A4D-EAAD-7001-D25E64209DD6}"/>
                </a:ext>
              </a:extLst>
            </p:cNvPr>
            <p:cNvSpPr txBox="1"/>
            <p:nvPr/>
          </p:nvSpPr>
          <p:spPr>
            <a:xfrm>
              <a:off x="3679894" y="2159794"/>
              <a:ext cx="336411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75" b="1" dirty="0">
                  <a:solidFill>
                    <a:srgbClr val="1E4268"/>
                  </a:solidFill>
                  <a:latin typeface="Consolas"/>
                  <a:ea typeface="Microsoft YaHei"/>
                  <a:cs typeface="Consolas"/>
                </a:rPr>
                <a:t>dt</a:t>
              </a:r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C7505212-F3EA-B245-02FF-28BEC811A380}"/>
                </a:ext>
              </a:extLst>
            </p:cNvPr>
            <p:cNvSpPr txBox="1"/>
            <p:nvPr/>
          </p:nvSpPr>
          <p:spPr>
            <a:xfrm>
              <a:off x="3228975" y="2524125"/>
              <a:ext cx="12382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66788A"/>
                  </a:solidFill>
                  <a:latin typeface="Arial"/>
                  <a:ea typeface="Microsoft YaHei"/>
                  <a:cs typeface="Arial"/>
                </a:rPr>
                <a:t>计算经过时间</a:t>
              </a:r>
            </a:p>
          </p:txBody>
        </p:sp>
        <p:sp>
          <p:nvSpPr>
            <p:cNvPr id="16" name="Rectangle 16">
              <a:extLst>
                <a:ext uri="{FF2B5EF4-FFF2-40B4-BE49-F238E27FC236}">
                  <a16:creationId xmlns:a16="http://schemas.microsoft.com/office/drawing/2014/main" id="{F232D8AD-AEC8-4CD8-29F6-099F6D8CA046}"/>
                </a:ext>
              </a:extLst>
            </p:cNvPr>
            <p:cNvSpPr/>
            <p:nvPr/>
          </p:nvSpPr>
          <p:spPr>
            <a:xfrm>
              <a:off x="5276850" y="1952625"/>
              <a:ext cx="1762125" cy="952500"/>
            </a:xfrm>
            <a:prstGeom prst="roundRect">
              <a:avLst>
                <a:gd name="adj" fmla="val 12000"/>
              </a:avLst>
            </a:prstGeom>
            <a:solidFill>
              <a:srgbClr val="2E6EA6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TextBox 17">
              <a:extLst>
                <a:ext uri="{FF2B5EF4-FFF2-40B4-BE49-F238E27FC236}">
                  <a16:creationId xmlns:a16="http://schemas.microsoft.com/office/drawing/2014/main" id="{2F632C7E-7131-BCC9-CF12-26E8B4B8CD79}"/>
                </a:ext>
              </a:extLst>
            </p:cNvPr>
            <p:cNvSpPr txBox="1"/>
            <p:nvPr/>
          </p:nvSpPr>
          <p:spPr>
            <a:xfrm>
              <a:off x="5407372" y="2159794"/>
              <a:ext cx="1491555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75" b="1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update(dt)</a:t>
              </a:r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E839735A-80AF-2868-B9A9-E04CDB6C2E40}"/>
                </a:ext>
              </a:extLst>
            </p:cNvPr>
            <p:cNvSpPr txBox="1"/>
            <p:nvPr/>
          </p:nvSpPr>
          <p:spPr>
            <a:xfrm>
              <a:off x="5734050" y="2524125"/>
              <a:ext cx="8382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改变状态</a:t>
              </a:r>
            </a:p>
          </p:txBody>
        </p:sp>
        <p:sp>
          <p:nvSpPr>
            <p:cNvPr id="19" name="Rectangle 19">
              <a:extLst>
                <a:ext uri="{FF2B5EF4-FFF2-40B4-BE49-F238E27FC236}">
                  <a16:creationId xmlns:a16="http://schemas.microsoft.com/office/drawing/2014/main" id="{41077E18-51CD-1ADD-8023-673A6DF52223}"/>
                </a:ext>
              </a:extLst>
            </p:cNvPr>
            <p:cNvSpPr/>
            <p:nvPr/>
          </p:nvSpPr>
          <p:spPr>
            <a:xfrm>
              <a:off x="7581900" y="1952625"/>
              <a:ext cx="1762125" cy="9525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9525">
              <a:solidFill>
                <a:srgbClr val="D4DCE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TextBox 20">
              <a:extLst>
                <a:ext uri="{FF2B5EF4-FFF2-40B4-BE49-F238E27FC236}">
                  <a16:creationId xmlns:a16="http://schemas.microsoft.com/office/drawing/2014/main" id="{82F948D9-CCCD-6A80-7FA0-6BD2287F1CA7}"/>
                </a:ext>
              </a:extLst>
            </p:cNvPr>
            <p:cNvSpPr txBox="1"/>
            <p:nvPr/>
          </p:nvSpPr>
          <p:spPr>
            <a:xfrm>
              <a:off x="7974955" y="2159794"/>
              <a:ext cx="966490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75" b="1" dirty="0">
                  <a:solidFill>
                    <a:srgbClr val="1E4268"/>
                  </a:solidFill>
                  <a:latin typeface="Consolas"/>
                  <a:ea typeface="Microsoft YaHei"/>
                  <a:cs typeface="Consolas"/>
                </a:rPr>
                <a:t>draw()</a:t>
              </a:r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3560FA88-6C4B-4E4F-9139-ED5BFA10780A}"/>
                </a:ext>
              </a:extLst>
            </p:cNvPr>
            <p:cNvSpPr txBox="1"/>
            <p:nvPr/>
          </p:nvSpPr>
          <p:spPr>
            <a:xfrm>
              <a:off x="7839075" y="2524125"/>
              <a:ext cx="12382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66788A"/>
                  </a:solidFill>
                  <a:latin typeface="Arial"/>
                  <a:ea typeface="Microsoft YaHei"/>
                  <a:cs typeface="Arial"/>
                </a:rPr>
                <a:t>绘制后台画面</a:t>
              </a:r>
            </a:p>
          </p:txBody>
        </p:sp>
        <p:sp>
          <p:nvSpPr>
            <p:cNvPr id="22" name="Rectangle 22">
              <a:extLst>
                <a:ext uri="{FF2B5EF4-FFF2-40B4-BE49-F238E27FC236}">
                  <a16:creationId xmlns:a16="http://schemas.microsoft.com/office/drawing/2014/main" id="{8843CA16-2F3C-3443-E7B6-7C79E831584B}"/>
                </a:ext>
              </a:extLst>
            </p:cNvPr>
            <p:cNvSpPr/>
            <p:nvPr/>
          </p:nvSpPr>
          <p:spPr>
            <a:xfrm>
              <a:off x="9886950" y="1952625"/>
              <a:ext cx="1666875" cy="952500"/>
            </a:xfrm>
            <a:prstGeom prst="roundRect">
              <a:avLst>
                <a:gd name="adj" fmla="val 12000"/>
              </a:avLst>
            </a:prstGeom>
            <a:solidFill>
              <a:srgbClr val="1E4268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TextBox 23">
              <a:extLst>
                <a:ext uri="{FF2B5EF4-FFF2-40B4-BE49-F238E27FC236}">
                  <a16:creationId xmlns:a16="http://schemas.microsoft.com/office/drawing/2014/main" id="{F56F84F9-3FC9-4FCB-A9EE-C249EF51A9F4}"/>
                </a:ext>
              </a:extLst>
            </p:cNvPr>
            <p:cNvSpPr txBox="1"/>
            <p:nvPr/>
          </p:nvSpPr>
          <p:spPr>
            <a:xfrm>
              <a:off x="10116738" y="2154079"/>
              <a:ext cx="1197775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75" b="1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FlushBatch</a:t>
              </a:r>
            </a:p>
          </p:txBody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727B06CE-673D-45F2-D448-A72B2D94A6D4}"/>
                </a:ext>
              </a:extLst>
            </p:cNvPr>
            <p:cNvSpPr txBox="1"/>
            <p:nvPr/>
          </p:nvSpPr>
          <p:spPr>
            <a:xfrm>
              <a:off x="10296525" y="2524125"/>
              <a:ext cx="8382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一次呈现</a:t>
              </a:r>
            </a:p>
          </p:txBody>
        </p:sp>
        <p:sp>
          <p:nvSpPr>
            <p:cNvPr id="25" name="Line 25">
              <a:extLst>
                <a:ext uri="{FF2B5EF4-FFF2-40B4-BE49-F238E27FC236}">
                  <a16:creationId xmlns:a16="http://schemas.microsoft.com/office/drawing/2014/main" id="{D0581A0B-7866-503B-2597-1A8D27E04748}"/>
                </a:ext>
              </a:extLst>
            </p:cNvPr>
            <p:cNvSpPr/>
            <p:nvPr/>
          </p:nvSpPr>
          <p:spPr>
            <a:xfrm>
              <a:off x="2428875" y="2428875"/>
              <a:ext cx="447675" cy="1"/>
            </a:xfrm>
            <a:prstGeom prst="line">
              <a:avLst/>
            </a:prstGeom>
            <a:noFill/>
            <a:ln w="28575">
              <a:solidFill>
                <a:srgbClr val="5E91BD"/>
              </a:solidFill>
              <a:tailEnd type="triangle" w="lg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Line 26">
              <a:extLst>
                <a:ext uri="{FF2B5EF4-FFF2-40B4-BE49-F238E27FC236}">
                  <a16:creationId xmlns:a16="http://schemas.microsoft.com/office/drawing/2014/main" id="{917BD700-2F11-1EF5-CEA2-DE3A41E37E6C}"/>
                </a:ext>
              </a:extLst>
            </p:cNvPr>
            <p:cNvSpPr/>
            <p:nvPr/>
          </p:nvSpPr>
          <p:spPr>
            <a:xfrm>
              <a:off x="4733925" y="2428875"/>
              <a:ext cx="447675" cy="1"/>
            </a:xfrm>
            <a:prstGeom prst="line">
              <a:avLst/>
            </a:prstGeom>
            <a:noFill/>
            <a:ln w="28575">
              <a:solidFill>
                <a:srgbClr val="5E91BD"/>
              </a:solidFill>
              <a:tailEnd type="triangle" w="lg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Line 27">
              <a:extLst>
                <a:ext uri="{FF2B5EF4-FFF2-40B4-BE49-F238E27FC236}">
                  <a16:creationId xmlns:a16="http://schemas.microsoft.com/office/drawing/2014/main" id="{3ADDBD68-D7D4-B1C9-5B86-E019F9BF985B}"/>
                </a:ext>
              </a:extLst>
            </p:cNvPr>
            <p:cNvSpPr/>
            <p:nvPr/>
          </p:nvSpPr>
          <p:spPr>
            <a:xfrm>
              <a:off x="7038975" y="2428875"/>
              <a:ext cx="447675" cy="1"/>
            </a:xfrm>
            <a:prstGeom prst="line">
              <a:avLst/>
            </a:prstGeom>
            <a:noFill/>
            <a:ln w="28575">
              <a:solidFill>
                <a:srgbClr val="5E91BD"/>
              </a:solidFill>
              <a:tailEnd type="triangle" w="lg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Line 28">
              <a:extLst>
                <a:ext uri="{FF2B5EF4-FFF2-40B4-BE49-F238E27FC236}">
                  <a16:creationId xmlns:a16="http://schemas.microsoft.com/office/drawing/2014/main" id="{82F57D4A-5BDA-AA93-4059-DE6CACC61845}"/>
                </a:ext>
              </a:extLst>
            </p:cNvPr>
            <p:cNvSpPr/>
            <p:nvPr/>
          </p:nvSpPr>
          <p:spPr>
            <a:xfrm>
              <a:off x="9344025" y="2428875"/>
              <a:ext cx="447675" cy="1"/>
            </a:xfrm>
            <a:prstGeom prst="line">
              <a:avLst/>
            </a:prstGeom>
            <a:noFill/>
            <a:ln w="28575">
              <a:solidFill>
                <a:srgbClr val="5E91BD"/>
              </a:solidFill>
              <a:tailEnd type="triangle" w="lg" len="lg"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4" name="TextBox 34">
            <a:extLst>
              <a:ext uri="{FF2B5EF4-FFF2-40B4-BE49-F238E27FC236}">
                <a16:creationId xmlns:a16="http://schemas.microsoft.com/office/drawing/2014/main" id="{3FE7249D-7C83-D95F-3602-CABA8005A4F8}"/>
              </a:ext>
            </a:extLst>
          </p:cNvPr>
          <p:cNvSpPr txBox="1"/>
          <p:nvPr/>
        </p:nvSpPr>
        <p:spPr>
          <a:xfrm>
            <a:off x="11286172" y="6410325"/>
            <a:ext cx="258128" cy="2308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algn="r"/>
            <a:r>
              <a:rPr lang="en-US" altLang="zh-CN" sz="1500" dirty="0">
                <a:solidFill>
                  <a:srgbClr val="66788A"/>
                </a:solidFill>
                <a:latin typeface="Arial"/>
                <a:ea typeface="Microsoft YaHei"/>
                <a:cs typeface="Arial"/>
              </a:rPr>
              <a:t>11</a:t>
            </a:r>
            <a:endParaRPr lang="zh-CN" sz="1500" dirty="0">
              <a:solidFill>
                <a:srgbClr val="66788A"/>
              </a:solidFill>
              <a:latin typeface="Arial"/>
              <a:ea typeface="Microsoft YaHei"/>
              <a:cs typeface="Arial"/>
            </a:endParaRPr>
          </a:p>
        </p:txBody>
      </p:sp>
      <p:sp>
        <p:nvSpPr>
          <p:cNvPr id="62" name="Rounded Rectangle 61"/>
          <p:cNvSpPr/>
          <p:nvPr/>
        </p:nvSpPr>
        <p:spPr>
          <a:xfrm>
            <a:off x="300000" y="750000"/>
            <a:ext cx="11400000" cy="30000"/>
          </a:xfrm>
          <a:prstGeom prst="roundRect">
            <a:avLst/>
          </a:prstGeom>
          <a:solidFill>
            <a:srgbClr val="508C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0423198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9" name="Group 9"/>
          <p:cNvGrpSpPr/>
          <p:nvPr/>
        </p:nvGrpSpPr>
        <p:grpSpPr>
          <a:xfrm>
            <a:off x="0" y="0"/>
            <a:ext cx="12192000" cy="647700"/>
            <a:chOff x="0" y="0"/>
            <a:chExt cx="12192000" cy="647700"/>
          </a:xfrm>
        </p:grpSpPr>
        <p:sp>
          <p:nvSpPr>
            <p:cNvPr id="3" name="Rectangle 3"/>
            <p:cNvSpPr/>
            <p:nvPr/>
          </p:nvSpPr>
          <p:spPr>
            <a:xfrm>
              <a:off x="0" y="0"/>
              <a:ext cx="12192000" cy="647700"/>
            </a:xfrm>
            <a:prstGeom prst="rect">
              <a:avLst/>
            </a:prstGeom>
            <a:solidFill>
              <a:srgbClr val="1E4268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39115" y="162878"/>
              <a:ext cx="3961021" cy="3924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3 — 双</a:t>
              </a:r>
              <a:r>
                <a:rPr lang="zh-CN" altLang="en-US" sz="25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缓冲</a:t>
              </a:r>
              <a:r>
                <a:rPr lang="zh-CN" sz="25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：解决画面闪烁</a:t>
              </a:r>
            </a:p>
          </p:txBody>
        </p:sp>
        <p:grpSp>
          <p:nvGrpSpPr>
            <p:cNvPr id="8" name="Group 8"/>
            <p:cNvGrpSpPr/>
            <p:nvPr/>
          </p:nvGrpSpPr>
          <p:grpSpPr>
            <a:xfrm>
              <a:off x="11353800" y="190500"/>
              <a:ext cx="266700" cy="304800"/>
              <a:chOff x="11353800" y="190500"/>
              <a:chExt cx="266700" cy="304800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11353800" y="190500"/>
                <a:ext cx="2667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152400">
                    <a:moveTo>
                      <a:pt x="0" y="95250"/>
                    </a:moveTo>
                    <a:lnTo>
                      <a:pt x="0" y="57150"/>
                    </a:lnTo>
                    <a:lnTo>
                      <a:pt x="133350" y="0"/>
                    </a:lnTo>
                    <a:lnTo>
                      <a:pt x="266700" y="57150"/>
                    </a:lnTo>
                    <a:lnTo>
                      <a:pt x="266700" y="95250"/>
                    </a:lnTo>
                    <a:lnTo>
                      <a:pt x="133350" y="152400"/>
                    </a:lnTo>
                    <a:lnTo>
                      <a:pt x="0" y="95250"/>
                    </a:lnTo>
                    <a:close/>
                  </a:path>
                </a:pathLst>
              </a:custGeom>
              <a:solidFill>
                <a:srgbClr val="5E91BD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" name="Freeform 6"/>
              <p:cNvSpPr/>
              <p:nvPr/>
            </p:nvSpPr>
            <p:spPr>
              <a:xfrm>
                <a:off x="11353800" y="400050"/>
                <a:ext cx="26670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95250">
                    <a:moveTo>
                      <a:pt x="133350" y="95250"/>
                    </a:moveTo>
                    <a:lnTo>
                      <a:pt x="0" y="38100"/>
                    </a:lnTo>
                    <a:lnTo>
                      <a:pt x="0" y="0"/>
                    </a:lnTo>
                    <a:lnTo>
                      <a:pt x="133350" y="57150"/>
                    </a:lnTo>
                    <a:lnTo>
                      <a:pt x="266700" y="0"/>
                    </a:lnTo>
                    <a:lnTo>
                      <a:pt x="266700" y="38100"/>
                    </a:lnTo>
                    <a:lnTo>
                      <a:pt x="133350" y="95250"/>
                    </a:lnTo>
                    <a:close/>
                  </a:path>
                </a:pathLst>
              </a:custGeom>
              <a:solidFill>
                <a:srgbClr val="5E91BD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" name="Freeform 7"/>
              <p:cNvSpPr/>
              <p:nvPr/>
            </p:nvSpPr>
            <p:spPr>
              <a:xfrm>
                <a:off x="11353800" y="323850"/>
                <a:ext cx="26670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95250">
                    <a:moveTo>
                      <a:pt x="0" y="38100"/>
                    </a:moveTo>
                    <a:lnTo>
                      <a:pt x="133350" y="95250"/>
                    </a:lnTo>
                    <a:lnTo>
                      <a:pt x="266700" y="38100"/>
                    </a:lnTo>
                    <a:lnTo>
                      <a:pt x="266700" y="0"/>
                    </a:lnTo>
                    <a:lnTo>
                      <a:pt x="133350" y="57150"/>
                    </a:lnTo>
                    <a:lnTo>
                      <a:pt x="0" y="0"/>
                    </a:lnTo>
                    <a:lnTo>
                      <a:pt x="0" y="38100"/>
                    </a:lnTo>
                    <a:close/>
                  </a:path>
                </a:pathLst>
              </a:custGeom>
              <a:solidFill>
                <a:srgbClr val="5E91BD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26" name="Group 26"/>
          <p:cNvGrpSpPr/>
          <p:nvPr/>
        </p:nvGrpSpPr>
        <p:grpSpPr>
          <a:xfrm>
            <a:off x="666750" y="935355"/>
            <a:ext cx="5000625" cy="3208020"/>
            <a:chOff x="666750" y="935355"/>
            <a:chExt cx="5000625" cy="3208020"/>
          </a:xfrm>
        </p:grpSpPr>
        <p:sp>
          <p:nvSpPr>
            <p:cNvPr id="10" name="TextBox 10"/>
            <p:cNvSpPr txBox="1"/>
            <p:nvPr/>
          </p:nvSpPr>
          <p:spPr>
            <a:xfrm>
              <a:off x="735330" y="935355"/>
              <a:ext cx="4169855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C62828"/>
                  </a:solidFill>
                  <a:latin typeface="Arial"/>
                  <a:ea typeface="Microsoft YaHei"/>
                  <a:cs typeface="Arial"/>
                </a:rPr>
                <a:t>直接绘制：用户会看到中间状态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666750" y="1428750"/>
              <a:ext cx="5000625" cy="2714625"/>
            </a:xfrm>
            <a:prstGeom prst="roundRect">
              <a:avLst>
                <a:gd name="adj" fmla="val 4912"/>
              </a:avLst>
            </a:prstGeom>
            <a:solidFill>
              <a:srgbClr val="FFFFFF"/>
            </a:solidFill>
            <a:ln w="9525">
              <a:solidFill>
                <a:srgbClr val="D4DCE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Rectangle 12"/>
            <p:cNvSpPr/>
            <p:nvPr/>
          </p:nvSpPr>
          <p:spPr>
            <a:xfrm>
              <a:off x="1047750" y="1857375"/>
              <a:ext cx="876300" cy="590550"/>
            </a:xfrm>
            <a:prstGeom prst="rect">
              <a:avLst/>
            </a:prstGeom>
            <a:solidFill>
              <a:srgbClr val="E9EEF4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266825" y="2057400"/>
              <a:ext cx="4381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E3A5F"/>
                  </a:solidFill>
                  <a:latin typeface="Arial"/>
                  <a:ea typeface="Microsoft YaHei"/>
                  <a:cs typeface="Arial"/>
                </a:rPr>
                <a:t>清屏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2238375" y="1857375"/>
              <a:ext cx="876300" cy="590550"/>
            </a:xfrm>
            <a:prstGeom prst="rect">
              <a:avLst/>
            </a:prstGeom>
            <a:solidFill>
              <a:srgbClr val="E9EEF4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457450" y="2057400"/>
              <a:ext cx="4381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E3A5F"/>
                  </a:solidFill>
                  <a:latin typeface="Arial"/>
                  <a:ea typeface="Microsoft YaHei"/>
                  <a:cs typeface="Arial"/>
                </a:rPr>
                <a:t>地图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3429000" y="1857375"/>
              <a:ext cx="876300" cy="590550"/>
            </a:xfrm>
            <a:prstGeom prst="rect">
              <a:avLst/>
            </a:prstGeom>
            <a:solidFill>
              <a:srgbClr val="E9EEF4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648075" y="2057400"/>
              <a:ext cx="4381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E3A5F"/>
                  </a:solidFill>
                  <a:latin typeface="Arial"/>
                  <a:ea typeface="Microsoft YaHei"/>
                  <a:cs typeface="Arial"/>
                </a:rPr>
                <a:t>对象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4619625" y="1857375"/>
              <a:ext cx="685800" cy="590550"/>
            </a:xfrm>
            <a:prstGeom prst="rect">
              <a:avLst/>
            </a:prstGeom>
            <a:solidFill>
              <a:srgbClr val="E9EEF4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743450" y="2057400"/>
              <a:ext cx="4381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E3A5F"/>
                  </a:solidFill>
                  <a:latin typeface="Arial"/>
                  <a:ea typeface="Microsoft YaHei"/>
                  <a:cs typeface="Arial"/>
                </a:rPr>
                <a:t>玩家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1924050" y="2152650"/>
              <a:ext cx="219075" cy="9525"/>
            </a:xfrm>
            <a:custGeom>
              <a:avLst/>
              <a:gdLst/>
              <a:ahLst/>
              <a:cxnLst/>
              <a:rect l="l" t="t" r="r" b="b"/>
              <a:pathLst>
                <a:path w="219075" h="9525">
                  <a:moveTo>
                    <a:pt x="0" y="0"/>
                  </a:moveTo>
                  <a:lnTo>
                    <a:pt x="219075" y="0"/>
                  </a:lnTo>
                </a:path>
              </a:pathLst>
            </a:custGeom>
            <a:noFill/>
            <a:ln w="28575">
              <a:solidFill>
                <a:srgbClr val="C62828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Line 21"/>
            <p:cNvSpPr/>
            <p:nvPr/>
          </p:nvSpPr>
          <p:spPr>
            <a:xfrm>
              <a:off x="3114675" y="2152650"/>
              <a:ext cx="219075" cy="9525"/>
            </a:xfrm>
            <a:custGeom>
              <a:avLst/>
              <a:gdLst/>
              <a:ahLst/>
              <a:cxnLst/>
              <a:rect l="l" t="t" r="r" b="b"/>
              <a:pathLst>
                <a:path w="219075" h="9525">
                  <a:moveTo>
                    <a:pt x="0" y="0"/>
                  </a:moveTo>
                  <a:lnTo>
                    <a:pt x="219075" y="0"/>
                  </a:lnTo>
                </a:path>
              </a:pathLst>
            </a:custGeom>
            <a:noFill/>
            <a:ln w="28575">
              <a:solidFill>
                <a:srgbClr val="C62828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Line 22"/>
            <p:cNvSpPr/>
            <p:nvPr/>
          </p:nvSpPr>
          <p:spPr>
            <a:xfrm>
              <a:off x="4305300" y="2152650"/>
              <a:ext cx="219075" cy="9525"/>
            </a:xfrm>
            <a:custGeom>
              <a:avLst/>
              <a:gdLst/>
              <a:ahLst/>
              <a:cxnLst/>
              <a:rect l="l" t="t" r="r" b="b"/>
              <a:pathLst>
                <a:path w="219075" h="9525">
                  <a:moveTo>
                    <a:pt x="0" y="0"/>
                  </a:moveTo>
                  <a:lnTo>
                    <a:pt x="219075" y="0"/>
                  </a:lnTo>
                </a:path>
              </a:pathLst>
            </a:custGeom>
            <a:noFill/>
            <a:ln w="28575">
              <a:solidFill>
                <a:srgbClr val="C62828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513284" y="2797969"/>
              <a:ext cx="3298031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75" dirty="0">
                  <a:solidFill>
                    <a:srgbClr val="C62828"/>
                  </a:solidFill>
                  <a:latin typeface="Arial"/>
                  <a:ea typeface="Microsoft YaHei"/>
                  <a:cs typeface="Arial"/>
                </a:rPr>
                <a:t>每一步都直接暴露在前台窗口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601152" y="3298508"/>
              <a:ext cx="312229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66788A"/>
                  </a:solidFill>
                  <a:latin typeface="Arial"/>
                  <a:ea typeface="Microsoft YaHei"/>
                  <a:cs typeface="Arial"/>
                </a:rPr>
                <a:t>帧内容尚未完整，画面就被看见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509361" y="3634740"/>
              <a:ext cx="1305878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C62828"/>
                  </a:solidFill>
                  <a:latin typeface="Arial"/>
                  <a:ea typeface="Microsoft YaHei"/>
                  <a:cs typeface="Arial"/>
                </a:rPr>
                <a:t>结果：闪烁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6334125" y="935355"/>
            <a:ext cx="5191125" cy="3208020"/>
            <a:chOff x="6334125" y="935355"/>
            <a:chExt cx="5191125" cy="3208020"/>
          </a:xfrm>
        </p:grpSpPr>
        <p:sp>
          <p:nvSpPr>
            <p:cNvPr id="27" name="TextBox 27"/>
            <p:cNvSpPr txBox="1"/>
            <p:nvPr/>
          </p:nvSpPr>
          <p:spPr>
            <a:xfrm>
              <a:off x="6450330" y="935355"/>
              <a:ext cx="3581781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2E7D32"/>
                  </a:solidFill>
                  <a:latin typeface="Arial"/>
                  <a:ea typeface="Microsoft YaHei"/>
                  <a:cs typeface="Arial"/>
                </a:rPr>
                <a:t>双缓冲：完整一帧后再呈现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6334125" y="1428750"/>
              <a:ext cx="5191125" cy="2714625"/>
            </a:xfrm>
            <a:prstGeom prst="roundRect">
              <a:avLst>
                <a:gd name="adj" fmla="val 4912"/>
              </a:avLst>
            </a:prstGeom>
            <a:solidFill>
              <a:srgbClr val="FFFFFF"/>
            </a:solidFill>
            <a:ln w="9525">
              <a:solidFill>
                <a:srgbClr val="D4DCE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" name="Rectangle 29"/>
            <p:cNvSpPr/>
            <p:nvPr/>
          </p:nvSpPr>
          <p:spPr>
            <a:xfrm>
              <a:off x="6715125" y="1809750"/>
              <a:ext cx="2857500" cy="1285875"/>
            </a:xfrm>
            <a:prstGeom prst="roundRect">
              <a:avLst>
                <a:gd name="adj" fmla="val 7407"/>
              </a:avLst>
            </a:prstGeom>
            <a:solidFill>
              <a:srgbClr val="E9EEF4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490936" y="1996440"/>
              <a:ext cx="1305878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1E4268"/>
                  </a:solidFill>
                  <a:latin typeface="Arial"/>
                  <a:ea typeface="Microsoft YaHei"/>
                  <a:cs typeface="Arial"/>
                </a:rPr>
                <a:t>后台缓冲区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921472" y="2420779"/>
              <a:ext cx="2444806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75" dirty="0">
                  <a:solidFill>
                    <a:srgbClr val="66788A"/>
                  </a:solidFill>
                  <a:latin typeface="Arial"/>
                  <a:ea typeface="Microsoft YaHei"/>
                  <a:cs typeface="Arial"/>
                </a:rPr>
                <a:t>清屏 → 地图 → 对象 → 玩家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10001250" y="1809750"/>
              <a:ext cx="1143000" cy="1285875"/>
            </a:xfrm>
            <a:prstGeom prst="roundRect">
              <a:avLst>
                <a:gd name="adj" fmla="val 8333"/>
              </a:avLst>
            </a:prstGeom>
            <a:solidFill>
              <a:srgbClr val="1E4268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320766" y="2155508"/>
              <a:ext cx="50396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前台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0195560" y="2540318"/>
              <a:ext cx="75438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完整画面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9572625" y="2457450"/>
              <a:ext cx="333375" cy="1"/>
            </a:xfrm>
            <a:prstGeom prst="line">
              <a:avLst/>
            </a:prstGeom>
            <a:noFill/>
            <a:ln w="38100">
              <a:solidFill>
                <a:srgbClr val="5E91BD"/>
              </a:solidFill>
              <a:tailEnd type="triangle" w="lg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267084" y="3377565"/>
              <a:ext cx="3334731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2E7D32"/>
                  </a:solidFill>
                  <a:latin typeface="Arial"/>
                  <a:ea typeface="Microsoft YaHei"/>
                  <a:cs typeface="Arial"/>
                </a:rPr>
                <a:t>FlushBatchDraw() 一次翻屏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666750" y="4572000"/>
            <a:ext cx="10858500" cy="1333500"/>
            <a:chOff x="666750" y="4572000"/>
            <a:chExt cx="10858500" cy="1333500"/>
          </a:xfrm>
        </p:grpSpPr>
        <p:sp>
          <p:nvSpPr>
            <p:cNvPr id="38" name="Rectangle 38"/>
            <p:cNvSpPr/>
            <p:nvPr/>
          </p:nvSpPr>
          <p:spPr>
            <a:xfrm>
              <a:off x="666750" y="4572000"/>
              <a:ext cx="10858500" cy="1333500"/>
            </a:xfrm>
            <a:prstGeom prst="roundRect">
              <a:avLst>
                <a:gd name="adj" fmla="val 8571"/>
              </a:avLst>
            </a:prstGeom>
            <a:solidFill>
              <a:srgbClr val="1E4268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31545" y="4793932"/>
              <a:ext cx="208816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BeginBatchDraw();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3884295" y="4793932"/>
              <a:ext cx="652172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while (running) { update(dt); draw(); FlushBatchDraw(); }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31545" y="5251132"/>
              <a:ext cx="190114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EndBatchDraw();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3884295" y="5251132"/>
              <a:ext cx="488251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效果：一帧作为整体更新，用户不再看到绘制过程</a:t>
              </a:r>
            </a:p>
          </p:txBody>
        </p:sp>
      </p:grpSp>
      <p:sp>
        <p:nvSpPr>
          <p:cNvPr id="44" name="TextBox 44"/>
          <p:cNvSpPr txBox="1"/>
          <p:nvPr/>
        </p:nvSpPr>
        <p:spPr>
          <a:xfrm>
            <a:off x="11329497" y="6410325"/>
            <a:ext cx="214803" cy="2308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altLang="zh-CN" sz="1500" dirty="0">
                <a:solidFill>
                  <a:srgbClr val="66788A"/>
                </a:solidFill>
                <a:latin typeface="Arial"/>
                <a:ea typeface="Microsoft YaHei"/>
                <a:cs typeface="Arial"/>
              </a:rPr>
              <a:t>12</a:t>
            </a:r>
            <a:endParaRPr lang="zh-CN" sz="1500" dirty="0">
              <a:solidFill>
                <a:srgbClr val="66788A"/>
              </a:solidFill>
              <a:latin typeface="Arial"/>
              <a:ea typeface="Microsoft YaHei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37" grpId="0"/>
      <p:bldP spid="4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6" name="Group 6"/>
          <p:cNvGrpSpPr/>
          <p:nvPr/>
        </p:nvGrpSpPr>
        <p:grpSpPr>
          <a:xfrm>
            <a:off x="0" y="0"/>
            <a:ext cx="12192000" cy="681038"/>
            <a:chOff x="0" y="0"/>
            <a:chExt cx="12192000" cy="681038"/>
          </a:xfrm>
        </p:grpSpPr>
        <p:sp>
          <p:nvSpPr>
            <p:cNvPr id="3" name="Rectangle 3"/>
            <p:cNvSpPr/>
            <p:nvPr/>
          </p:nvSpPr>
          <p:spPr>
            <a:xfrm>
              <a:off x="0" y="0"/>
              <a:ext cx="12192000" cy="647700"/>
            </a:xfrm>
            <a:prstGeom prst="rect">
              <a:avLst/>
            </a:prstGeom>
            <a:solidFill>
              <a:srgbClr val="1E4268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39115" y="162878"/>
              <a:ext cx="4385010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4 — dt 累计：解决帧率依赖</a:t>
              </a:r>
            </a:p>
          </p:txBody>
        </p:sp>
        <p:sp>
          <p:nvSpPr>
            <p:cNvPr id="5" name="Freeform 5"/>
            <p:cNvSpPr/>
            <p:nvPr/>
          </p:nvSpPr>
          <p:spPr>
            <a:xfrm>
              <a:off x="11334750" y="1905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304800"/>
                  </a:moveTo>
                  <a:cubicBezTo>
                    <a:pt x="236569" y="304800"/>
                    <a:pt x="304800" y="236569"/>
                    <a:pt x="304800" y="152400"/>
                  </a:cubicBezTo>
                  <a:cubicBezTo>
                    <a:pt x="304800" y="68232"/>
                    <a:pt x="236569" y="0"/>
                    <a:pt x="152400" y="0"/>
                  </a:cubicBezTo>
                  <a:cubicBezTo>
                    <a:pt x="68232" y="0"/>
                    <a:pt x="0" y="68232"/>
                    <a:pt x="0" y="152400"/>
                  </a:cubicBezTo>
                  <a:cubicBezTo>
                    <a:pt x="0" y="236569"/>
                    <a:pt x="68232" y="304800"/>
                    <a:pt x="152400" y="304800"/>
                  </a:cubicBezTo>
                  <a:close/>
                  <a:moveTo>
                    <a:pt x="133350" y="57150"/>
                  </a:moveTo>
                  <a:lnTo>
                    <a:pt x="133350" y="160291"/>
                  </a:lnTo>
                  <a:lnTo>
                    <a:pt x="196080" y="223020"/>
                  </a:lnTo>
                  <a:lnTo>
                    <a:pt x="223020" y="196080"/>
                  </a:lnTo>
                  <a:lnTo>
                    <a:pt x="171450" y="144509"/>
                  </a:lnTo>
                  <a:lnTo>
                    <a:pt x="171450" y="57150"/>
                  </a:lnTo>
                  <a:lnTo>
                    <a:pt x="133350" y="57150"/>
                  </a:lnTo>
                  <a:close/>
                </a:path>
              </a:pathLst>
            </a:custGeom>
            <a:solidFill>
              <a:srgbClr val="5E91BD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593408" y="886301"/>
            <a:ext cx="10979467" cy="3161824"/>
            <a:chOff x="593408" y="886301"/>
            <a:chExt cx="10979467" cy="3161824"/>
          </a:xfrm>
        </p:grpSpPr>
        <p:sp>
          <p:nvSpPr>
            <p:cNvPr id="7" name="TextBox 7"/>
            <p:cNvSpPr txBox="1"/>
            <p:nvPr/>
          </p:nvSpPr>
          <p:spPr>
            <a:xfrm>
              <a:off x="593408" y="886301"/>
              <a:ext cx="3453860" cy="411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5" b="1" dirty="0">
                  <a:solidFill>
                    <a:srgbClr val="1E3A5F"/>
                  </a:solidFill>
                  <a:latin typeface="Arial"/>
                  <a:ea typeface="Microsoft YaHei"/>
                  <a:cs typeface="Arial"/>
                </a:rPr>
                <a:t>同一个问题，经历三步推导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19125" y="1428750"/>
              <a:ext cx="3238500" cy="2619375"/>
            </a:xfrm>
            <a:prstGeom prst="roundRect">
              <a:avLst>
                <a:gd name="adj" fmla="val 5091"/>
              </a:avLst>
            </a:prstGeom>
            <a:solidFill>
              <a:srgbClr val="FFFFFF"/>
            </a:solidFill>
            <a:ln w="9525">
              <a:solidFill>
                <a:srgbClr val="D4DCE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3438" y="1654969"/>
              <a:ext cx="2410420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b="1" dirty="0">
                  <a:solidFill>
                    <a:srgbClr val="C62828"/>
                  </a:solidFill>
                  <a:latin typeface="Arial"/>
                  <a:ea typeface="Microsoft YaHei"/>
                  <a:cs typeface="Arial"/>
                </a:rPr>
                <a:t>原始方案：每帧移动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6295" y="2155508"/>
              <a:ext cx="150509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E3A5F"/>
                  </a:solidFill>
                  <a:latin typeface="Consolas"/>
                  <a:ea typeface="Microsoft YaHei"/>
                  <a:cs typeface="Consolas"/>
                </a:rPr>
                <a:t>pos += speed;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6295" y="2679382"/>
              <a:ext cx="239620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66788A"/>
                  </a:solidFill>
                  <a:latin typeface="Arial"/>
                  <a:ea typeface="Microsoft YaHei"/>
                  <a:cs typeface="Arial"/>
                </a:rPr>
                <a:t>问题：60 FPS 比 30 FPS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36295" y="3012758"/>
              <a:ext cx="268224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66788A"/>
                  </a:solidFill>
                  <a:latin typeface="Arial"/>
                  <a:ea typeface="Microsoft YaHei"/>
                  <a:cs typeface="Arial"/>
                </a:rPr>
                <a:t>多更新一倍，速度依赖机器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4476750" y="1428750"/>
              <a:ext cx="3238500" cy="2619375"/>
            </a:xfrm>
            <a:prstGeom prst="roundRect">
              <a:avLst>
                <a:gd name="adj" fmla="val 5091"/>
              </a:avLst>
            </a:prstGeom>
            <a:solidFill>
              <a:srgbClr val="FFFFFF"/>
            </a:solidFill>
            <a:ln w="9525">
              <a:solidFill>
                <a:srgbClr val="D4DCE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691062" y="1654969"/>
              <a:ext cx="2672953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b="1" dirty="0">
                  <a:solidFill>
                    <a:srgbClr val="2E6EA6"/>
                  </a:solidFill>
                  <a:latin typeface="Arial"/>
                  <a:ea typeface="Microsoft YaHei"/>
                  <a:cs typeface="Arial"/>
                </a:rPr>
                <a:t>第一次改进：时间门槛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694872" y="2163604"/>
              <a:ext cx="2171771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dirty="0">
                  <a:solidFill>
                    <a:srgbClr val="1E3A5F"/>
                  </a:solidFill>
                  <a:latin typeface="Consolas"/>
                  <a:ea typeface="Microsoft YaHei"/>
                  <a:cs typeface="Consolas"/>
                </a:rPr>
                <a:t>if (moveTime &gt;= 450)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693920" y="2679382"/>
              <a:ext cx="2737247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66788A"/>
                  </a:solidFill>
                  <a:latin typeface="Arial"/>
                  <a:ea typeface="Microsoft YaHei"/>
                  <a:cs typeface="Arial"/>
                </a:rPr>
                <a:t>新问题：卡顿累计 900ms，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693920" y="3012758"/>
              <a:ext cx="2275189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66788A"/>
                  </a:solidFill>
                  <a:latin typeface="Arial"/>
                  <a:ea typeface="Microsoft YaHei"/>
                  <a:cs typeface="Arial"/>
                </a:rPr>
                <a:t>if 仍然只补一个逻辑步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8334375" y="1428750"/>
              <a:ext cx="3238500" cy="2619375"/>
            </a:xfrm>
            <a:prstGeom prst="roundRect">
              <a:avLst>
                <a:gd name="adj" fmla="val 5091"/>
              </a:avLst>
            </a:prstGeom>
            <a:solidFill>
              <a:srgbClr val="DDF0DF"/>
            </a:solidFill>
            <a:ln w="9525">
              <a:solidFill>
                <a:srgbClr val="2E7D32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548688" y="1654969"/>
              <a:ext cx="2672953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b="1" dirty="0">
                  <a:solidFill>
                    <a:srgbClr val="2E7D32"/>
                  </a:solidFill>
                  <a:latin typeface="Arial"/>
                  <a:ea typeface="Microsoft YaHei"/>
                  <a:cs typeface="Arial"/>
                </a:rPr>
                <a:t>最终方案：累计并补步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553450" y="2124075"/>
              <a:ext cx="161829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E3A5F"/>
                  </a:solidFill>
                  <a:latin typeface="Consolas"/>
                  <a:ea typeface="Microsoft YaHei"/>
                  <a:cs typeface="Consolas"/>
                </a:rPr>
                <a:t>moveTime += dt;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553450" y="2457450"/>
              <a:ext cx="255841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E3A5F"/>
                  </a:solidFill>
                  <a:latin typeface="Consolas"/>
                  <a:ea typeface="Microsoft YaHei"/>
                  <a:cs typeface="Consolas"/>
                </a:rPr>
                <a:t>while (moveTime &gt;= 450) {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791575" y="2790825"/>
              <a:ext cx="172831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E3A5F"/>
                  </a:solidFill>
                  <a:latin typeface="Consolas"/>
                  <a:ea typeface="Microsoft YaHei"/>
                  <a:cs typeface="Consolas"/>
                </a:rPr>
                <a:t>moveTime -= 450;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791575" y="3124200"/>
              <a:ext cx="165830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E3A5F"/>
                  </a:solidFill>
                  <a:latin typeface="Consolas"/>
                  <a:ea typeface="Microsoft YaHei"/>
                  <a:cs typeface="Consolas"/>
                </a:rPr>
                <a:t>moveOneStep();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553450" y="3457575"/>
              <a:ext cx="14811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E3A5F"/>
                  </a:solidFill>
                  <a:latin typeface="Consolas"/>
                  <a:ea typeface="Microsoft YaHei"/>
                  <a:cs typeface="Consolas"/>
                </a:rPr>
                <a:t>}</a:t>
              </a:r>
            </a:p>
          </p:txBody>
        </p:sp>
        <p:sp>
          <p:nvSpPr>
            <p:cNvPr id="25" name="Line 25"/>
            <p:cNvSpPr/>
            <p:nvPr/>
          </p:nvSpPr>
          <p:spPr>
            <a:xfrm>
              <a:off x="3857625" y="2733675"/>
              <a:ext cx="523875" cy="1"/>
            </a:xfrm>
            <a:prstGeom prst="line">
              <a:avLst/>
            </a:prstGeom>
            <a:noFill/>
            <a:ln w="28575">
              <a:solidFill>
                <a:srgbClr val="5E91BD"/>
              </a:solidFill>
              <a:tailEnd type="triangle" w="lg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Line 26"/>
            <p:cNvSpPr/>
            <p:nvPr/>
          </p:nvSpPr>
          <p:spPr>
            <a:xfrm>
              <a:off x="7715250" y="2733675"/>
              <a:ext cx="523875" cy="1"/>
            </a:xfrm>
            <a:prstGeom prst="line">
              <a:avLst/>
            </a:prstGeom>
            <a:noFill/>
            <a:ln w="28575">
              <a:solidFill>
                <a:srgbClr val="5E91BD"/>
              </a:solidFill>
              <a:tailEnd type="triangle" w="lg" len="lg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619125" y="4572000"/>
            <a:ext cx="10934700" cy="1190625"/>
            <a:chOff x="619125" y="4572000"/>
            <a:chExt cx="10934700" cy="1190625"/>
          </a:xfrm>
        </p:grpSpPr>
        <p:sp>
          <p:nvSpPr>
            <p:cNvPr id="28" name="Rectangle 28"/>
            <p:cNvSpPr/>
            <p:nvPr/>
          </p:nvSpPr>
          <p:spPr>
            <a:xfrm>
              <a:off x="619125" y="4572000"/>
              <a:ext cx="10934700" cy="1190625"/>
            </a:xfrm>
            <a:prstGeom prst="roundRect">
              <a:avLst>
                <a:gd name="adj" fmla="val 11200"/>
              </a:avLst>
            </a:prstGeom>
            <a:solidFill>
              <a:srgbClr val="E9EEF4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82015" y="4806315"/>
              <a:ext cx="801815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E4268"/>
                  </a:solidFill>
                  <a:latin typeface="Arial"/>
                  <a:ea typeface="Microsoft YaHei"/>
                  <a:cs typeface="Arial"/>
                </a:rPr>
                <a:t>双保险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073592" y="4814411"/>
              <a:ext cx="7554254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dirty="0">
                  <a:solidFill>
                    <a:srgbClr val="66788A"/>
                  </a:solidFill>
                  <a:latin typeface="Arial"/>
                  <a:ea typeface="Microsoft YaHei"/>
                  <a:cs typeface="Arial"/>
                </a:rPr>
                <a:t>GetTickCount() 计算真实 dt；dt &gt; 100ms 时截断，防止窗口卡顿后瞬移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82015" y="5234940"/>
              <a:ext cx="105384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E7D32"/>
                  </a:solidFill>
                  <a:latin typeface="Arial"/>
                  <a:ea typeface="Microsoft YaHei"/>
                  <a:cs typeface="Arial"/>
                </a:rPr>
                <a:t>最终效果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073592" y="5243036"/>
              <a:ext cx="5104448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dirty="0">
                  <a:solidFill>
                    <a:srgbClr val="66788A"/>
                  </a:solidFill>
                  <a:latin typeface="Arial"/>
                  <a:ea typeface="Microsoft YaHei"/>
                  <a:cs typeface="Arial"/>
                </a:rPr>
                <a:t>渲染帧率可以波动，但怪物按相同的逻辑时间前进</a:t>
              </a:r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11329497" y="6410325"/>
            <a:ext cx="214803" cy="2308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altLang="zh-CN" sz="1500" dirty="0">
                <a:solidFill>
                  <a:srgbClr val="66788A"/>
                </a:solidFill>
                <a:latin typeface="Arial"/>
                <a:ea typeface="Microsoft YaHei"/>
                <a:cs typeface="Arial"/>
              </a:rPr>
              <a:t>13</a:t>
            </a:r>
            <a:endParaRPr lang="zh-CN" sz="1500" dirty="0">
              <a:solidFill>
                <a:srgbClr val="66788A"/>
              </a:solidFill>
              <a:latin typeface="Arial"/>
              <a:ea typeface="Microsoft YaHei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3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6" name="Group 6"/>
          <p:cNvGrpSpPr/>
          <p:nvPr/>
        </p:nvGrpSpPr>
        <p:grpSpPr>
          <a:xfrm>
            <a:off x="480060" y="477202"/>
            <a:ext cx="11197590" cy="751523"/>
            <a:chOff x="480060" y="477202"/>
            <a:chExt cx="11197590" cy="751523"/>
          </a:xfrm>
        </p:grpSpPr>
        <p:sp>
          <p:nvSpPr>
            <p:cNvPr id="3" name="TextBox 3"/>
            <p:cNvSpPr txBox="1"/>
            <p:nvPr/>
          </p:nvSpPr>
          <p:spPr>
            <a:xfrm>
              <a:off x="501015" y="477202"/>
              <a:ext cx="55593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E6EA6"/>
                  </a:solidFill>
                  <a:latin typeface="Arial"/>
                  <a:ea typeface="Microsoft YaHei"/>
                  <a:cs typeface="Arial"/>
                </a:rPr>
                <a:t>TECH 01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480060" y="680085"/>
              <a:ext cx="6589895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E4268"/>
                  </a:solidFill>
                  <a:latin typeface="Arial"/>
                  <a:ea typeface="Microsoft YaHei"/>
                  <a:cs typeface="Arial"/>
                </a:rPr>
                <a:t>怪物巡路系统——往返式巡逻 + 时间驱动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514350" y="1123950"/>
              <a:ext cx="11163300" cy="9525"/>
            </a:xfrm>
            <a:custGeom>
              <a:avLst/>
              <a:gdLst/>
              <a:ahLst/>
              <a:cxnLst/>
              <a:rect l="l" t="t" r="r" b="b"/>
              <a:pathLst>
                <a:path w="11163300" h="9525">
                  <a:moveTo>
                    <a:pt x="0" y="0"/>
                  </a:moveTo>
                  <a:lnTo>
                    <a:pt x="11163300" y="0"/>
                  </a:lnTo>
                </a:path>
              </a:pathLst>
            </a:custGeom>
            <a:noFill/>
            <a:ln w="19050">
              <a:solidFill>
                <a:srgbClr val="D4DCE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514350" y="1390650"/>
            <a:ext cx="6819900" cy="3009900"/>
            <a:chOff x="514350" y="1390650"/>
            <a:chExt cx="6819900" cy="3009900"/>
          </a:xfrm>
        </p:grpSpPr>
        <p:sp>
          <p:nvSpPr>
            <p:cNvPr id="7" name="Rectangle 7"/>
            <p:cNvSpPr/>
            <p:nvPr/>
          </p:nvSpPr>
          <p:spPr>
            <a:xfrm>
              <a:off x="514350" y="1390650"/>
              <a:ext cx="6819900" cy="3009900"/>
            </a:xfrm>
            <a:prstGeom prst="roundRect">
              <a:avLst>
                <a:gd name="adj" fmla="val 2532"/>
              </a:avLst>
            </a:prstGeom>
            <a:solidFill>
              <a:srgbClr val="FFFFFF"/>
            </a:solidFill>
            <a:ln w="14288">
              <a:solidFill>
                <a:srgbClr val="D4DCE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20090" y="1539240"/>
              <a:ext cx="5111553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E3A5F"/>
                  </a:solidFill>
                  <a:latin typeface="Arial"/>
                  <a:ea typeface="Microsoft YaHei"/>
                  <a:cs typeface="Arial"/>
                </a:rPr>
                <a:t>路线不是“运行时折返”，而是预先展开的圆环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29615" y="1886902"/>
              <a:ext cx="416418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788A"/>
                  </a:solidFill>
                  <a:latin typeface="Arial"/>
                  <a:ea typeface="SimSun"/>
                  <a:cs typeface="Arial"/>
                </a:rPr>
                <a:t>vector&lt;GridPosition&gt; 中已经写入返程坐标，索引只负责循环前进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1123950" y="2762250"/>
              <a:ext cx="685800" cy="1"/>
            </a:xfrm>
            <a:prstGeom prst="line">
              <a:avLst/>
            </a:prstGeom>
            <a:noFill/>
            <a:ln w="28575">
              <a:solidFill>
                <a:srgbClr val="2E6EA6"/>
              </a:solidFill>
              <a:tailEnd type="triangle" w="lg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Line 11"/>
            <p:cNvSpPr/>
            <p:nvPr/>
          </p:nvSpPr>
          <p:spPr>
            <a:xfrm>
              <a:off x="2095500" y="2762250"/>
              <a:ext cx="685800" cy="1"/>
            </a:xfrm>
            <a:prstGeom prst="line">
              <a:avLst/>
            </a:prstGeom>
            <a:noFill/>
            <a:ln w="28575">
              <a:solidFill>
                <a:srgbClr val="2E6EA6"/>
              </a:solidFill>
              <a:tailEnd type="triangle" w="lg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Line 12"/>
            <p:cNvSpPr/>
            <p:nvPr/>
          </p:nvSpPr>
          <p:spPr>
            <a:xfrm>
              <a:off x="3067050" y="2762250"/>
              <a:ext cx="685800" cy="1"/>
            </a:xfrm>
            <a:prstGeom prst="line">
              <a:avLst/>
            </a:prstGeom>
            <a:noFill/>
            <a:ln w="28575">
              <a:solidFill>
                <a:srgbClr val="2E6EA6"/>
              </a:solidFill>
              <a:tailEnd type="triangle" w="lg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Line 13"/>
            <p:cNvSpPr/>
            <p:nvPr/>
          </p:nvSpPr>
          <p:spPr>
            <a:xfrm>
              <a:off x="4038600" y="2762250"/>
              <a:ext cx="685800" cy="1"/>
            </a:xfrm>
            <a:prstGeom prst="line">
              <a:avLst/>
            </a:prstGeom>
            <a:noFill/>
            <a:ln w="28575">
              <a:solidFill>
                <a:srgbClr val="2E6EA6"/>
              </a:solidFill>
              <a:tailEnd type="triangle" w="lg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Line 14"/>
            <p:cNvSpPr/>
            <p:nvPr/>
          </p:nvSpPr>
          <p:spPr>
            <a:xfrm>
              <a:off x="5010150" y="2762250"/>
              <a:ext cx="685800" cy="1"/>
            </a:xfrm>
            <a:prstGeom prst="line">
              <a:avLst/>
            </a:prstGeom>
            <a:noFill/>
            <a:ln w="28575">
              <a:solidFill>
                <a:srgbClr val="2E6EA6"/>
              </a:solidFill>
              <a:tailEnd type="triangle" w="lg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Line 15"/>
            <p:cNvSpPr/>
            <p:nvPr/>
          </p:nvSpPr>
          <p:spPr>
            <a:xfrm>
              <a:off x="5981700" y="2762250"/>
              <a:ext cx="685800" cy="1"/>
            </a:xfrm>
            <a:prstGeom prst="line">
              <a:avLst/>
            </a:prstGeom>
            <a:noFill/>
            <a:ln w="28575">
              <a:solidFill>
                <a:srgbClr val="2E6EA6"/>
              </a:solidFill>
              <a:tailEnd type="triangle" w="lg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Freeform 16"/>
            <p:cNvSpPr/>
            <p:nvPr/>
          </p:nvSpPr>
          <p:spPr>
            <a:xfrm>
              <a:off x="876300" y="2952750"/>
              <a:ext cx="6076950" cy="876300"/>
            </a:xfrm>
            <a:custGeom>
              <a:avLst/>
              <a:gdLst/>
              <a:ahLst/>
              <a:cxnLst/>
              <a:rect l="l" t="t" r="r" b="b"/>
              <a:pathLst>
                <a:path w="6076950" h="876300">
                  <a:moveTo>
                    <a:pt x="6076950" y="0"/>
                  </a:moveTo>
                  <a:cubicBezTo>
                    <a:pt x="6076950" y="876300"/>
                    <a:pt x="0" y="876300"/>
                    <a:pt x="0" y="0"/>
                  </a:cubicBezTo>
                </a:path>
              </a:pathLst>
            </a:custGeom>
            <a:noFill/>
            <a:ln w="28575">
              <a:solidFill>
                <a:srgbClr val="2E6EA6"/>
              </a:solidFill>
              <a:tailEnd type="triangle" w="lg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Ellipse 17"/>
            <p:cNvSpPr/>
            <p:nvPr/>
          </p:nvSpPr>
          <p:spPr>
            <a:xfrm>
              <a:off x="628650" y="2514600"/>
              <a:ext cx="495300" cy="495300"/>
            </a:xfrm>
            <a:prstGeom prst="ellipse">
              <a:avLst/>
            </a:prstGeom>
            <a:solidFill>
              <a:srgbClr val="1E4268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Ellipse 18"/>
            <p:cNvSpPr/>
            <p:nvPr/>
          </p:nvSpPr>
          <p:spPr>
            <a:xfrm>
              <a:off x="1600200" y="2514600"/>
              <a:ext cx="495300" cy="4953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5E91BD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Ellipse 19"/>
            <p:cNvSpPr/>
            <p:nvPr/>
          </p:nvSpPr>
          <p:spPr>
            <a:xfrm>
              <a:off x="2571750" y="2514600"/>
              <a:ext cx="495300" cy="4953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5E91BD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Ellipse 20"/>
            <p:cNvSpPr/>
            <p:nvPr/>
          </p:nvSpPr>
          <p:spPr>
            <a:xfrm>
              <a:off x="3543300" y="2514600"/>
              <a:ext cx="495300" cy="4953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5E91BD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Ellipse 21"/>
            <p:cNvSpPr/>
            <p:nvPr/>
          </p:nvSpPr>
          <p:spPr>
            <a:xfrm>
              <a:off x="4514850" y="2514600"/>
              <a:ext cx="495300" cy="495300"/>
            </a:xfrm>
            <a:prstGeom prst="ellipse">
              <a:avLst/>
            </a:prstGeom>
            <a:solidFill>
              <a:srgbClr val="2E6EA6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Ellipse 22"/>
            <p:cNvSpPr/>
            <p:nvPr/>
          </p:nvSpPr>
          <p:spPr>
            <a:xfrm>
              <a:off x="5486400" y="2514600"/>
              <a:ext cx="495300" cy="4953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5E91BD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Ellipse 23"/>
            <p:cNvSpPr/>
            <p:nvPr/>
          </p:nvSpPr>
          <p:spPr>
            <a:xfrm>
              <a:off x="6457950" y="2514600"/>
              <a:ext cx="495300" cy="4953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5E91BD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47451" y="2706052"/>
              <a:ext cx="25769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1,9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680496" y="2706052"/>
              <a:ext cx="33470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375082"/>
                  </a:solidFill>
                  <a:latin typeface="Consolas"/>
                  <a:ea typeface="Microsoft YaHei"/>
                  <a:cs typeface="Consolas"/>
                </a:rPr>
                <a:t>1,10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652046" y="2706052"/>
              <a:ext cx="33470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375082"/>
                  </a:solidFill>
                  <a:latin typeface="Consolas"/>
                  <a:ea typeface="Microsoft YaHei"/>
                  <a:cs typeface="Consolas"/>
                </a:rPr>
                <a:t>1,11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623596" y="2706052"/>
              <a:ext cx="33470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375082"/>
                  </a:solidFill>
                  <a:latin typeface="Consolas"/>
                  <a:ea typeface="Microsoft YaHei"/>
                  <a:cs typeface="Consolas"/>
                </a:rPr>
                <a:t>1,12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595146" y="2706052"/>
              <a:ext cx="33470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1,13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566696" y="2706052"/>
              <a:ext cx="33470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375082"/>
                  </a:solidFill>
                  <a:latin typeface="Consolas"/>
                  <a:ea typeface="Microsoft YaHei"/>
                  <a:cs typeface="Consolas"/>
                </a:rPr>
                <a:t>1,12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538246" y="2706052"/>
              <a:ext cx="33470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375082"/>
                  </a:solidFill>
                  <a:latin typeface="Consolas"/>
                  <a:ea typeface="Microsoft YaHei"/>
                  <a:cs typeface="Consolas"/>
                </a:rPr>
                <a:t>1,11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23900" y="3933825"/>
              <a:ext cx="352853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E3A5F"/>
                  </a:solidFill>
                  <a:latin typeface="Consolas"/>
                  <a:ea typeface="Microsoft YaHei"/>
                  <a:cs typeface="Consolas"/>
                </a:rPr>
                <a:t>next = (routeId + 1) % route.size()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933950" y="3933825"/>
              <a:ext cx="180832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66788A"/>
                  </a:solidFill>
                  <a:latin typeface="Arial"/>
                  <a:ea typeface="SimSun"/>
                  <a:cs typeface="Arial"/>
                </a:rPr>
                <a:t>到尾部后回到索引 0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7600950" y="1390650"/>
            <a:ext cx="4098131" cy="2266950"/>
            <a:chOff x="7600950" y="1390650"/>
            <a:chExt cx="4098131" cy="2266950"/>
          </a:xfrm>
        </p:grpSpPr>
        <p:sp>
          <p:nvSpPr>
            <p:cNvPr id="34" name="Rectangle 34"/>
            <p:cNvSpPr/>
            <p:nvPr/>
          </p:nvSpPr>
          <p:spPr>
            <a:xfrm>
              <a:off x="7600950" y="1390650"/>
              <a:ext cx="4076700" cy="2266950"/>
            </a:xfrm>
            <a:prstGeom prst="roundRect">
              <a:avLst>
                <a:gd name="adj" fmla="val 3361"/>
              </a:avLst>
            </a:prstGeom>
            <a:solidFill>
              <a:srgbClr val="FFFFFF"/>
            </a:solidFill>
            <a:ln w="14288">
              <a:solidFill>
                <a:srgbClr val="D4DCE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806690" y="1539240"/>
              <a:ext cx="1620917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E3A5F"/>
                  </a:solidFill>
                  <a:latin typeface="Arial"/>
                  <a:ea typeface="Microsoft YaHei"/>
                  <a:cs typeface="Arial"/>
                </a:rPr>
                <a:t>450ms 时间桶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7829550" y="2019300"/>
              <a:ext cx="3390900" cy="323850"/>
            </a:xfrm>
            <a:prstGeom prst="roundRect">
              <a:avLst>
                <a:gd name="adj" fmla="val 23529"/>
              </a:avLst>
            </a:prstGeom>
            <a:solidFill>
              <a:srgbClr val="E9EEF4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" name="Rectangle 37"/>
            <p:cNvSpPr/>
            <p:nvPr/>
          </p:nvSpPr>
          <p:spPr>
            <a:xfrm>
              <a:off x="7829550" y="2019300"/>
              <a:ext cx="2571750" cy="323850"/>
            </a:xfrm>
            <a:prstGeom prst="roundRect">
              <a:avLst>
                <a:gd name="adj" fmla="val 23529"/>
              </a:avLst>
            </a:prstGeom>
            <a:solidFill>
              <a:srgbClr val="5E91BD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" name="Line 38"/>
            <p:cNvSpPr/>
            <p:nvPr/>
          </p:nvSpPr>
          <p:spPr>
            <a:xfrm>
              <a:off x="11220450" y="1943100"/>
              <a:ext cx="9525" cy="476250"/>
            </a:xfrm>
            <a:custGeom>
              <a:avLst/>
              <a:gdLst/>
              <a:ahLst/>
              <a:cxnLst/>
              <a:rect l="l" t="t" r="r" b="b"/>
              <a:pathLst>
                <a:path w="9525" h="476250">
                  <a:moveTo>
                    <a:pt x="0" y="0"/>
                  </a:moveTo>
                  <a:lnTo>
                    <a:pt x="0" y="476250"/>
                  </a:lnTo>
                </a:path>
              </a:pathLst>
            </a:custGeom>
            <a:noFill/>
            <a:ln w="19050">
              <a:solidFill>
                <a:srgbClr val="1E4268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1000589" y="2525078"/>
              <a:ext cx="43972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A6570"/>
                  </a:solidFill>
                  <a:latin typeface="Consolas"/>
                  <a:ea typeface="Microsoft YaHei"/>
                  <a:cs typeface="Consolas"/>
                </a:rPr>
                <a:t>450ms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810500" y="2790825"/>
              <a:ext cx="388858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375082"/>
                  </a:solidFill>
                  <a:latin typeface="Arial"/>
                  <a:ea typeface="SimSun"/>
                  <a:cs typeface="Arial"/>
                </a:rPr>
                <a:t>moveTime 累加真实 dt，满一桶才走一步。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810500" y="3095625"/>
              <a:ext cx="338851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375082"/>
                  </a:solidFill>
                  <a:latin typeface="Arial"/>
                  <a:ea typeface="SimSun"/>
                  <a:cs typeface="Arial"/>
                </a:rPr>
                <a:t>卡顿积累多桶时，</a:t>
              </a:r>
              <a:r>
                <a:rPr lang="zh-CN" sz="1500" b="1" dirty="0">
                  <a:solidFill>
                    <a:srgbClr val="2E6EA6"/>
                  </a:solidFill>
                  <a:latin typeface="Arial"/>
                  <a:ea typeface="Microsoft YaHei"/>
                  <a:cs typeface="Arial"/>
                </a:rPr>
                <a:t>while 会连续补步</a:t>
              </a:r>
              <a:r>
                <a:rPr lang="zh-CN" sz="1500" dirty="0">
                  <a:solidFill>
                    <a:srgbClr val="375082"/>
                  </a:solidFill>
                  <a:latin typeface="Arial"/>
                  <a:ea typeface="SimSun"/>
                  <a:cs typeface="Arial"/>
                </a:rPr>
                <a:t>。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7600950" y="3848100"/>
            <a:ext cx="4076700" cy="2095500"/>
            <a:chOff x="7600950" y="3848100"/>
            <a:chExt cx="4076700" cy="2095500"/>
          </a:xfrm>
        </p:grpSpPr>
        <p:sp>
          <p:nvSpPr>
            <p:cNvPr id="43" name="Rectangle 43"/>
            <p:cNvSpPr/>
            <p:nvPr/>
          </p:nvSpPr>
          <p:spPr>
            <a:xfrm>
              <a:off x="7600950" y="3848100"/>
              <a:ext cx="4076700" cy="2095500"/>
            </a:xfrm>
            <a:prstGeom prst="roundRect">
              <a:avLst>
                <a:gd name="adj" fmla="val 3636"/>
              </a:avLst>
            </a:prstGeom>
            <a:solidFill>
              <a:srgbClr val="282C34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813358" y="4034314"/>
              <a:ext cx="1375553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moveTime += dt;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813358" y="4339114"/>
              <a:ext cx="279523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while (moveTime &gt;= MOVE_TIME) {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041958" y="4643914"/>
              <a:ext cx="208964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E91BD"/>
                  </a:solidFill>
                  <a:latin typeface="Consolas"/>
                  <a:ea typeface="Microsoft YaHei"/>
                  <a:cs typeface="Consolas"/>
                </a:rPr>
                <a:t>moveTime -= MOVE_TIME;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041958" y="4948714"/>
              <a:ext cx="338180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int next = (routeId + 1) % route.size();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041958" y="5253514"/>
              <a:ext cx="342430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if (map.canWalk(route[next])) move();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813358" y="5558314"/>
              <a:ext cx="125897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}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514350" y="4629150"/>
            <a:ext cx="6819900" cy="1314450"/>
            <a:chOff x="514350" y="4629150"/>
            <a:chExt cx="6819900" cy="1314450"/>
          </a:xfrm>
        </p:grpSpPr>
        <p:sp>
          <p:nvSpPr>
            <p:cNvPr id="51" name="Rectangle 51"/>
            <p:cNvSpPr/>
            <p:nvPr/>
          </p:nvSpPr>
          <p:spPr>
            <a:xfrm>
              <a:off x="514350" y="4629150"/>
              <a:ext cx="6819900" cy="1314450"/>
            </a:xfrm>
            <a:prstGeom prst="roundRect">
              <a:avLst>
                <a:gd name="adj" fmla="val 5797"/>
              </a:avLst>
            </a:prstGeom>
            <a:solidFill>
              <a:srgbClr val="FFFFFF"/>
            </a:solidFill>
            <a:ln w="14288">
              <a:solidFill>
                <a:srgbClr val="D4DCE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" name="Line 52"/>
            <p:cNvSpPr/>
            <p:nvPr/>
          </p:nvSpPr>
          <p:spPr>
            <a:xfrm>
              <a:off x="3733800" y="4838700"/>
              <a:ext cx="9525" cy="895350"/>
            </a:xfrm>
            <a:custGeom>
              <a:avLst/>
              <a:gdLst/>
              <a:ahLst/>
              <a:cxnLst/>
              <a:rect l="l" t="t" r="r" b="b"/>
              <a:pathLst>
                <a:path w="9525" h="895350">
                  <a:moveTo>
                    <a:pt x="0" y="0"/>
                  </a:moveTo>
                  <a:lnTo>
                    <a:pt x="0" y="895350"/>
                  </a:lnTo>
                </a:path>
              </a:pathLst>
            </a:custGeom>
            <a:noFill/>
            <a:ln w="14288">
              <a:solidFill>
                <a:srgbClr val="D4DCE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23900" y="4829175"/>
              <a:ext cx="192833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C62828"/>
                  </a:solidFill>
                  <a:latin typeface="Arial"/>
                  <a:ea typeface="Microsoft YaHei"/>
                  <a:cs typeface="Arial"/>
                </a:rPr>
                <a:t>遇砖块：本次不移动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23900" y="5133975"/>
              <a:ext cx="241839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375082"/>
                  </a:solidFill>
                  <a:latin typeface="Arial"/>
                  <a:ea typeface="SimSun"/>
                  <a:cs typeface="Arial"/>
                </a:rPr>
                <a:t>不改 routeId，也不绕路；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23900" y="5419725"/>
              <a:ext cx="16383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375082"/>
                  </a:solidFill>
                  <a:latin typeface="Arial"/>
                  <a:ea typeface="SimSun"/>
                  <a:cs typeface="Arial"/>
                </a:rPr>
                <a:t>下一帧继续尝试。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3943350" y="4829175"/>
              <a:ext cx="228538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E7D32"/>
                  </a:solidFill>
                  <a:latin typeface="Arial"/>
                  <a:ea typeface="Microsoft YaHei"/>
                  <a:cs typeface="Arial"/>
                </a:rPr>
                <a:t>6 只怪物：6 条独立路线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3943350" y="5133975"/>
              <a:ext cx="209835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375082"/>
                  </a:solidFill>
                  <a:latin typeface="Arial"/>
                  <a:ea typeface="SimSun"/>
                  <a:cs typeface="Arial"/>
                </a:rPr>
                <a:t>五条 8 点、一条 6 点；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3943350" y="5419725"/>
              <a:ext cx="263842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375082"/>
                  </a:solidFill>
                  <a:latin typeface="Arial"/>
                  <a:ea typeface="SimSun"/>
                  <a:cs typeface="Arial"/>
                </a:rPr>
                <a:t>不同起点，各走各的巡逻带。</a:t>
              </a:r>
            </a:p>
          </p:txBody>
        </p:sp>
      </p:grpSp>
      <p:sp>
        <p:nvSpPr>
          <p:cNvPr id="62" name="TextBox 19">
            <a:extLst>
              <a:ext uri="{FF2B5EF4-FFF2-40B4-BE49-F238E27FC236}">
                <a16:creationId xmlns:a16="http://schemas.microsoft.com/office/drawing/2014/main" id="{A2B71A76-07D0-B648-4D24-E19552FD79AD}"/>
              </a:ext>
            </a:extLst>
          </p:cNvPr>
          <p:cNvSpPr txBox="1"/>
          <p:nvPr/>
        </p:nvSpPr>
        <p:spPr>
          <a:xfrm>
            <a:off x="11329497" y="6410325"/>
            <a:ext cx="214803" cy="2308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altLang="zh-CN" sz="1500" dirty="0">
                <a:solidFill>
                  <a:srgbClr val="66788A"/>
                </a:solidFill>
                <a:latin typeface="Arial"/>
                <a:ea typeface="Microsoft YaHei"/>
                <a:cs typeface="Arial"/>
              </a:rPr>
              <a:t>14</a:t>
            </a:r>
            <a:endParaRPr lang="zh-CN" sz="1500" dirty="0">
              <a:solidFill>
                <a:srgbClr val="66788A"/>
              </a:solidFill>
              <a:latin typeface="Arial"/>
              <a:ea typeface="Microsoft YaHei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4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42" grpId="0"/>
      <p:bldP spid="50" grpId="0"/>
      <p:bldP spid="5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6" name="Group 6"/>
          <p:cNvGrpSpPr/>
          <p:nvPr/>
        </p:nvGrpSpPr>
        <p:grpSpPr>
          <a:xfrm>
            <a:off x="480060" y="477202"/>
            <a:ext cx="11197590" cy="751523"/>
            <a:chOff x="480060" y="477202"/>
            <a:chExt cx="11197590" cy="751523"/>
          </a:xfrm>
        </p:grpSpPr>
        <p:sp>
          <p:nvSpPr>
            <p:cNvPr id="3" name="TextBox 3"/>
            <p:cNvSpPr txBox="1"/>
            <p:nvPr/>
          </p:nvSpPr>
          <p:spPr>
            <a:xfrm>
              <a:off x="501015" y="477202"/>
              <a:ext cx="55593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E6EA6"/>
                  </a:solidFill>
                  <a:latin typeface="Arial"/>
                  <a:ea typeface="Microsoft YaHei"/>
                  <a:cs typeface="Arial"/>
                </a:rPr>
                <a:t>TECH 02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480060" y="680085"/>
              <a:ext cx="6930138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E4268"/>
                  </a:solidFill>
                  <a:latin typeface="Arial"/>
                  <a:ea typeface="Microsoft YaHei"/>
                  <a:cs typeface="Arial"/>
                </a:rPr>
                <a:t>爆炸传播算法——“BFS 简化版”的准确实现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514350" y="1123950"/>
              <a:ext cx="11163300" cy="9525"/>
            </a:xfrm>
            <a:custGeom>
              <a:avLst/>
              <a:gdLst/>
              <a:ahLst/>
              <a:cxnLst/>
              <a:rect l="l" t="t" r="r" b="b"/>
              <a:pathLst>
                <a:path w="11163300" h="9525">
                  <a:moveTo>
                    <a:pt x="0" y="0"/>
                  </a:moveTo>
                  <a:lnTo>
                    <a:pt x="11163300" y="0"/>
                  </a:lnTo>
                </a:path>
              </a:pathLst>
            </a:custGeom>
            <a:noFill/>
            <a:ln w="19050">
              <a:solidFill>
                <a:srgbClr val="D4DCE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514350" y="1409700"/>
            <a:ext cx="3028950" cy="3143250"/>
            <a:chOff x="514350" y="1409700"/>
            <a:chExt cx="3028950" cy="3143250"/>
          </a:xfrm>
        </p:grpSpPr>
        <p:sp>
          <p:nvSpPr>
            <p:cNvPr id="7" name="Rectangle 7"/>
            <p:cNvSpPr/>
            <p:nvPr/>
          </p:nvSpPr>
          <p:spPr>
            <a:xfrm>
              <a:off x="514350" y="1409700"/>
              <a:ext cx="3028950" cy="3143250"/>
            </a:xfrm>
            <a:prstGeom prst="roundRect">
              <a:avLst>
                <a:gd name="adj" fmla="val 2516"/>
              </a:avLst>
            </a:prstGeom>
            <a:solidFill>
              <a:srgbClr val="FFFFFF"/>
            </a:solidFill>
            <a:ln w="14288">
              <a:solidFill>
                <a:srgbClr val="D4DCE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20090" y="1558290"/>
              <a:ext cx="2314004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E3A5F"/>
                  </a:solidFill>
                  <a:latin typeface="Arial"/>
                  <a:ea typeface="Microsoft YaHei"/>
                  <a:cs typeface="Arial"/>
                </a:rPr>
                <a:t>三种格子，三种语义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742950" y="2076450"/>
              <a:ext cx="590550" cy="590550"/>
            </a:xfrm>
            <a:prstGeom prst="rect">
              <a:avLst/>
            </a:prstGeom>
            <a:solidFill>
              <a:srgbClr val="C62828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07806" y="2300764"/>
              <a:ext cx="46083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WALL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504950" y="2124075"/>
              <a:ext cx="129825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C62828"/>
                  </a:solidFill>
                  <a:latin typeface="Arial"/>
                  <a:ea typeface="Microsoft YaHei"/>
                  <a:cs typeface="Arial"/>
                </a:rPr>
                <a:t>停止，不加入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504950" y="2409825"/>
              <a:ext cx="183832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375082"/>
                  </a:solidFill>
                  <a:latin typeface="Arial"/>
                  <a:ea typeface="SimSun"/>
                  <a:cs typeface="Arial"/>
                </a:rPr>
                <a:t>墙本身不受爆炸覆盖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742950" y="2914650"/>
              <a:ext cx="590550" cy="590550"/>
            </a:xfrm>
            <a:prstGeom prst="rect">
              <a:avLst/>
            </a:prstGeom>
            <a:solidFill>
              <a:srgbClr val="5E91BD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98880" y="3138964"/>
              <a:ext cx="478691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BRICK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504950" y="2962275"/>
              <a:ext cx="150828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E6EA6"/>
                  </a:solidFill>
                  <a:latin typeface="Arial"/>
                  <a:ea typeface="Microsoft YaHei"/>
                  <a:cs typeface="Arial"/>
                </a:rPr>
                <a:t>加入，然后停止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504950" y="3248025"/>
              <a:ext cx="20383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375082"/>
                  </a:solidFill>
                  <a:latin typeface="Arial"/>
                  <a:ea typeface="SimSun"/>
                  <a:cs typeface="Arial"/>
                </a:rPr>
                <a:t>砖块被炸，但挡住后方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742950" y="3752850"/>
              <a:ext cx="590550" cy="590550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2E7D32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07806" y="3977164"/>
              <a:ext cx="46083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2E7D32"/>
                  </a:solidFill>
                  <a:latin typeface="Arial"/>
                  <a:ea typeface="Microsoft YaHei"/>
                  <a:cs typeface="Arial"/>
                </a:rPr>
                <a:t>ROAD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504950" y="3800475"/>
              <a:ext cx="150828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E7D32"/>
                  </a:solidFill>
                  <a:latin typeface="Arial"/>
                  <a:ea typeface="Microsoft YaHei"/>
                  <a:cs typeface="Arial"/>
                </a:rPr>
                <a:t>加入，继续前进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504950" y="4086225"/>
              <a:ext cx="150828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375082"/>
                  </a:solidFill>
                  <a:latin typeface="Arial"/>
                  <a:ea typeface="SimSun"/>
                  <a:cs typeface="Arial"/>
                </a:rPr>
                <a:t>直到 range 用尽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3771900" y="1409700"/>
            <a:ext cx="4343400" cy="3143250"/>
            <a:chOff x="3771900" y="1409700"/>
            <a:chExt cx="4343400" cy="3143250"/>
          </a:xfrm>
        </p:grpSpPr>
        <p:sp>
          <p:nvSpPr>
            <p:cNvPr id="22" name="Rectangle 22"/>
            <p:cNvSpPr/>
            <p:nvPr/>
          </p:nvSpPr>
          <p:spPr>
            <a:xfrm>
              <a:off x="3771900" y="1409700"/>
              <a:ext cx="4343400" cy="3143250"/>
            </a:xfrm>
            <a:prstGeom prst="roundRect">
              <a:avLst>
                <a:gd name="adj" fmla="val 2424"/>
              </a:avLst>
            </a:prstGeom>
            <a:solidFill>
              <a:srgbClr val="FFFFFF"/>
            </a:solidFill>
            <a:ln w="14288">
              <a:solidFill>
                <a:srgbClr val="D4DCE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977640" y="1558290"/>
              <a:ext cx="2503027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E3A5F"/>
                  </a:solidFill>
                  <a:latin typeface="Arial"/>
                  <a:ea typeface="Microsoft YaHei"/>
                  <a:cs typeface="Arial"/>
                </a:rPr>
                <a:t>四向各扫描 range = 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987165" y="1905952"/>
              <a:ext cx="281301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788A"/>
                  </a:solidFill>
                  <a:latin typeface="Arial"/>
                  <a:ea typeface="SimSun"/>
                  <a:cs typeface="Arial"/>
                </a:rPr>
                <a:t>中心先加入；每个方向都从 center 重新出发</a:t>
              </a:r>
            </a:p>
          </p:txBody>
        </p:sp>
        <p:sp>
          <p:nvSpPr>
            <p:cNvPr id="25" name="Line 25"/>
            <p:cNvSpPr/>
            <p:nvPr/>
          </p:nvSpPr>
          <p:spPr>
            <a:xfrm flipV="1">
              <a:off x="5962650" y="2266950"/>
              <a:ext cx="1" cy="361950"/>
            </a:xfrm>
            <a:prstGeom prst="line">
              <a:avLst/>
            </a:prstGeom>
            <a:noFill/>
            <a:ln w="28575">
              <a:solidFill>
                <a:srgbClr val="2E6EA6"/>
              </a:solidFill>
              <a:tailEnd type="triangle" w="lg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Line 26"/>
            <p:cNvSpPr/>
            <p:nvPr/>
          </p:nvSpPr>
          <p:spPr>
            <a:xfrm>
              <a:off x="5962650" y="3352800"/>
              <a:ext cx="1" cy="361950"/>
            </a:xfrm>
            <a:prstGeom prst="line">
              <a:avLst/>
            </a:prstGeom>
            <a:noFill/>
            <a:ln w="28575">
              <a:solidFill>
                <a:srgbClr val="2E6EA6"/>
              </a:solidFill>
              <a:tailEnd type="triangle" w="lg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Line 27"/>
            <p:cNvSpPr/>
            <p:nvPr/>
          </p:nvSpPr>
          <p:spPr>
            <a:xfrm flipH="1">
              <a:off x="5238750" y="2990850"/>
              <a:ext cx="361950" cy="1"/>
            </a:xfrm>
            <a:prstGeom prst="line">
              <a:avLst/>
            </a:prstGeom>
            <a:noFill/>
            <a:ln w="28575">
              <a:solidFill>
                <a:srgbClr val="2E6EA6"/>
              </a:solidFill>
              <a:tailEnd type="triangle" w="lg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Line 28"/>
            <p:cNvSpPr/>
            <p:nvPr/>
          </p:nvSpPr>
          <p:spPr>
            <a:xfrm>
              <a:off x="6324600" y="2990850"/>
              <a:ext cx="361950" cy="1"/>
            </a:xfrm>
            <a:prstGeom prst="line">
              <a:avLst/>
            </a:prstGeom>
            <a:noFill/>
            <a:ln w="28575">
              <a:solidFill>
                <a:srgbClr val="2E6EA6"/>
              </a:solidFill>
              <a:tailEnd type="triangle" w="lg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657850" y="2686050"/>
              <a:ext cx="609600" cy="609600"/>
            </a:xfrm>
            <a:prstGeom prst="rect">
              <a:avLst/>
            </a:prstGeom>
            <a:solidFill>
              <a:srgbClr val="1E4268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767935" y="2919889"/>
              <a:ext cx="38943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炸弹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657850" y="2076450"/>
              <a:ext cx="609600" cy="51435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2E7D32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" name="Rectangle 32"/>
            <p:cNvSpPr/>
            <p:nvPr/>
          </p:nvSpPr>
          <p:spPr>
            <a:xfrm>
              <a:off x="7086600" y="1657350"/>
              <a:ext cx="800100" cy="400050"/>
            </a:xfrm>
            <a:prstGeom prst="rect">
              <a:avLst/>
            </a:prstGeom>
            <a:solidFill>
              <a:srgbClr val="C62828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657850" y="3390900"/>
              <a:ext cx="609600" cy="51435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2E7D32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657850" y="4000500"/>
              <a:ext cx="609600" cy="381000"/>
            </a:xfrm>
            <a:prstGeom prst="rect">
              <a:avLst/>
            </a:prstGeom>
            <a:solidFill>
              <a:srgbClr val="5E91BD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" name="Rectangle 35"/>
            <p:cNvSpPr/>
            <p:nvPr/>
          </p:nvSpPr>
          <p:spPr>
            <a:xfrm>
              <a:off x="4953000" y="2686050"/>
              <a:ext cx="609600" cy="6096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2E7D32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" name="Rectangle 36"/>
            <p:cNvSpPr/>
            <p:nvPr/>
          </p:nvSpPr>
          <p:spPr>
            <a:xfrm>
              <a:off x="4248150" y="2686050"/>
              <a:ext cx="609600" cy="6096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2E7D32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" name="Rectangle 37"/>
            <p:cNvSpPr/>
            <p:nvPr/>
          </p:nvSpPr>
          <p:spPr>
            <a:xfrm>
              <a:off x="6362700" y="2686050"/>
              <a:ext cx="609600" cy="6096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2E7D32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" name="Rectangle 38"/>
            <p:cNvSpPr/>
            <p:nvPr/>
          </p:nvSpPr>
          <p:spPr>
            <a:xfrm>
              <a:off x="7067550" y="2686050"/>
              <a:ext cx="609600" cy="609600"/>
            </a:xfrm>
            <a:prstGeom prst="rect">
              <a:avLst/>
            </a:prstGeom>
            <a:solidFill>
              <a:srgbClr val="5E91BD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296893" y="1801178"/>
              <a:ext cx="37951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WALL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5772893" y="2277428"/>
              <a:ext cx="37951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E7D32"/>
                  </a:solidFill>
                  <a:latin typeface="Arial"/>
                  <a:ea typeface="Microsoft YaHei"/>
                  <a:cs typeface="Arial"/>
                </a:rPr>
                <a:t>ROAD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772893" y="3591878"/>
              <a:ext cx="37951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E7D32"/>
                  </a:solidFill>
                  <a:latin typeface="Arial"/>
                  <a:ea typeface="Microsoft YaHei"/>
                  <a:cs typeface="Arial"/>
                </a:rPr>
                <a:t>ROAD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5765542" y="4134802"/>
              <a:ext cx="39421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BRICK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4363193" y="2944178"/>
              <a:ext cx="37951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E7D32"/>
                  </a:solidFill>
                  <a:latin typeface="Arial"/>
                  <a:ea typeface="Microsoft YaHei"/>
                  <a:cs typeface="Arial"/>
                </a:rPr>
                <a:t>ROAD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5068043" y="2944178"/>
              <a:ext cx="37951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E7D32"/>
                  </a:solidFill>
                  <a:latin typeface="Arial"/>
                  <a:ea typeface="Microsoft YaHei"/>
                  <a:cs typeface="Arial"/>
                </a:rPr>
                <a:t>ROAD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477743" y="2944178"/>
              <a:ext cx="37951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E7D32"/>
                  </a:solidFill>
                  <a:latin typeface="Arial"/>
                  <a:ea typeface="Microsoft YaHei"/>
                  <a:cs typeface="Arial"/>
                </a:rPr>
                <a:t>ROAD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175242" y="2944178"/>
              <a:ext cx="39421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BRICK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8343900" y="1409700"/>
            <a:ext cx="3333750" cy="3143250"/>
            <a:chOff x="8343900" y="1409700"/>
            <a:chExt cx="3333750" cy="3143250"/>
          </a:xfrm>
        </p:grpSpPr>
        <p:sp>
          <p:nvSpPr>
            <p:cNvPr id="48" name="Rectangle 48"/>
            <p:cNvSpPr/>
            <p:nvPr/>
          </p:nvSpPr>
          <p:spPr>
            <a:xfrm>
              <a:off x="8343900" y="1409700"/>
              <a:ext cx="3333750" cy="3143250"/>
            </a:xfrm>
            <a:prstGeom prst="roundRect">
              <a:avLst>
                <a:gd name="adj" fmla="val 2424"/>
              </a:avLst>
            </a:prstGeom>
            <a:solidFill>
              <a:srgbClr val="282C34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549640" y="1558290"/>
              <a:ext cx="2805465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为什么严格说不是 BFS？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553450" y="1990725"/>
              <a:ext cx="2705100" cy="5905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Arial"/>
                  <a:ea typeface="SimSun"/>
                  <a:cs typeface="Arial"/>
                </a:rPr>
                <a:t>没有队列，也不会向拐角扩散。规则天然对应四条独立射线：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556308" y="2738914"/>
              <a:ext cx="2208657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E91BD"/>
                  </a:solidFill>
                  <a:latin typeface="Consolas"/>
                  <a:ea typeface="Microsoft YaHei"/>
                  <a:cs typeface="Consolas"/>
                </a:rPr>
                <a:t>for direction in {U,D,L,R}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784908" y="3043714"/>
              <a:ext cx="1681591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for step = 1..range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9013508" y="3348514"/>
              <a:ext cx="1409557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inspect next tile</a:t>
              </a:r>
            </a:p>
          </p:txBody>
        </p:sp>
        <p:sp>
          <p:nvSpPr>
            <p:cNvPr id="54" name="Line 54"/>
            <p:cNvSpPr/>
            <p:nvPr/>
          </p:nvSpPr>
          <p:spPr>
            <a:xfrm>
              <a:off x="8572500" y="3752850"/>
              <a:ext cx="2876550" cy="9525"/>
            </a:xfrm>
            <a:custGeom>
              <a:avLst/>
              <a:gdLst/>
              <a:ahLst/>
              <a:cxnLst/>
              <a:rect l="l" t="t" r="r" b="b"/>
              <a:pathLst>
                <a:path w="2876550" h="9525">
                  <a:moveTo>
                    <a:pt x="0" y="0"/>
                  </a:moveTo>
                  <a:lnTo>
                    <a:pt x="2876550" y="0"/>
                  </a:lnTo>
                </a:path>
              </a:pathLst>
            </a:custGeom>
            <a:noFill/>
            <a:ln w="9525">
              <a:solidFill>
                <a:srgbClr val="5A6570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553450" y="3933825"/>
              <a:ext cx="244840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O(4 × range) = O(range)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559165" y="4249102"/>
              <a:ext cx="225294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D4DCE6"/>
                  </a:solidFill>
                  <a:latin typeface="Arial"/>
                  <a:ea typeface="SimSun"/>
                  <a:cs typeface="Arial"/>
                </a:rPr>
                <a:t>range = 2 时，含中心最多返回 9 格</a:t>
              </a:r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514350" y="4819650"/>
            <a:ext cx="11163300" cy="1200150"/>
            <a:chOff x="514350" y="4819650"/>
            <a:chExt cx="11163300" cy="1200150"/>
          </a:xfrm>
        </p:grpSpPr>
        <p:sp>
          <p:nvSpPr>
            <p:cNvPr id="58" name="Rectangle 58"/>
            <p:cNvSpPr/>
            <p:nvPr/>
          </p:nvSpPr>
          <p:spPr>
            <a:xfrm>
              <a:off x="514350" y="4819650"/>
              <a:ext cx="11163300" cy="1200150"/>
            </a:xfrm>
            <a:prstGeom prst="roundRect">
              <a:avLst>
                <a:gd name="adj" fmla="val 6349"/>
              </a:avLst>
            </a:prstGeom>
            <a:solidFill>
              <a:srgbClr val="FFFFFF"/>
            </a:solidFill>
            <a:ln w="14288">
              <a:solidFill>
                <a:srgbClr val="D4DCE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23900" y="5019675"/>
              <a:ext cx="272643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E4268"/>
                  </a:solidFill>
                  <a:latin typeface="Consolas"/>
                  <a:ea typeface="Microsoft YaHei"/>
                  <a:cs typeface="Consolas"/>
                </a:rPr>
                <a:t>vector&lt;GridPosition&gt; cells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23900" y="5343525"/>
              <a:ext cx="294846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375082"/>
                  </a:solidFill>
                  <a:latin typeface="Arial"/>
                  <a:ea typeface="SimSun"/>
                  <a:cs typeface="Arial"/>
                </a:rPr>
                <a:t>一份 cells，三套系统共同消费。</a:t>
              </a:r>
            </a:p>
          </p:txBody>
        </p:sp>
        <p:sp>
          <p:nvSpPr>
            <p:cNvPr id="61" name="Line 61"/>
            <p:cNvSpPr/>
            <p:nvPr/>
          </p:nvSpPr>
          <p:spPr>
            <a:xfrm>
              <a:off x="4476750" y="5410200"/>
              <a:ext cx="742950" cy="1"/>
            </a:xfrm>
            <a:prstGeom prst="line">
              <a:avLst/>
            </a:prstGeom>
            <a:noFill/>
            <a:ln w="28575">
              <a:solidFill>
                <a:srgbClr val="2E6EA6"/>
              </a:solidFill>
              <a:tailEnd type="triangle" w="lg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" name="Rectangle 62"/>
            <p:cNvSpPr/>
            <p:nvPr/>
          </p:nvSpPr>
          <p:spPr>
            <a:xfrm>
              <a:off x="5334000" y="5067300"/>
              <a:ext cx="1714500" cy="666750"/>
            </a:xfrm>
            <a:prstGeom prst="roundRect">
              <a:avLst>
                <a:gd name="adj" fmla="val 11429"/>
              </a:avLst>
            </a:prstGeom>
            <a:solidFill>
              <a:srgbClr val="E9EEF4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" name="Rectangle 63"/>
            <p:cNvSpPr/>
            <p:nvPr/>
          </p:nvSpPr>
          <p:spPr>
            <a:xfrm>
              <a:off x="7334250" y="5067300"/>
              <a:ext cx="1714500" cy="666750"/>
            </a:xfrm>
            <a:prstGeom prst="roundRect">
              <a:avLst>
                <a:gd name="adj" fmla="val 11429"/>
              </a:avLst>
            </a:prstGeom>
            <a:solidFill>
              <a:srgbClr val="E9EEF4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" name="Rectangle 64"/>
            <p:cNvSpPr/>
            <p:nvPr/>
          </p:nvSpPr>
          <p:spPr>
            <a:xfrm>
              <a:off x="9334500" y="5067300"/>
              <a:ext cx="2095500" cy="666750"/>
            </a:xfrm>
            <a:prstGeom prst="roundRect">
              <a:avLst>
                <a:gd name="adj" fmla="val 11429"/>
              </a:avLst>
            </a:prstGeom>
            <a:solidFill>
              <a:srgbClr val="E9EEF4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5505367" y="5172075"/>
              <a:ext cx="1371767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2E6EA6"/>
                  </a:solidFill>
                  <a:latin typeface="Arial"/>
                  <a:ea typeface="Microsoft YaHei"/>
                  <a:cs typeface="Arial"/>
                </a:rPr>
                <a:t>breakBrick()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5897880" y="5468302"/>
              <a:ext cx="5867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6788A"/>
                  </a:solidFill>
                  <a:latin typeface="Arial"/>
                  <a:ea typeface="SimSun"/>
                  <a:cs typeface="Arial"/>
                </a:rPr>
                <a:t>破坏砖块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7222081" y="5172075"/>
              <a:ext cx="193883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2E6EA6"/>
                  </a:solidFill>
                  <a:latin typeface="Arial"/>
                  <a:ea typeface="Microsoft YaHei"/>
                  <a:cs typeface="Arial"/>
                </a:rPr>
                <a:t>Explosion::draw()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7898130" y="5468302"/>
              <a:ext cx="5867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6788A"/>
                  </a:solidFill>
                  <a:latin typeface="Arial"/>
                  <a:ea typeface="SimSun"/>
                  <a:cs typeface="Arial"/>
                </a:rPr>
                <a:t>绘制火焰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9460087" y="5172075"/>
              <a:ext cx="184432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2E6EA6"/>
                  </a:solidFill>
                  <a:latin typeface="Arial"/>
                  <a:ea typeface="Microsoft YaHei"/>
                  <a:cs typeface="Arial"/>
                </a:rPr>
                <a:t>Explosion::hits()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0088880" y="5468302"/>
              <a:ext cx="5867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6788A"/>
                  </a:solidFill>
                  <a:latin typeface="Arial"/>
                  <a:ea typeface="SimSun"/>
                  <a:cs typeface="Arial"/>
                </a:rPr>
                <a:t>判断命中</a:t>
              </a:r>
            </a:p>
          </p:txBody>
        </p:sp>
      </p:grpSp>
      <p:sp>
        <p:nvSpPr>
          <p:cNvPr id="72" name="TextBox 72"/>
          <p:cNvSpPr txBox="1"/>
          <p:nvPr/>
        </p:nvSpPr>
        <p:spPr>
          <a:xfrm>
            <a:off x="11548761" y="6475095"/>
            <a:ext cx="64120" cy="1384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5A6570"/>
                </a:solidFill>
                <a:latin typeface="Arial"/>
                <a:ea typeface="Microsoft YaHei"/>
                <a:cs typeface="Arial"/>
              </a:rPr>
              <a:t>2</a:t>
            </a:r>
          </a:p>
        </p:txBody>
      </p:sp>
      <p:sp>
        <p:nvSpPr>
          <p:cNvPr id="73" name="TextBox 19">
            <a:extLst>
              <a:ext uri="{FF2B5EF4-FFF2-40B4-BE49-F238E27FC236}">
                <a16:creationId xmlns:a16="http://schemas.microsoft.com/office/drawing/2014/main" id="{4D1337A9-AB9F-7B97-BDA4-2ADB457EFDE0}"/>
              </a:ext>
            </a:extLst>
          </p:cNvPr>
          <p:cNvSpPr txBox="1"/>
          <p:nvPr/>
        </p:nvSpPr>
        <p:spPr>
          <a:xfrm>
            <a:off x="11329497" y="6410325"/>
            <a:ext cx="214803" cy="2308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altLang="zh-CN" sz="1500" dirty="0">
                <a:solidFill>
                  <a:srgbClr val="66788A"/>
                </a:solidFill>
                <a:latin typeface="Arial"/>
                <a:ea typeface="Microsoft YaHei"/>
                <a:cs typeface="Arial"/>
              </a:rPr>
              <a:t>15</a:t>
            </a:r>
            <a:endParaRPr lang="zh-CN" sz="1500" dirty="0">
              <a:solidFill>
                <a:srgbClr val="66788A"/>
              </a:solidFill>
              <a:latin typeface="Arial"/>
              <a:ea typeface="Microsoft YaHei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/>
      <p:bldP spid="57" grpId="0"/>
      <p:bldP spid="7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6" name="Group 6"/>
          <p:cNvGrpSpPr/>
          <p:nvPr/>
        </p:nvGrpSpPr>
        <p:grpSpPr>
          <a:xfrm>
            <a:off x="480060" y="477202"/>
            <a:ext cx="11197590" cy="751523"/>
            <a:chOff x="480060" y="477202"/>
            <a:chExt cx="11197590" cy="751523"/>
          </a:xfrm>
        </p:grpSpPr>
        <p:sp>
          <p:nvSpPr>
            <p:cNvPr id="3" name="TextBox 3"/>
            <p:cNvSpPr txBox="1"/>
            <p:nvPr/>
          </p:nvSpPr>
          <p:spPr>
            <a:xfrm>
              <a:off x="501015" y="477202"/>
              <a:ext cx="55593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E6EA6"/>
                  </a:solidFill>
                  <a:latin typeface="Arial"/>
                  <a:ea typeface="Microsoft YaHei"/>
                  <a:cs typeface="Arial"/>
                </a:rPr>
                <a:t>TECH 03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480060" y="680085"/>
              <a:ext cx="8272205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E4268"/>
                  </a:solidFill>
                  <a:latin typeface="Arial"/>
                  <a:ea typeface="Microsoft YaHei"/>
                  <a:cs typeface="Arial"/>
                </a:rPr>
                <a:t>智能指针 + dynamic_cast：统一管理，按需区分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514350" y="1123950"/>
              <a:ext cx="11163300" cy="9525"/>
            </a:xfrm>
            <a:custGeom>
              <a:avLst/>
              <a:gdLst/>
              <a:ahLst/>
              <a:cxnLst/>
              <a:rect l="l" t="t" r="r" b="b"/>
              <a:pathLst>
                <a:path w="11163300" h="9525">
                  <a:moveTo>
                    <a:pt x="0" y="0"/>
                  </a:moveTo>
                  <a:lnTo>
                    <a:pt x="11163300" y="0"/>
                  </a:lnTo>
                </a:path>
              </a:pathLst>
            </a:custGeom>
            <a:noFill/>
            <a:ln w="19050">
              <a:solidFill>
                <a:srgbClr val="D4DCE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514350" y="1409700"/>
            <a:ext cx="5248275" cy="2895600"/>
            <a:chOff x="514350" y="1409700"/>
            <a:chExt cx="5248275" cy="2895600"/>
          </a:xfrm>
        </p:grpSpPr>
        <p:sp>
          <p:nvSpPr>
            <p:cNvPr id="7" name="Rectangle 7"/>
            <p:cNvSpPr/>
            <p:nvPr/>
          </p:nvSpPr>
          <p:spPr>
            <a:xfrm>
              <a:off x="514350" y="1409700"/>
              <a:ext cx="5105400" cy="2895600"/>
            </a:xfrm>
            <a:prstGeom prst="roundRect">
              <a:avLst>
                <a:gd name="adj" fmla="val 2632"/>
              </a:avLst>
            </a:prstGeom>
            <a:solidFill>
              <a:srgbClr val="FFFFFF"/>
            </a:solidFill>
            <a:ln w="14288">
              <a:solidFill>
                <a:srgbClr val="D4DCE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20090" y="1558290"/>
              <a:ext cx="281806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E3A5F"/>
                  </a:solidFill>
                  <a:latin typeface="Arial"/>
                  <a:ea typeface="Microsoft YaHei"/>
                  <a:cs typeface="Arial"/>
                </a:rPr>
                <a:t>一个容器，三类动态对象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26758" y="1919764"/>
              <a:ext cx="357732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2E6EA6"/>
                  </a:solidFill>
                  <a:latin typeface="Consolas"/>
                  <a:ea typeface="Microsoft YaHei"/>
                  <a:cs typeface="Consolas"/>
                </a:rPr>
                <a:t>vector&lt;unique_ptr&lt;GameObject&gt;&gt; objects;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742950" y="2362200"/>
              <a:ext cx="1390650" cy="1428750"/>
            </a:xfrm>
            <a:prstGeom prst="roundRect">
              <a:avLst>
                <a:gd name="adj" fmla="val 5479"/>
              </a:avLst>
            </a:prstGeom>
            <a:solidFill>
              <a:srgbClr val="E9EEF4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Rectangle 11"/>
            <p:cNvSpPr/>
            <p:nvPr/>
          </p:nvSpPr>
          <p:spPr>
            <a:xfrm>
              <a:off x="2362200" y="2362200"/>
              <a:ext cx="1390650" cy="1428750"/>
            </a:xfrm>
            <a:prstGeom prst="roundRect">
              <a:avLst>
                <a:gd name="adj" fmla="val 5479"/>
              </a:avLst>
            </a:prstGeom>
            <a:solidFill>
              <a:srgbClr val="E9EEF4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Rectangle 12"/>
            <p:cNvSpPr/>
            <p:nvPr/>
          </p:nvSpPr>
          <p:spPr>
            <a:xfrm>
              <a:off x="3981450" y="2362200"/>
              <a:ext cx="1390650" cy="1428750"/>
            </a:xfrm>
            <a:prstGeom prst="roundRect">
              <a:avLst>
                <a:gd name="adj" fmla="val 5479"/>
              </a:avLst>
            </a:prstGeom>
            <a:solidFill>
              <a:srgbClr val="E9EEF4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Ellipse 13"/>
            <p:cNvSpPr/>
            <p:nvPr/>
          </p:nvSpPr>
          <p:spPr>
            <a:xfrm>
              <a:off x="1209675" y="2571750"/>
              <a:ext cx="457200" cy="457200"/>
            </a:xfrm>
            <a:prstGeom prst="ellipse">
              <a:avLst/>
            </a:prstGeom>
            <a:solidFill>
              <a:srgbClr val="1E4268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Ellipse 14"/>
            <p:cNvSpPr/>
            <p:nvPr/>
          </p:nvSpPr>
          <p:spPr>
            <a:xfrm>
              <a:off x="2828925" y="2571750"/>
              <a:ext cx="457200" cy="457200"/>
            </a:xfrm>
            <a:prstGeom prst="ellipse">
              <a:avLst/>
            </a:prstGeom>
            <a:solidFill>
              <a:srgbClr val="2E6EA6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Ellipse 15"/>
            <p:cNvSpPr/>
            <p:nvPr/>
          </p:nvSpPr>
          <p:spPr>
            <a:xfrm>
              <a:off x="4448175" y="2571750"/>
              <a:ext cx="457200" cy="457200"/>
            </a:xfrm>
            <a:prstGeom prst="ellipse">
              <a:avLst/>
            </a:prstGeom>
            <a:solidFill>
              <a:srgbClr val="5E91BD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340465" y="2714625"/>
              <a:ext cx="19562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M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980718" y="2714625"/>
              <a:ext cx="15361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B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599968" y="2714625"/>
              <a:ext cx="15361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E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93922" y="3095625"/>
              <a:ext cx="88870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375082"/>
                  </a:solidFill>
                  <a:latin typeface="Arial"/>
                  <a:ea typeface="Microsoft YaHei"/>
                  <a:cs typeface="Arial"/>
                </a:rPr>
                <a:t>Monster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786444" y="3095625"/>
              <a:ext cx="542163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375082"/>
                  </a:solidFill>
                  <a:latin typeface="Arial"/>
                  <a:ea typeface="Microsoft YaHei"/>
                  <a:cs typeface="Arial"/>
                </a:rPr>
                <a:t>Bomb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190417" y="3095625"/>
              <a:ext cx="972717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375082"/>
                  </a:solidFill>
                  <a:latin typeface="Arial"/>
                  <a:ea typeface="Microsoft YaHei"/>
                  <a:cs typeface="Arial"/>
                </a:rPr>
                <a:t>Explosion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84360" y="3449002"/>
              <a:ext cx="130783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6788A"/>
                  </a:solidFill>
                  <a:latin typeface="Arial"/>
                  <a:ea typeface="SimSun"/>
                  <a:cs typeface="Arial"/>
                </a:rPr>
                <a:t>统一 update / draw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403610" y="3449002"/>
              <a:ext cx="130783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6788A"/>
                  </a:solidFill>
                  <a:latin typeface="Arial"/>
                  <a:ea typeface="SimSun"/>
                  <a:cs typeface="Arial"/>
                </a:rPr>
                <a:t>统一 update / draw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022860" y="3449002"/>
              <a:ext cx="130783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6788A"/>
                  </a:solidFill>
                  <a:latin typeface="Arial"/>
                  <a:ea typeface="SimSun"/>
                  <a:cs typeface="Arial"/>
                </a:rPr>
                <a:t>统一 update / draw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23900" y="3933825"/>
              <a:ext cx="503872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375082"/>
                  </a:solidFill>
                  <a:latin typeface="Arial"/>
                  <a:ea typeface="SimSun"/>
                  <a:cs typeface="Arial"/>
                </a:rPr>
                <a:t>多态解决</a:t>
              </a:r>
              <a:r>
                <a:rPr lang="zh-CN" sz="1500" b="1" dirty="0">
                  <a:solidFill>
                    <a:srgbClr val="2E6EA6"/>
                  </a:solidFill>
                  <a:latin typeface="Arial"/>
                  <a:ea typeface="Microsoft YaHei"/>
                  <a:cs typeface="Arial"/>
                </a:rPr>
                <a:t>共同生命周期行为</a:t>
              </a:r>
              <a:r>
                <a:rPr lang="zh-CN" sz="1500" dirty="0">
                  <a:solidFill>
                    <a:srgbClr val="375082"/>
                  </a:solidFill>
                  <a:latin typeface="Arial"/>
                  <a:ea typeface="SimSun"/>
                  <a:cs typeface="Arial"/>
                </a:rPr>
                <a:t>，不强迫类型特有规则消失。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5886450" y="1409700"/>
            <a:ext cx="5791200" cy="2895600"/>
            <a:chOff x="5886450" y="1409700"/>
            <a:chExt cx="5791200" cy="2895600"/>
          </a:xfrm>
        </p:grpSpPr>
        <p:sp>
          <p:nvSpPr>
            <p:cNvPr id="27" name="Rectangle 27"/>
            <p:cNvSpPr/>
            <p:nvPr/>
          </p:nvSpPr>
          <p:spPr>
            <a:xfrm>
              <a:off x="5886450" y="1409700"/>
              <a:ext cx="5791200" cy="2895600"/>
            </a:xfrm>
            <a:prstGeom prst="roundRect">
              <a:avLst>
                <a:gd name="adj" fmla="val 2632"/>
              </a:avLst>
            </a:prstGeom>
            <a:solidFill>
              <a:srgbClr val="FFFFFF"/>
            </a:solidFill>
            <a:ln w="14288">
              <a:solidFill>
                <a:srgbClr val="D4DCE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092190" y="1558290"/>
              <a:ext cx="4569685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E3A5F"/>
                  </a:solidFill>
                  <a:latin typeface="Arial"/>
                  <a:ea typeface="Microsoft YaHei"/>
                  <a:cs typeface="Arial"/>
                </a:rPr>
                <a:t>dynamic_cast 是类型特有规则的“筛网”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6477000" y="2343150"/>
              <a:ext cx="4095750" cy="1"/>
            </a:xfrm>
            <a:prstGeom prst="line">
              <a:avLst/>
            </a:prstGeom>
            <a:noFill/>
            <a:ln w="28575">
              <a:solidFill>
                <a:srgbClr val="2E6EA6"/>
              </a:solidFill>
              <a:tailEnd type="triangle" w="lg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" name="Rectangle 30"/>
            <p:cNvSpPr/>
            <p:nvPr/>
          </p:nvSpPr>
          <p:spPr>
            <a:xfrm>
              <a:off x="6115050" y="2095500"/>
              <a:ext cx="1428750" cy="495300"/>
            </a:xfrm>
            <a:prstGeom prst="roundRect">
              <a:avLst>
                <a:gd name="adj" fmla="val 15385"/>
              </a:avLst>
            </a:prstGeom>
            <a:solidFill>
              <a:srgbClr val="1E4268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159294" y="2247900"/>
              <a:ext cx="1340263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GameObject*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7886700" y="1962150"/>
              <a:ext cx="1581150" cy="762000"/>
            </a:xfrm>
            <a:prstGeom prst="roundRect">
              <a:avLst>
                <a:gd name="adj" fmla="val 10000"/>
              </a:avLst>
            </a:prstGeom>
            <a:solidFill>
              <a:srgbClr val="E9EEF4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205383" y="2153602"/>
              <a:ext cx="94378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2E6EA6"/>
                  </a:solidFill>
                  <a:latin typeface="Consolas"/>
                  <a:ea typeface="Microsoft YaHei"/>
                  <a:cs typeface="Consolas"/>
                </a:rPr>
                <a:t>dynamic_cast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058364" y="2401252"/>
              <a:ext cx="123782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6788A"/>
                  </a:solidFill>
                  <a:latin typeface="Arial"/>
                  <a:ea typeface="SimSun"/>
                  <a:cs typeface="Arial"/>
                </a:rPr>
                <a:t>失败时返回 nullptr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9810750" y="1885950"/>
              <a:ext cx="1638300" cy="914400"/>
            </a:xfrm>
            <a:prstGeom prst="roundRect">
              <a:avLst>
                <a:gd name="adj" fmla="val 8333"/>
              </a:avLst>
            </a:prstGeom>
            <a:solidFill>
              <a:srgbClr val="2E6EA6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0350387" y="2110264"/>
              <a:ext cx="559026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Bomb*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0126504" y="2420302"/>
              <a:ext cx="100679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FFFFFF"/>
                  </a:solidFill>
                  <a:latin typeface="Arial"/>
                  <a:ea typeface="SimSun"/>
                  <a:cs typeface="Arial"/>
                </a:rPr>
                <a:t>检查 isReady()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6829425" y="3048000"/>
              <a:ext cx="3743325" cy="1"/>
            </a:xfrm>
            <a:prstGeom prst="line">
              <a:avLst/>
            </a:prstGeom>
            <a:noFill/>
            <a:ln w="19050">
              <a:solidFill>
                <a:srgbClr val="D4DCE6"/>
              </a:solidFill>
              <a:tailEnd type="triangle" w="lg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" name="Rectangle 39"/>
            <p:cNvSpPr/>
            <p:nvPr/>
          </p:nvSpPr>
          <p:spPr>
            <a:xfrm>
              <a:off x="6115050" y="2857500"/>
              <a:ext cx="1428750" cy="438150"/>
            </a:xfrm>
            <a:prstGeom prst="roundRect">
              <a:avLst>
                <a:gd name="adj" fmla="val 17391"/>
              </a:avLst>
            </a:prstGeom>
            <a:solidFill>
              <a:srgbClr val="1E4268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159294" y="2971800"/>
              <a:ext cx="1340263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GameObject*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9810750" y="2857500"/>
              <a:ext cx="1638300" cy="438150"/>
            </a:xfrm>
            <a:prstGeom prst="roundRect">
              <a:avLst>
                <a:gd name="adj" fmla="val 17391"/>
              </a:avLst>
            </a:prstGeom>
            <a:solidFill>
              <a:srgbClr val="5E91BD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203106" y="2996089"/>
              <a:ext cx="85358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Monster*</a:t>
              </a:r>
            </a:p>
          </p:txBody>
        </p:sp>
        <p:sp>
          <p:nvSpPr>
            <p:cNvPr id="43" name="Line 43"/>
            <p:cNvSpPr/>
            <p:nvPr/>
          </p:nvSpPr>
          <p:spPr>
            <a:xfrm>
              <a:off x="6829425" y="3676650"/>
              <a:ext cx="3743325" cy="1"/>
            </a:xfrm>
            <a:prstGeom prst="line">
              <a:avLst/>
            </a:prstGeom>
            <a:noFill/>
            <a:ln w="19050">
              <a:solidFill>
                <a:srgbClr val="D4DCE6"/>
              </a:solidFill>
              <a:tailEnd type="triangle" w="lg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" name="Rectangle 44"/>
            <p:cNvSpPr/>
            <p:nvPr/>
          </p:nvSpPr>
          <p:spPr>
            <a:xfrm>
              <a:off x="6115050" y="3486150"/>
              <a:ext cx="1428750" cy="438150"/>
            </a:xfrm>
            <a:prstGeom prst="roundRect">
              <a:avLst>
                <a:gd name="adj" fmla="val 17391"/>
              </a:avLst>
            </a:prstGeom>
            <a:solidFill>
              <a:srgbClr val="1E4268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159294" y="3600450"/>
              <a:ext cx="1340263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GameObject*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9810750" y="3486150"/>
              <a:ext cx="1638300" cy="438150"/>
            </a:xfrm>
            <a:prstGeom prst="roundRect">
              <a:avLst>
                <a:gd name="adj" fmla="val 17391"/>
              </a:avLst>
            </a:prstGeom>
            <a:solidFill>
              <a:srgbClr val="5E91BD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0167402" y="3624739"/>
              <a:ext cx="924997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Explosion*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720965" y="3020378"/>
              <a:ext cx="114681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788A"/>
                  </a:solidFill>
                  <a:latin typeface="Arial"/>
                  <a:ea typeface="SimSun"/>
                  <a:cs typeface="Arial"/>
                </a:rPr>
                <a:t>碰撞、计数、移除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720965" y="3649028"/>
              <a:ext cx="8667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788A"/>
                  </a:solidFill>
                  <a:latin typeface="Arial"/>
                  <a:ea typeface="SimSun"/>
                  <a:cs typeface="Arial"/>
                </a:rPr>
                <a:t>范围命中检测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514350" y="4572000"/>
            <a:ext cx="5810250" cy="1524000"/>
            <a:chOff x="514350" y="4572000"/>
            <a:chExt cx="5810250" cy="1524000"/>
          </a:xfrm>
        </p:grpSpPr>
        <p:sp>
          <p:nvSpPr>
            <p:cNvPr id="51" name="Rectangle 51"/>
            <p:cNvSpPr/>
            <p:nvPr/>
          </p:nvSpPr>
          <p:spPr>
            <a:xfrm>
              <a:off x="514350" y="4572000"/>
              <a:ext cx="5810250" cy="1524000"/>
            </a:xfrm>
            <a:prstGeom prst="roundRect">
              <a:avLst>
                <a:gd name="adj" fmla="val 5000"/>
              </a:avLst>
            </a:prstGeom>
            <a:solidFill>
              <a:srgbClr val="282C34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26758" y="4777264"/>
              <a:ext cx="4682466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Bomb* bomb = dynamic_cast&lt;Bomb*&gt;(objects[i].get());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26758" y="5101114"/>
              <a:ext cx="438492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if (bomb &amp;&amp; bomb-&gt;isActive() &amp;&amp; bomb-&gt;isReady()) {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955358" y="5424964"/>
              <a:ext cx="3798356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E91BD"/>
                  </a:solidFill>
                  <a:latin typeface="Consolas"/>
                  <a:ea typeface="Microsoft YaHei"/>
                  <a:cs typeface="Consolas"/>
                </a:rPr>
                <a:t>// 引爆：地图计算 → Bomb 失效 → 创建 Explosion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26758" y="5748814"/>
              <a:ext cx="125897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}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6591300" y="4572000"/>
            <a:ext cx="5086350" cy="1524000"/>
            <a:chOff x="6591300" y="4572000"/>
            <a:chExt cx="5086350" cy="1524000"/>
          </a:xfrm>
        </p:grpSpPr>
        <p:sp>
          <p:nvSpPr>
            <p:cNvPr id="57" name="Rectangle 57"/>
            <p:cNvSpPr/>
            <p:nvPr/>
          </p:nvSpPr>
          <p:spPr>
            <a:xfrm>
              <a:off x="6591300" y="4572000"/>
              <a:ext cx="5086350" cy="152400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14288">
              <a:solidFill>
                <a:srgbClr val="D4DCE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797040" y="4720590"/>
              <a:ext cx="177213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E3A5F"/>
                  </a:solidFill>
                  <a:latin typeface="Arial"/>
                  <a:ea typeface="Microsoft YaHei"/>
                  <a:cs typeface="Arial"/>
                </a:rPr>
                <a:t>延迟清理 + RAII</a:t>
              </a:r>
            </a:p>
          </p:txBody>
        </p:sp>
        <p:sp>
          <p:nvSpPr>
            <p:cNvPr id="59" name="Line 59"/>
            <p:cNvSpPr/>
            <p:nvPr/>
          </p:nvSpPr>
          <p:spPr>
            <a:xfrm>
              <a:off x="7124700" y="5467350"/>
              <a:ext cx="4000500" cy="1"/>
            </a:xfrm>
            <a:prstGeom prst="line">
              <a:avLst/>
            </a:prstGeom>
            <a:noFill/>
            <a:ln w="28575">
              <a:solidFill>
                <a:srgbClr val="2E6EA6"/>
              </a:solidFill>
              <a:tailEnd type="triangle" w="lg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" name="Ellipse 60"/>
            <p:cNvSpPr/>
            <p:nvPr/>
          </p:nvSpPr>
          <p:spPr>
            <a:xfrm>
              <a:off x="6953250" y="5295900"/>
              <a:ext cx="342900" cy="342900"/>
            </a:xfrm>
            <a:prstGeom prst="ellipse">
              <a:avLst/>
            </a:prstGeom>
            <a:solidFill>
              <a:srgbClr val="2E7D32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" name="Ellipse 61"/>
            <p:cNvSpPr/>
            <p:nvPr/>
          </p:nvSpPr>
          <p:spPr>
            <a:xfrm>
              <a:off x="8286750" y="5295900"/>
              <a:ext cx="342900" cy="342900"/>
            </a:xfrm>
            <a:prstGeom prst="ellipse">
              <a:avLst/>
            </a:prstGeom>
            <a:solidFill>
              <a:srgbClr val="5E91BD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" name="Ellipse 62"/>
            <p:cNvSpPr/>
            <p:nvPr/>
          </p:nvSpPr>
          <p:spPr>
            <a:xfrm>
              <a:off x="9620250" y="5295900"/>
              <a:ext cx="342900" cy="342900"/>
            </a:xfrm>
            <a:prstGeom prst="ellipse">
              <a:avLst/>
            </a:prstGeom>
            <a:solidFill>
              <a:srgbClr val="2E6EA6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" name="Ellipse 63"/>
            <p:cNvSpPr/>
            <p:nvPr/>
          </p:nvSpPr>
          <p:spPr>
            <a:xfrm>
              <a:off x="10953750" y="5295900"/>
              <a:ext cx="342900" cy="342900"/>
            </a:xfrm>
            <a:prstGeom prst="ellipse">
              <a:avLst/>
            </a:prstGeom>
            <a:solidFill>
              <a:srgbClr val="1E4268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6897838" y="5773102"/>
              <a:ext cx="45372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6788A"/>
                  </a:solidFill>
                  <a:latin typeface="Arial"/>
                  <a:ea typeface="SimSun"/>
                  <a:cs typeface="Arial"/>
                </a:rPr>
                <a:t>active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8122825" y="5773102"/>
              <a:ext cx="6707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6788A"/>
                  </a:solidFill>
                  <a:latin typeface="Arial"/>
                  <a:ea typeface="SimSun"/>
                  <a:cs typeface="Arial"/>
                </a:rPr>
                <a:t>remove()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9585841" y="5773102"/>
              <a:ext cx="41171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6788A"/>
                  </a:solidFill>
                  <a:latin typeface="Arial"/>
                  <a:ea typeface="SimSun"/>
                  <a:cs typeface="Arial"/>
                </a:rPr>
                <a:t>erase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0831830" y="5773102"/>
              <a:ext cx="5867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6788A"/>
                  </a:solidFill>
                  <a:latin typeface="Arial"/>
                  <a:ea typeface="SimSun"/>
                  <a:cs typeface="Arial"/>
                </a:rPr>
                <a:t>自动析构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6806565" y="5106352"/>
              <a:ext cx="407317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75082"/>
                  </a:solidFill>
                  <a:latin typeface="Arial"/>
                  <a:ea typeface="SimSun"/>
                  <a:cs typeface="Arial"/>
                </a:rPr>
                <a:t>项目逻辑没有显式 delete；unique_ptr 被移除时自动释放对象。</a:t>
              </a:r>
            </a:p>
          </p:txBody>
        </p:sp>
      </p:grpSp>
      <p:sp>
        <p:nvSpPr>
          <p:cNvPr id="71" name="TextBox 19">
            <a:extLst>
              <a:ext uri="{FF2B5EF4-FFF2-40B4-BE49-F238E27FC236}">
                <a16:creationId xmlns:a16="http://schemas.microsoft.com/office/drawing/2014/main" id="{D6B54AA0-DA67-318E-0FAF-7EDF7DE9AA04}"/>
              </a:ext>
            </a:extLst>
          </p:cNvPr>
          <p:cNvSpPr txBox="1"/>
          <p:nvPr/>
        </p:nvSpPr>
        <p:spPr>
          <a:xfrm>
            <a:off x="11329497" y="6410325"/>
            <a:ext cx="214803" cy="2308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altLang="zh-CN" sz="1500" dirty="0">
                <a:solidFill>
                  <a:srgbClr val="66788A"/>
                </a:solidFill>
                <a:latin typeface="Arial"/>
                <a:ea typeface="Microsoft YaHei"/>
                <a:cs typeface="Arial"/>
              </a:rPr>
              <a:t>16</a:t>
            </a:r>
            <a:endParaRPr lang="zh-CN" sz="1500" dirty="0">
              <a:solidFill>
                <a:srgbClr val="66788A"/>
              </a:solidFill>
              <a:latin typeface="Arial"/>
              <a:ea typeface="Microsoft YaHei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50" grpId="0"/>
      <p:bldP spid="56" grpId="0"/>
      <p:bldP spid="69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7225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6" name="Group 6"/>
          <p:cNvGrpSpPr/>
          <p:nvPr/>
        </p:nvGrpSpPr>
        <p:grpSpPr>
          <a:xfrm>
            <a:off x="480060" y="477202"/>
            <a:ext cx="11197590" cy="751523"/>
            <a:chOff x="480060" y="477202"/>
            <a:chExt cx="11197590" cy="751523"/>
          </a:xfrm>
        </p:grpSpPr>
        <p:sp>
          <p:nvSpPr>
            <p:cNvPr id="3" name="TextBox 3"/>
            <p:cNvSpPr txBox="1"/>
            <p:nvPr/>
          </p:nvSpPr>
          <p:spPr>
            <a:xfrm>
              <a:off x="501015" y="477202"/>
              <a:ext cx="55593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E6EA6"/>
                  </a:solidFill>
                  <a:latin typeface="Arial"/>
                  <a:ea typeface="Microsoft YaHei"/>
                  <a:cs typeface="Arial"/>
                </a:rPr>
                <a:t>TECH 04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480060" y="680085"/>
              <a:ext cx="6155141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E4268"/>
                  </a:solidFill>
                  <a:latin typeface="Arial"/>
                  <a:ea typeface="Microsoft YaHei"/>
                  <a:cs typeface="Arial"/>
                </a:rPr>
                <a:t>两阶段碰撞检测——顺序决定本帧语义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514350" y="1123950"/>
              <a:ext cx="11163300" cy="9525"/>
            </a:xfrm>
            <a:custGeom>
              <a:avLst/>
              <a:gdLst/>
              <a:ahLst/>
              <a:cxnLst/>
              <a:rect l="l" t="t" r="r" b="b"/>
              <a:pathLst>
                <a:path w="11163300" h="9525">
                  <a:moveTo>
                    <a:pt x="0" y="0"/>
                  </a:moveTo>
                  <a:lnTo>
                    <a:pt x="11163300" y="0"/>
                  </a:lnTo>
                </a:path>
              </a:pathLst>
            </a:custGeom>
            <a:noFill/>
            <a:ln w="19050">
              <a:solidFill>
                <a:srgbClr val="D4DCE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495300" y="1362075"/>
            <a:ext cx="10572750" cy="981076"/>
            <a:chOff x="495300" y="1362075"/>
            <a:chExt cx="10572750" cy="981076"/>
          </a:xfrm>
        </p:grpSpPr>
        <p:sp>
          <p:nvSpPr>
            <p:cNvPr id="7" name="TextBox 7"/>
            <p:cNvSpPr txBox="1"/>
            <p:nvPr/>
          </p:nvSpPr>
          <p:spPr>
            <a:xfrm>
              <a:off x="495300" y="1362075"/>
              <a:ext cx="6298883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375082"/>
                  </a:solidFill>
                  <a:latin typeface="Arial"/>
                  <a:ea typeface="SimSun"/>
                  <a:cs typeface="Arial"/>
                </a:rPr>
                <a:t>Game::update(dt) 不是函数清单，而是一条不能随意交换的时间线。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1104900" y="2343150"/>
              <a:ext cx="9963150" cy="1"/>
            </a:xfrm>
            <a:prstGeom prst="line">
              <a:avLst/>
            </a:prstGeom>
            <a:noFill/>
            <a:ln w="38100">
              <a:solidFill>
                <a:srgbClr val="2E6EA6"/>
              </a:solidFill>
              <a:tailEnd type="triangle" w="lg" len="lg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514350" y="2019300"/>
            <a:ext cx="1524000" cy="2019300"/>
            <a:chOff x="514350" y="2019300"/>
            <a:chExt cx="1524000" cy="2019300"/>
          </a:xfrm>
        </p:grpSpPr>
        <p:sp>
          <p:nvSpPr>
            <p:cNvPr id="10" name="Ellipse 10"/>
            <p:cNvSpPr/>
            <p:nvPr/>
          </p:nvSpPr>
          <p:spPr>
            <a:xfrm>
              <a:off x="876300" y="2019300"/>
              <a:ext cx="647700" cy="647700"/>
            </a:xfrm>
            <a:prstGeom prst="ellipse">
              <a:avLst/>
            </a:prstGeom>
            <a:solidFill>
              <a:srgbClr val="1E4268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07981" y="2234565"/>
              <a:ext cx="184337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14350" y="2838450"/>
              <a:ext cx="1524000" cy="1200150"/>
            </a:xfrm>
            <a:prstGeom prst="roundRect">
              <a:avLst>
                <a:gd name="adj" fmla="val 6349"/>
              </a:avLst>
            </a:prstGeom>
            <a:solidFill>
              <a:srgbClr val="FFFFFF"/>
            </a:solidFill>
            <a:ln w="28575">
              <a:solidFill>
                <a:srgbClr val="2E6EA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32234" y="2981325"/>
              <a:ext cx="108823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E4268"/>
                  </a:solidFill>
                  <a:latin typeface="Arial"/>
                  <a:ea typeface="Microsoft YaHei"/>
                  <a:cs typeface="Arial"/>
                </a:rPr>
                <a:t>第一轮碰撞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42962" y="3334702"/>
              <a:ext cx="8667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375082"/>
                  </a:solidFill>
                  <a:latin typeface="Arial"/>
                  <a:ea typeface="SimSun"/>
                  <a:cs typeface="Arial"/>
                </a:rPr>
                <a:t>检查帧开始时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42962" y="3563302"/>
              <a:ext cx="8667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375082"/>
                  </a:solidFill>
                  <a:latin typeface="Arial"/>
                  <a:ea typeface="SimSun"/>
                  <a:cs typeface="Arial"/>
                </a:rPr>
                <a:t>已存在的接触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63965" y="3791902"/>
              <a:ext cx="82477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C62828"/>
                  </a:solidFill>
                  <a:latin typeface="Arial"/>
                  <a:ea typeface="SimSun"/>
                  <a:cs typeface="Arial"/>
                </a:rPr>
                <a:t>玩家 vs 怪物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2324100" y="2076450"/>
            <a:ext cx="1676400" cy="1962150"/>
            <a:chOff x="2324100" y="2076450"/>
            <a:chExt cx="1676400" cy="1962150"/>
          </a:xfrm>
        </p:grpSpPr>
        <p:sp>
          <p:nvSpPr>
            <p:cNvPr id="18" name="Ellipse 18"/>
            <p:cNvSpPr/>
            <p:nvPr/>
          </p:nvSpPr>
          <p:spPr>
            <a:xfrm>
              <a:off x="2895600" y="2076450"/>
              <a:ext cx="533400" cy="533400"/>
            </a:xfrm>
            <a:prstGeom prst="ellipse">
              <a:avLst/>
            </a:prstGeom>
            <a:solidFill>
              <a:srgbClr val="5E91BD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085493" y="2257425"/>
              <a:ext cx="15361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2324100" y="2838450"/>
              <a:ext cx="1676400" cy="1200150"/>
            </a:xfrm>
            <a:prstGeom prst="roundRect">
              <a:avLst>
                <a:gd name="adj" fmla="val 6349"/>
              </a:avLst>
            </a:prstGeom>
            <a:solidFill>
              <a:srgbClr val="FFFFFF"/>
            </a:solidFill>
            <a:ln w="14288">
              <a:solidFill>
                <a:srgbClr val="D4DCE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723198" y="2981325"/>
              <a:ext cx="8782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375082"/>
                  </a:solidFill>
                  <a:latin typeface="Arial"/>
                  <a:ea typeface="Microsoft YaHei"/>
                  <a:cs typeface="Arial"/>
                </a:rPr>
                <a:t>更新对象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868930" y="3334702"/>
              <a:ext cx="5867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375082"/>
                  </a:solidFill>
                  <a:latin typeface="Arial"/>
                  <a:ea typeface="SimSun"/>
                  <a:cs typeface="Arial"/>
                </a:rPr>
                <a:t>怪物巡逻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868930" y="3563302"/>
              <a:ext cx="5867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375082"/>
                  </a:solidFill>
                  <a:latin typeface="Arial"/>
                  <a:ea typeface="SimSun"/>
                  <a:cs typeface="Arial"/>
                </a:rPr>
                <a:t>炸弹计时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550390" y="3791902"/>
              <a:ext cx="122382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6788A"/>
                  </a:solidFill>
                  <a:latin typeface="Arial"/>
                  <a:ea typeface="SimSun"/>
                  <a:cs typeface="Arial"/>
                </a:rPr>
                <a:t>object-&gt;update()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4286250" y="2076450"/>
            <a:ext cx="1676400" cy="1962150"/>
            <a:chOff x="4286250" y="2076450"/>
            <a:chExt cx="1676400" cy="1962150"/>
          </a:xfrm>
        </p:grpSpPr>
        <p:sp>
          <p:nvSpPr>
            <p:cNvPr id="26" name="Ellipse 26"/>
            <p:cNvSpPr/>
            <p:nvPr/>
          </p:nvSpPr>
          <p:spPr>
            <a:xfrm>
              <a:off x="4857750" y="2076450"/>
              <a:ext cx="533400" cy="533400"/>
            </a:xfrm>
            <a:prstGeom prst="ellipse">
              <a:avLst/>
            </a:prstGeom>
            <a:solidFill>
              <a:srgbClr val="5E91BD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047643" y="2257425"/>
              <a:ext cx="15361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4286250" y="2838450"/>
              <a:ext cx="1676400" cy="1200150"/>
            </a:xfrm>
            <a:prstGeom prst="roundRect">
              <a:avLst>
                <a:gd name="adj" fmla="val 6349"/>
              </a:avLst>
            </a:prstGeom>
            <a:solidFill>
              <a:srgbClr val="FFFFFF"/>
            </a:solidFill>
            <a:ln w="14288">
              <a:solidFill>
                <a:srgbClr val="D4DCE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685348" y="2981325"/>
              <a:ext cx="8782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375082"/>
                  </a:solidFill>
                  <a:latin typeface="Arial"/>
                  <a:ea typeface="Microsoft YaHei"/>
                  <a:cs typeface="Arial"/>
                </a:rPr>
                <a:t>生成爆炸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551045" y="3334702"/>
              <a:ext cx="114681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375082"/>
                  </a:solidFill>
                  <a:latin typeface="Arial"/>
                  <a:ea typeface="SimSun"/>
                  <a:cs typeface="Arial"/>
                </a:rPr>
                <a:t>Bomb → Explosion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666559" y="3563302"/>
              <a:ext cx="91578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375082"/>
                  </a:solidFill>
                  <a:latin typeface="Arial"/>
                  <a:ea typeface="SimSun"/>
                  <a:cs typeface="Arial"/>
                </a:rPr>
                <a:t>breakBrick()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582549" y="3791902"/>
              <a:ext cx="108380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2E6EA6"/>
                  </a:solidFill>
                  <a:latin typeface="Arial"/>
                  <a:ea typeface="SimSun"/>
                  <a:cs typeface="Arial"/>
                </a:rPr>
                <a:t>本帧产生新 cells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6248400" y="2019300"/>
            <a:ext cx="1676400" cy="2019300"/>
            <a:chOff x="6248400" y="2019300"/>
            <a:chExt cx="1676400" cy="2019300"/>
          </a:xfrm>
        </p:grpSpPr>
        <p:sp>
          <p:nvSpPr>
            <p:cNvPr id="34" name="Ellipse 34"/>
            <p:cNvSpPr/>
            <p:nvPr/>
          </p:nvSpPr>
          <p:spPr>
            <a:xfrm>
              <a:off x="6762750" y="2019300"/>
              <a:ext cx="647700" cy="647700"/>
            </a:xfrm>
            <a:prstGeom prst="ellipse">
              <a:avLst/>
            </a:prstGeom>
            <a:solidFill>
              <a:srgbClr val="1E4268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994431" y="2234565"/>
              <a:ext cx="184337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4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6248400" y="2838450"/>
              <a:ext cx="1676400" cy="1200150"/>
            </a:xfrm>
            <a:prstGeom prst="roundRect">
              <a:avLst>
                <a:gd name="adj" fmla="val 6349"/>
              </a:avLst>
            </a:prstGeom>
            <a:solidFill>
              <a:srgbClr val="FFFFFF"/>
            </a:solidFill>
            <a:ln w="28575">
              <a:solidFill>
                <a:srgbClr val="2E6EA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542484" y="2981325"/>
              <a:ext cx="108823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E4268"/>
                  </a:solidFill>
                  <a:latin typeface="Arial"/>
                  <a:ea typeface="Microsoft YaHei"/>
                  <a:cs typeface="Arial"/>
                </a:rPr>
                <a:t>第二轮碰撞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502694" y="3334702"/>
              <a:ext cx="116781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375082"/>
                  </a:solidFill>
                  <a:latin typeface="Arial"/>
                  <a:ea typeface="SimSun"/>
                  <a:cs typeface="Arial"/>
                </a:rPr>
                <a:t>Explosion vs 玩家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502694" y="3563302"/>
              <a:ext cx="116781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375082"/>
                  </a:solidFill>
                  <a:latin typeface="Arial"/>
                  <a:ea typeface="SimSun"/>
                  <a:cs typeface="Arial"/>
                </a:rPr>
                <a:t>Explosion vs 怪物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583204" y="3791902"/>
              <a:ext cx="10067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C62828"/>
                  </a:solidFill>
                  <a:latin typeface="Arial"/>
                  <a:ea typeface="SimSun"/>
                  <a:cs typeface="Arial"/>
                </a:rPr>
                <a:t>立即结算新火焰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8210550" y="2076450"/>
            <a:ext cx="1676400" cy="1962150"/>
            <a:chOff x="8210550" y="2076450"/>
            <a:chExt cx="1676400" cy="1962150"/>
          </a:xfrm>
        </p:grpSpPr>
        <p:sp>
          <p:nvSpPr>
            <p:cNvPr id="42" name="Ellipse 42"/>
            <p:cNvSpPr/>
            <p:nvPr/>
          </p:nvSpPr>
          <p:spPr>
            <a:xfrm>
              <a:off x="8782050" y="2076450"/>
              <a:ext cx="533400" cy="533400"/>
            </a:xfrm>
            <a:prstGeom prst="ellipse">
              <a:avLst/>
            </a:prstGeom>
            <a:solidFill>
              <a:srgbClr val="5E91BD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971943" y="2257425"/>
              <a:ext cx="15361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5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8210550" y="2838450"/>
              <a:ext cx="1676400" cy="1200150"/>
            </a:xfrm>
            <a:prstGeom prst="roundRect">
              <a:avLst>
                <a:gd name="adj" fmla="val 6349"/>
              </a:avLst>
            </a:prstGeom>
            <a:solidFill>
              <a:srgbClr val="FFFFFF"/>
            </a:solidFill>
            <a:ln w="14288">
              <a:solidFill>
                <a:srgbClr val="D4DCE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609648" y="2981325"/>
              <a:ext cx="8782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375082"/>
                  </a:solidFill>
                  <a:latin typeface="Arial"/>
                  <a:ea typeface="Microsoft YaHei"/>
                  <a:cs typeface="Arial"/>
                </a:rPr>
                <a:t>统一清理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548854" y="3334702"/>
              <a:ext cx="9997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375082"/>
                  </a:solidFill>
                  <a:latin typeface="Arial"/>
                  <a:ea typeface="SimSun"/>
                  <a:cs typeface="Arial"/>
                </a:rPr>
                <a:t>erase inactive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506849" y="3563302"/>
              <a:ext cx="108380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375082"/>
                  </a:solidFill>
                  <a:latin typeface="Arial"/>
                  <a:ea typeface="SimSun"/>
                  <a:cs typeface="Arial"/>
                </a:rPr>
                <a:t>释放 unique_ptr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545354" y="3791902"/>
              <a:ext cx="10067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2E7D32"/>
                  </a:solidFill>
                  <a:latin typeface="Arial"/>
                  <a:ea typeface="SimSun"/>
                  <a:cs typeface="Arial"/>
                </a:rPr>
                <a:t>结构在末尾改变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10172700" y="2076450"/>
            <a:ext cx="1504950" cy="1962150"/>
            <a:chOff x="10172700" y="2076450"/>
            <a:chExt cx="1504950" cy="1962150"/>
          </a:xfrm>
        </p:grpSpPr>
        <p:sp>
          <p:nvSpPr>
            <p:cNvPr id="50" name="Ellipse 50"/>
            <p:cNvSpPr/>
            <p:nvPr/>
          </p:nvSpPr>
          <p:spPr>
            <a:xfrm>
              <a:off x="10744200" y="2076450"/>
              <a:ext cx="533400" cy="533400"/>
            </a:xfrm>
            <a:prstGeom prst="ellipse">
              <a:avLst/>
            </a:prstGeom>
            <a:solidFill>
              <a:srgbClr val="5E91BD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0934093" y="2257425"/>
              <a:ext cx="15361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6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10172700" y="2838450"/>
              <a:ext cx="1504950" cy="1200150"/>
            </a:xfrm>
            <a:prstGeom prst="roundRect">
              <a:avLst>
                <a:gd name="adj" fmla="val 6349"/>
              </a:avLst>
            </a:prstGeom>
            <a:solidFill>
              <a:srgbClr val="FFFFFF"/>
            </a:solidFill>
            <a:ln w="14288">
              <a:solidFill>
                <a:srgbClr val="D4DCE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0486072" y="2981325"/>
              <a:ext cx="8782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375082"/>
                  </a:solidFill>
                  <a:latin typeface="Arial"/>
                  <a:ea typeface="Microsoft YaHei"/>
                  <a:cs typeface="Arial"/>
                </a:rPr>
                <a:t>检查胜利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0631805" y="3334702"/>
              <a:ext cx="5867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375082"/>
                  </a:solidFill>
                  <a:latin typeface="Arial"/>
                  <a:ea typeface="SimSun"/>
                  <a:cs typeface="Arial"/>
                </a:rPr>
                <a:t>清理之后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0320266" y="3563302"/>
              <a:ext cx="120981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375082"/>
                  </a:solidFill>
                  <a:latin typeface="Arial"/>
                  <a:ea typeface="SimSun"/>
                  <a:cs typeface="Arial"/>
                </a:rPr>
                <a:t>countMonsters()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0680811" y="3791902"/>
              <a:ext cx="4887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2E7D32"/>
                  </a:solidFill>
                  <a:latin typeface="Arial"/>
                  <a:ea typeface="SimSun"/>
                  <a:cs typeface="Arial"/>
                </a:rPr>
                <a:t>0 → WIN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514350" y="4400550"/>
            <a:ext cx="7200900" cy="1562100"/>
            <a:chOff x="514350" y="4400550"/>
            <a:chExt cx="7200900" cy="1562100"/>
          </a:xfrm>
        </p:grpSpPr>
        <p:sp>
          <p:nvSpPr>
            <p:cNvPr id="58" name="Rectangle 58"/>
            <p:cNvSpPr/>
            <p:nvPr/>
          </p:nvSpPr>
          <p:spPr>
            <a:xfrm>
              <a:off x="514350" y="4400550"/>
              <a:ext cx="7200900" cy="1562100"/>
            </a:xfrm>
            <a:prstGeom prst="roundRect">
              <a:avLst>
                <a:gd name="adj" fmla="val 4878"/>
              </a:avLst>
            </a:prstGeom>
            <a:solidFill>
              <a:srgbClr val="FFFFFF"/>
            </a:solidFill>
            <a:ln w="14288">
              <a:solidFill>
                <a:srgbClr val="D4DCE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20090" y="4568190"/>
              <a:ext cx="3070098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E3A5F"/>
                  </a:solidFill>
                  <a:latin typeface="Arial"/>
                  <a:ea typeface="Microsoft YaHei"/>
                  <a:cs typeface="Arial"/>
                </a:rPr>
                <a:t>为什么必须有两道碰撞门？</a:t>
              </a:r>
            </a:p>
          </p:txBody>
        </p:sp>
        <p:sp>
          <p:nvSpPr>
            <p:cNvPr id="60" name="Line 60"/>
            <p:cNvSpPr/>
            <p:nvPr/>
          </p:nvSpPr>
          <p:spPr>
            <a:xfrm>
              <a:off x="933450" y="5238750"/>
              <a:ext cx="6210300" cy="1"/>
            </a:xfrm>
            <a:prstGeom prst="line">
              <a:avLst/>
            </a:prstGeom>
            <a:noFill/>
            <a:ln w="28575">
              <a:solidFill>
                <a:srgbClr val="2E6EA6"/>
              </a:solidFill>
              <a:tailEnd type="triangle" w="lg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" name="Rectangle 61"/>
            <p:cNvSpPr/>
            <p:nvPr/>
          </p:nvSpPr>
          <p:spPr>
            <a:xfrm>
              <a:off x="742950" y="5010150"/>
              <a:ext cx="1752600" cy="457200"/>
            </a:xfrm>
            <a:prstGeom prst="roundRect">
              <a:avLst>
                <a:gd name="adj" fmla="val 16667"/>
              </a:avLst>
            </a:prstGeom>
            <a:solidFill>
              <a:srgbClr val="1E4268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100138" y="5143500"/>
              <a:ext cx="103822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FFFFFF"/>
                  </a:solidFill>
                  <a:latin typeface="Arial"/>
                  <a:ea typeface="SimSun"/>
                  <a:cs typeface="Arial"/>
                </a:rPr>
                <a:t>旧状态可见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3105150" y="5010150"/>
              <a:ext cx="1752600" cy="457200"/>
            </a:xfrm>
            <a:prstGeom prst="roundRect">
              <a:avLst>
                <a:gd name="adj" fmla="val 16667"/>
              </a:avLst>
            </a:prstGeom>
            <a:solidFill>
              <a:srgbClr val="5E91BD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3287316" y="5143500"/>
              <a:ext cx="138826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FFFFFF"/>
                  </a:solidFill>
                  <a:latin typeface="Arial"/>
                  <a:ea typeface="SimSun"/>
                  <a:cs typeface="Arial"/>
                </a:rPr>
                <a:t>Explosion 诞生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5467350" y="5010150"/>
              <a:ext cx="1752600" cy="457200"/>
            </a:xfrm>
            <a:prstGeom prst="roundRect">
              <a:avLst>
                <a:gd name="adj" fmla="val 16667"/>
              </a:avLst>
            </a:prstGeom>
            <a:solidFill>
              <a:srgbClr val="2E6EA6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5624512" y="5143500"/>
              <a:ext cx="143827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FFFFFF"/>
                  </a:solidFill>
                  <a:latin typeface="Arial"/>
                  <a:ea typeface="SimSun"/>
                  <a:cs typeface="Arial"/>
                </a:rPr>
                <a:t>新状态立即结算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723900" y="5591175"/>
              <a:ext cx="44386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375082"/>
                  </a:solidFill>
                  <a:latin typeface="Arial"/>
                  <a:ea typeface="SimSun"/>
                  <a:cs typeface="Arial"/>
                </a:rPr>
                <a:t>两轮检测让本帧新产生的火焰</a:t>
              </a:r>
              <a:r>
                <a:rPr lang="zh-CN" sz="1500" b="1" dirty="0">
                  <a:solidFill>
                    <a:srgbClr val="2E6EA6"/>
                  </a:solidFill>
                  <a:latin typeface="Arial"/>
                  <a:ea typeface="Microsoft YaHei"/>
                  <a:cs typeface="Arial"/>
                </a:rPr>
                <a:t>本帧就有伤害语义</a:t>
              </a:r>
              <a:r>
                <a:rPr lang="zh-CN" sz="1500" dirty="0">
                  <a:solidFill>
                    <a:srgbClr val="375082"/>
                  </a:solidFill>
                  <a:latin typeface="Arial"/>
                  <a:ea typeface="SimSun"/>
                  <a:cs typeface="Arial"/>
                </a:rPr>
                <a:t>。</a:t>
              </a:r>
            </a:p>
          </p:txBody>
        </p:sp>
      </p:grpSp>
      <p:grpSp>
        <p:nvGrpSpPr>
          <p:cNvPr id="73" name="Group 73"/>
          <p:cNvGrpSpPr/>
          <p:nvPr/>
        </p:nvGrpSpPr>
        <p:grpSpPr>
          <a:xfrm>
            <a:off x="7981950" y="4400550"/>
            <a:ext cx="3695700" cy="1562100"/>
            <a:chOff x="7981950" y="4400550"/>
            <a:chExt cx="3695700" cy="1562100"/>
          </a:xfrm>
        </p:grpSpPr>
        <p:sp>
          <p:nvSpPr>
            <p:cNvPr id="69" name="Rectangle 69"/>
            <p:cNvSpPr/>
            <p:nvPr/>
          </p:nvSpPr>
          <p:spPr>
            <a:xfrm>
              <a:off x="7981950" y="4400550"/>
              <a:ext cx="3695700" cy="1562100"/>
            </a:xfrm>
            <a:prstGeom prst="roundRect">
              <a:avLst>
                <a:gd name="adj" fmla="val 4878"/>
              </a:avLst>
            </a:prstGeom>
            <a:solidFill>
              <a:srgbClr val="FFFFFF"/>
            </a:solidFill>
            <a:ln w="19050">
              <a:solidFill>
                <a:srgbClr val="C62828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8187690" y="4568190"/>
              <a:ext cx="2566035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C62828"/>
                  </a:solidFill>
                  <a:latin typeface="Arial"/>
                  <a:ea typeface="Microsoft YaHei"/>
                  <a:cs typeface="Arial"/>
                </a:rPr>
                <a:t>若只在爆炸前检测一次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8191500" y="5019675"/>
              <a:ext cx="2895600" cy="5905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375082"/>
                  </a:solidFill>
                  <a:latin typeface="Arial"/>
                  <a:ea typeface="SimSun"/>
                  <a:cs typeface="Arial"/>
                </a:rPr>
                <a:t>画面已经出现火焰，但玩家与怪物要到下一帧才受伤。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8191500" y="5648325"/>
              <a:ext cx="276844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C62828"/>
                  </a:solidFill>
                  <a:latin typeface="Arial"/>
                  <a:ea typeface="Microsoft YaHei"/>
                  <a:cs typeface="Arial"/>
                </a:rPr>
                <a:t>视觉状态与规则状态错开一帧</a:t>
              </a:r>
            </a:p>
          </p:txBody>
        </p:sp>
      </p:grpSp>
      <p:sp>
        <p:nvSpPr>
          <p:cNvPr id="75" name="TextBox 19">
            <a:extLst>
              <a:ext uri="{FF2B5EF4-FFF2-40B4-BE49-F238E27FC236}">
                <a16:creationId xmlns:a16="http://schemas.microsoft.com/office/drawing/2014/main" id="{EC3BDBF2-D270-91CE-B5A2-875A6A0954CD}"/>
              </a:ext>
            </a:extLst>
          </p:cNvPr>
          <p:cNvSpPr txBox="1"/>
          <p:nvPr/>
        </p:nvSpPr>
        <p:spPr>
          <a:xfrm>
            <a:off x="11329497" y="6410325"/>
            <a:ext cx="214803" cy="2308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altLang="zh-CN" sz="1500" dirty="0">
                <a:solidFill>
                  <a:srgbClr val="66788A"/>
                </a:solidFill>
                <a:latin typeface="Arial"/>
                <a:ea typeface="Microsoft YaHei"/>
                <a:cs typeface="Arial"/>
              </a:rPr>
              <a:t>17</a:t>
            </a:r>
            <a:endParaRPr lang="zh-CN" sz="1500" dirty="0">
              <a:solidFill>
                <a:srgbClr val="66788A"/>
              </a:solidFill>
              <a:latin typeface="Arial"/>
              <a:ea typeface="Microsoft YaHei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1" dur="4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5" dur="4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7200"/>
                            </p:stCondLst>
                            <p:childTnLst>
                              <p:par>
                                <p:cTn id="3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39" dur="4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7" grpId="0"/>
      <p:bldP spid="25" grpId="0"/>
      <p:bldP spid="33" grpId="0"/>
      <p:bldP spid="41" grpId="0"/>
      <p:bldP spid="49" grpId="0"/>
      <p:bldP spid="57" grpId="0"/>
      <p:bldP spid="68" grpId="0"/>
      <p:bldP spid="7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-275772" y="142875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Rectangle 3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1E4268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6" name="Group 6"/>
          <p:cNvGrpSpPr/>
          <p:nvPr/>
        </p:nvGrpSpPr>
        <p:grpSpPr>
          <a:xfrm>
            <a:off x="6095967" y="991552"/>
            <a:ext cx="65" cy="1050652"/>
            <a:chOff x="6095967" y="991552"/>
            <a:chExt cx="65" cy="1050652"/>
          </a:xfrm>
        </p:grpSpPr>
        <p:sp>
          <p:nvSpPr>
            <p:cNvPr id="4" name="TextBox 4"/>
            <p:cNvSpPr txBox="1"/>
            <p:nvPr/>
          </p:nvSpPr>
          <p:spPr>
            <a:xfrm>
              <a:off x="6095968" y="991552"/>
              <a:ext cx="64" cy="6232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endParaRPr lang="zh-CN" sz="4050" b="1" dirty="0">
                <a:solidFill>
                  <a:srgbClr val="1E4268"/>
                </a:solidFill>
                <a:latin typeface="Arial"/>
                <a:ea typeface="Microsoft YaHei"/>
                <a:cs typeface="Arial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6095967" y="1742122"/>
              <a:ext cx="65" cy="3000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endParaRPr lang="zh-CN" sz="1950" dirty="0">
                <a:solidFill>
                  <a:srgbClr val="66788A"/>
                </a:solidFill>
                <a:latin typeface="Arial"/>
                <a:ea typeface="Microsoft YaHei"/>
                <a:cs typeface="Arial"/>
              </a:endParaRP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2247801" y="2154674"/>
            <a:ext cx="7899598" cy="3903226"/>
            <a:chOff x="2247801" y="2154674"/>
            <a:chExt cx="7899598" cy="3903226"/>
          </a:xfrm>
        </p:grpSpPr>
        <p:sp>
          <p:nvSpPr>
            <p:cNvPr id="24" name="TextBox 24"/>
            <p:cNvSpPr txBox="1"/>
            <p:nvPr/>
          </p:nvSpPr>
          <p:spPr>
            <a:xfrm>
              <a:off x="2247801" y="2154674"/>
              <a:ext cx="7899598" cy="13542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800" b="1" dirty="0">
                  <a:solidFill>
                    <a:srgbClr val="1E4268"/>
                  </a:solidFill>
                  <a:latin typeface="Arial"/>
                  <a:ea typeface="Microsoft YaHei"/>
                  <a:cs typeface="Arial"/>
                </a:rPr>
                <a:t>感谢老师的评阅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550980" y="5520690"/>
              <a:ext cx="1090042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altLang="zh-CN" sz="1800" dirty="0">
                  <a:solidFill>
                    <a:srgbClr val="66788A"/>
                  </a:solidFill>
                  <a:latin typeface="Arial"/>
                  <a:ea typeface="Microsoft YaHei"/>
                  <a:cs typeface="Arial"/>
                </a:rPr>
                <a:t>Good Bye!</a:t>
              </a:r>
              <a:endParaRPr lang="zh-CN" sz="1800" dirty="0">
                <a:solidFill>
                  <a:srgbClr val="66788A"/>
                </a:solidFill>
                <a:latin typeface="Arial"/>
                <a:ea typeface="Microsoft YaHei"/>
                <a:cs typeface="Arial"/>
              </a:endParaRPr>
            </a:p>
          </p:txBody>
        </p:sp>
        <p:sp>
          <p:nvSpPr>
            <p:cNvPr id="26" name="Line 26"/>
            <p:cNvSpPr/>
            <p:nvPr/>
          </p:nvSpPr>
          <p:spPr>
            <a:xfrm>
              <a:off x="5238750" y="6048375"/>
              <a:ext cx="1714500" cy="9525"/>
            </a:xfrm>
            <a:custGeom>
              <a:avLst/>
              <a:gdLst/>
              <a:ahLst/>
              <a:cxnLst/>
              <a:rect l="l" t="t" r="r" b="b"/>
              <a:pathLst>
                <a:path w="1714500" h="9525">
                  <a:moveTo>
                    <a:pt x="0" y="0"/>
                  </a:moveTo>
                  <a:lnTo>
                    <a:pt x="1714500" y="0"/>
                  </a:lnTo>
                </a:path>
              </a:pathLst>
            </a:custGeom>
            <a:noFill/>
            <a:ln w="19050">
              <a:solidFill>
                <a:srgbClr val="D4DCE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11329497" y="6410325"/>
            <a:ext cx="214803" cy="2308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500" dirty="0">
                <a:solidFill>
                  <a:srgbClr val="66788A"/>
                </a:solidFill>
                <a:latin typeface="Arial"/>
                <a:ea typeface="Microsoft YaHei"/>
                <a:cs typeface="Arial"/>
              </a:rPr>
              <a:t>1</a:t>
            </a:r>
            <a:r>
              <a:rPr lang="en-US" altLang="zh-CN" sz="1500" dirty="0">
                <a:solidFill>
                  <a:srgbClr val="66788A"/>
                </a:solidFill>
                <a:latin typeface="Arial"/>
                <a:ea typeface="Microsoft YaHei"/>
                <a:cs typeface="Arial"/>
              </a:rPr>
              <a:t>8</a:t>
            </a:r>
            <a:endParaRPr lang="zh-CN" sz="1500" dirty="0">
              <a:solidFill>
                <a:srgbClr val="66788A"/>
              </a:solidFill>
              <a:latin typeface="Arial"/>
              <a:ea typeface="Microsoft YaHei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27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197</TotalTime>
  <Words>3461</Words>
  <Application>Microsoft Office PowerPoint</Application>
  <PresentationFormat>宽屏</PresentationFormat>
  <Paragraphs>404</Paragraphs>
  <Slides>18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3" baseType="lpstr">
      <vt:lpstr>宋体 (正文)</vt:lpstr>
      <vt:lpstr>Arial</vt:lpstr>
      <vt:lpstr>Calibri</vt:lpstr>
      <vt:lpstr>Consolas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a31194</cp:lastModifiedBy>
  <cp:revision>16</cp:revision>
  <dcterms:created xsi:type="dcterms:W3CDTF">2026-06-20T13:44:56Z</dcterms:created>
  <dcterms:modified xsi:type="dcterms:W3CDTF">2026-06-21T04:33:42Z</dcterms:modified>
  <cp:category/>
  <cp:contentStatus/>
  <dc:language/>
</cp:coreProperties>
</file>